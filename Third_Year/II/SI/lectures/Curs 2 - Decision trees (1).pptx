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71" r:id="rId16"/>
    <p:sldId id="273" r:id="rId17"/>
    <p:sldId id="274" r:id="rId18"/>
    <p:sldId id="272" r:id="rId19"/>
    <p:sldId id="276" r:id="rId20"/>
    <p:sldId id="277" r:id="rId21"/>
    <p:sldId id="279" r:id="rId22"/>
    <p:sldId id="278" r:id="rId23"/>
    <p:sldId id="26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2629C8-BA92-1EFA-EE8F-3790F9F5BE7E}" v="521" dt="2024-03-06T20:31:40.170"/>
    <p1510:client id="{6F882212-0F6B-FBA8-9EC1-5835E167A04F}" v="3630" dt="2024-03-06T23:42:52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decision-forests" TargetMode="External"/><Relationship Id="rId2" Type="http://schemas.openxmlformats.org/officeDocument/2006/relationships/hyperlink" Target="https://cs229.stanford.edu/notes2022fall/decision-trees.pdf&#8203;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1183" y="1143000"/>
            <a:ext cx="4846320" cy="2898648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Curs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/>
              <a:t>Supervised learning – Decision trees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 descr="A cartoon character next to a sign&#10;&#10;Description automatically generated">
            <a:extLst>
              <a:ext uri="{FF2B5EF4-FFF2-40B4-BE49-F238E27FC236}">
                <a16:creationId xmlns:a16="http://schemas.microsoft.com/office/drawing/2014/main" id="{FE06FA95-3E8F-A3F2-64B4-183C76ACA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297" y="191959"/>
            <a:ext cx="4556318" cy="31438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diagram of a credit&#10;&#10;Description automatically generated">
            <a:extLst>
              <a:ext uri="{FF2B5EF4-FFF2-40B4-BE49-F238E27FC236}">
                <a16:creationId xmlns:a16="http://schemas.microsoft.com/office/drawing/2014/main" id="{FD530D8F-7168-ADFF-C5B6-0CD3A8243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617" y="3499434"/>
            <a:ext cx="4491230" cy="31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7A784-BC90-3335-B15B-BB3B51A2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Cuprins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DAE8A-B708-91A5-45B4-BA401BE35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Supervised learning task</a:t>
            </a:r>
          </a:p>
          <a:p>
            <a:r>
              <a:rPr lang="en-US" dirty="0"/>
              <a:t>Decision tree learning task</a:t>
            </a:r>
          </a:p>
          <a:p>
            <a:r>
              <a:rPr lang="en-US" dirty="0"/>
              <a:t>Choosing the best attribute</a:t>
            </a:r>
          </a:p>
          <a:p>
            <a:r>
              <a:rPr lang="en-US" dirty="0"/>
              <a:t>Entropy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70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524B-E442-B6EE-D231-ED618D3C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8E91D6-AA3C-E798-EA7B-DE4CAD3B6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91" y="1709891"/>
            <a:ext cx="5185439" cy="343411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E9AF5-386F-F09A-7DD4-A1C0B1C7156C}"/>
              </a:ext>
            </a:extLst>
          </p:cNvPr>
          <p:cNvSpPr txBox="1"/>
          <p:nvPr/>
        </p:nvSpPr>
        <p:spPr>
          <a:xfrm>
            <a:off x="6194087" y="1716945"/>
            <a:ext cx="46903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 </a:t>
            </a:r>
            <a:r>
              <a:rPr lang="en-US" dirty="0" err="1"/>
              <a:t>riscant</a:t>
            </a:r>
            <a:r>
              <a:rPr lang="en-US" dirty="0"/>
              <a:t> </a:t>
            </a:r>
            <a:r>
              <a:rPr lang="en-US" dirty="0" err="1"/>
              <a:t>creditul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mine?</a:t>
            </a:r>
          </a:p>
          <a:p>
            <a:endParaRPr lang="en-US" dirty="0"/>
          </a:p>
          <a:p>
            <a:r>
              <a:rPr lang="en-US" dirty="0" err="1"/>
              <a:t>Caracteristici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credit </a:t>
            </a:r>
            <a:r>
              <a:rPr lang="en-US" dirty="0" err="1"/>
              <a:t>dpdv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: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Credit history , </a:t>
            </a:r>
            <a:r>
              <a:rPr lang="en-US" dirty="0" err="1"/>
              <a:t>venit</a:t>
            </a:r>
            <a:r>
              <a:rPr lang="en-US" dirty="0"/>
              <a:t>,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creditului</a:t>
            </a:r>
            <a:r>
              <a:rPr lang="en-US" dirty="0"/>
              <a:t>, </a:t>
            </a:r>
            <a:r>
              <a:rPr lang="en-US" dirty="0" err="1"/>
              <a:t>varsta</a:t>
            </a:r>
            <a:r>
              <a:rPr lang="en-US" dirty="0"/>
              <a:t>, </a:t>
            </a:r>
            <a:r>
              <a:rPr lang="en-US" dirty="0" err="1"/>
              <a:t>casatorit</a:t>
            </a:r>
            <a:r>
              <a:rPr lang="en-US" dirty="0"/>
              <a:t>/</a:t>
            </a:r>
            <a:r>
              <a:rPr lang="en-US" dirty="0" err="1"/>
              <a:t>necasatorit</a:t>
            </a:r>
            <a:r>
              <a:rPr lang="en-US" dirty="0"/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1610850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524B-E442-B6EE-D231-ED618D3C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r>
              <a:rPr lang="en-US" dirty="0"/>
              <a:t> – </a:t>
            </a:r>
            <a:r>
              <a:rPr lang="en-US" dirty="0">
                <a:highlight>
                  <a:srgbClr val="FFFF00"/>
                </a:highlight>
              </a:rPr>
              <a:t>learning task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8E91D6-AA3C-E798-EA7B-DE4CAD3B6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91" y="1709891"/>
            <a:ext cx="5185439" cy="343411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E9AF5-386F-F09A-7DD4-A1C0B1C7156C}"/>
              </a:ext>
            </a:extLst>
          </p:cNvPr>
          <p:cNvSpPr txBox="1"/>
          <p:nvPr/>
        </p:nvSpPr>
        <p:spPr>
          <a:xfrm>
            <a:off x="6194087" y="1716945"/>
            <a:ext cx="46903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 </a:t>
            </a:r>
            <a:r>
              <a:rPr lang="en-US" dirty="0" err="1"/>
              <a:t>riscant</a:t>
            </a:r>
            <a:r>
              <a:rPr lang="en-US" dirty="0"/>
              <a:t> </a:t>
            </a:r>
            <a:r>
              <a:rPr lang="en-US" dirty="0" err="1"/>
              <a:t>creditul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Caracteristici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credit </a:t>
            </a:r>
            <a:r>
              <a:rPr lang="en-US" dirty="0" err="1"/>
              <a:t>dpdv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: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Credit history , </a:t>
            </a:r>
            <a:r>
              <a:rPr lang="en-US" dirty="0" err="1"/>
              <a:t>venit</a:t>
            </a:r>
            <a:r>
              <a:rPr lang="en-US" dirty="0"/>
              <a:t>,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creditului</a:t>
            </a:r>
            <a:r>
              <a:rPr lang="en-US" dirty="0"/>
              <a:t>, </a:t>
            </a:r>
            <a:r>
              <a:rPr lang="en-US" dirty="0" err="1"/>
              <a:t>varsta</a:t>
            </a:r>
            <a:r>
              <a:rPr lang="en-US" dirty="0"/>
              <a:t>, </a:t>
            </a:r>
            <a:r>
              <a:rPr lang="en-US" dirty="0" err="1"/>
              <a:t>casatorit</a:t>
            </a:r>
            <a:r>
              <a:rPr lang="en-US" dirty="0"/>
              <a:t>/</a:t>
            </a:r>
            <a:r>
              <a:rPr lang="en-US" dirty="0" err="1"/>
              <a:t>necasatorit</a:t>
            </a:r>
            <a:r>
              <a:rPr lang="en-US" dirty="0"/>
              <a:t>....</a:t>
            </a:r>
          </a:p>
        </p:txBody>
      </p:sp>
      <p:pic>
        <p:nvPicPr>
          <p:cNvPr id="6" name="Picture 5" descr="A diagram of a classifier model&#10;&#10;Description automatically generated">
            <a:extLst>
              <a:ext uri="{FF2B5EF4-FFF2-40B4-BE49-F238E27FC236}">
                <a16:creationId xmlns:a16="http://schemas.microsoft.com/office/drawing/2014/main" id="{6C23181F-86C7-19E9-58AE-536AB3D5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335" y="3691434"/>
            <a:ext cx="5951420" cy="29439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7DE3B4-3595-6717-5B9A-F4C7F7990633}"/>
              </a:ext>
            </a:extLst>
          </p:cNvPr>
          <p:cNvSpPr txBox="1"/>
          <p:nvPr/>
        </p:nvSpPr>
        <p:spPr>
          <a:xfrm>
            <a:off x="6191249" y="3806326"/>
            <a:ext cx="3240588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SOLUTIE:</a:t>
            </a:r>
          </a:p>
        </p:txBody>
      </p:sp>
    </p:spTree>
    <p:extLst>
      <p:ext uri="{BB962C8B-B14F-4D97-AF65-F5344CB8AC3E}">
        <p14:creationId xmlns:p14="http://schemas.microsoft.com/office/powerpoint/2010/main" val="151407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B4EE-7CA4-39D8-8507-17669906A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arata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?</a:t>
            </a:r>
          </a:p>
        </p:txBody>
      </p:sp>
      <p:pic>
        <p:nvPicPr>
          <p:cNvPr id="4" name="Content Placeholder 3" descr="A diagram of a business&#10;&#10;Description automatically generated">
            <a:extLst>
              <a:ext uri="{FF2B5EF4-FFF2-40B4-BE49-F238E27FC236}">
                <a16:creationId xmlns:a16="http://schemas.microsoft.com/office/drawing/2014/main" id="{F7DF91EA-3F96-6CEC-6D38-F69FF0403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145" y="1780132"/>
            <a:ext cx="6557650" cy="4351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618665-F43E-DF34-D4CC-87B461386929}"/>
              </a:ext>
            </a:extLst>
          </p:cNvPr>
          <p:cNvSpPr txBox="1"/>
          <p:nvPr/>
        </p:nvSpPr>
        <p:spPr>
          <a:xfrm>
            <a:off x="7746144" y="3098458"/>
            <a:ext cx="3467998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Decision tree – arbore de </a:t>
            </a:r>
            <a:r>
              <a:rPr lang="en-US" dirty="0" err="1"/>
              <a:t>decizie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1B3BE-5299-3B20-0AE3-1997ED89139A}"/>
              </a:ext>
            </a:extLst>
          </p:cNvPr>
          <p:cNvSpPr txBox="1"/>
          <p:nvPr/>
        </p:nvSpPr>
        <p:spPr>
          <a:xfrm>
            <a:off x="7689252" y="3956924"/>
            <a:ext cx="352485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Cat de </a:t>
            </a:r>
            <a:r>
              <a:rPr lang="en-US" dirty="0" err="1"/>
              <a:t>riscant</a:t>
            </a:r>
            <a:r>
              <a:rPr lang="en-US" dirty="0"/>
              <a:t> e </a:t>
            </a:r>
            <a:r>
              <a:rPr lang="en-US" dirty="0" err="1"/>
              <a:t>daca</a:t>
            </a:r>
            <a:r>
              <a:rPr lang="en-US" dirty="0"/>
              <a:t> de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r>
              <a:rPr lang="en-US"/>
              <a:t>Credit history = poor</a:t>
            </a:r>
          </a:p>
          <a:p>
            <a:r>
              <a:rPr lang="en-US" dirty="0"/>
              <a:t>Income = high</a:t>
            </a:r>
          </a:p>
          <a:p>
            <a:r>
              <a:rPr lang="en-US" dirty="0"/>
              <a:t>Term = 5 years</a:t>
            </a:r>
          </a:p>
          <a:p>
            <a:r>
              <a:rPr lang="en-US" dirty="0"/>
              <a:t>Personal info – 30 years</a:t>
            </a:r>
          </a:p>
        </p:txBody>
      </p:sp>
    </p:spTree>
    <p:extLst>
      <p:ext uri="{BB962C8B-B14F-4D97-AF65-F5344CB8AC3E}">
        <p14:creationId xmlns:p14="http://schemas.microsoft.com/office/powerpoint/2010/main" val="108076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0AF47-6125-2DCC-0CD9-BD1B7D37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042" y="2296861"/>
            <a:ext cx="4890837" cy="531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Cum </a:t>
            </a:r>
            <a:r>
              <a:rPr lang="en-US" dirty="0" err="1"/>
              <a:t>putem</a:t>
            </a:r>
            <a:r>
              <a:rPr lang="en-US" dirty="0"/>
              <a:t> </a:t>
            </a:r>
            <a:r>
              <a:rPr lang="en-US" dirty="0" err="1"/>
              <a:t>construi</a:t>
            </a:r>
            <a:r>
              <a:rPr lang="en-US" dirty="0"/>
              <a:t> </a:t>
            </a:r>
            <a:r>
              <a:rPr lang="en-US" dirty="0" err="1"/>
              <a:t>modelul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682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21F0-D771-B7BE-B7DE-422AF33A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660F4-05CF-5748-C61C-CAFD0866D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457" y="192768"/>
            <a:ext cx="4534972" cy="43513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82FEE8-7E36-03CA-9A88-813666FC42BF}"/>
              </a:ext>
            </a:extLst>
          </p:cNvPr>
          <p:cNvSpPr txBox="1"/>
          <p:nvPr/>
        </p:nvSpPr>
        <p:spPr>
          <a:xfrm>
            <a:off x="993763" y="4669329"/>
            <a:ext cx="381169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Observatii</a:t>
            </a:r>
            <a:r>
              <a:rPr lang="en-US" dirty="0"/>
              <a:t>: </a:t>
            </a:r>
            <a:r>
              <a:rPr lang="en-US" dirty="0">
                <a:highlight>
                  <a:srgbClr val="FFFF00"/>
                </a:highlight>
              </a:rPr>
              <a:t>X, 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err="1"/>
              <a:t>Coloanele</a:t>
            </a:r>
            <a:r>
              <a:rPr lang="en-US" dirty="0"/>
              <a:t>: </a:t>
            </a:r>
            <a:r>
              <a:rPr lang="en-US" err="1"/>
              <a:t>atribute</a:t>
            </a:r>
            <a:r>
              <a:rPr lang="en-US" dirty="0"/>
              <a:t>, </a:t>
            </a:r>
            <a:r>
              <a:rPr lang="en-US" err="1"/>
              <a:t>trasaturi</a:t>
            </a:r>
            <a:r>
              <a:rPr lang="en-US" dirty="0"/>
              <a:t> (</a:t>
            </a:r>
            <a:r>
              <a:rPr lang="en-US" dirty="0">
                <a:highlight>
                  <a:srgbClr val="FFFF00"/>
                </a:highlight>
              </a:rPr>
              <a:t>features</a:t>
            </a:r>
            <a:r>
              <a:rPr lang="en-US" dirty="0"/>
              <a:t>)</a:t>
            </a:r>
          </a:p>
          <a:p>
            <a:r>
              <a:rPr lang="en-US" dirty="0" err="1"/>
              <a:t>Liniile</a:t>
            </a:r>
            <a:r>
              <a:rPr lang="en-US" dirty="0"/>
              <a:t> - Examples, training data</a:t>
            </a:r>
          </a:p>
          <a:p>
            <a:r>
              <a:rPr lang="en-US" dirty="0"/>
              <a:t>Y – </a:t>
            </a:r>
            <a:r>
              <a:rPr lang="en-US" dirty="0" err="1"/>
              <a:t>clasa</a:t>
            </a:r>
            <a:r>
              <a:rPr lang="en-US" dirty="0"/>
              <a:t> (pt </a:t>
            </a:r>
            <a:r>
              <a:rPr lang="en-US" dirty="0" err="1"/>
              <a:t>clasificare</a:t>
            </a:r>
            <a:r>
              <a:rPr lang="en-US" dirty="0"/>
              <a:t>)</a:t>
            </a:r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D8F4E0CF-8345-6579-424B-715A086F7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811" y="1864393"/>
            <a:ext cx="2962275" cy="1885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21B61F-4EA7-2623-3E81-22B38AE85144}"/>
              </a:ext>
            </a:extLst>
          </p:cNvPr>
          <p:cNvSpPr txBox="1"/>
          <p:nvPr/>
        </p:nvSpPr>
        <p:spPr>
          <a:xfrm>
            <a:off x="6387701" y="4191568"/>
            <a:ext cx="574431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Model, </a:t>
            </a:r>
            <a:r>
              <a:rPr lang="en-US" err="1">
                <a:highlight>
                  <a:srgbClr val="FFFF00"/>
                </a:highlight>
              </a:rPr>
              <a:t>ipoteza</a:t>
            </a:r>
            <a:r>
              <a:rPr lang="en-US" dirty="0">
                <a:highlight>
                  <a:srgbClr val="FFFF00"/>
                </a:highlight>
              </a:rPr>
              <a:t>: H(X)~y</a:t>
            </a:r>
          </a:p>
          <a:p>
            <a:endParaRPr lang="en-US" dirty="0"/>
          </a:p>
          <a:p>
            <a:r>
              <a:rPr lang="en-US" err="1"/>
              <a:t>Reprezentare</a:t>
            </a:r>
            <a:r>
              <a:rPr lang="en-US" dirty="0"/>
              <a:t> model: 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Arbore de </a:t>
            </a:r>
            <a:r>
              <a:rPr lang="en-US" err="1"/>
              <a:t>decizie</a:t>
            </a:r>
            <a:r>
              <a:rPr lang="en-US" dirty="0"/>
              <a:t>, 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suma</a:t>
            </a:r>
            <a:r>
              <a:rPr lang="en-US" dirty="0"/>
              <a:t> </a:t>
            </a:r>
            <a:r>
              <a:rPr lang="en-US" dirty="0" err="1"/>
              <a:t>ponderata</a:t>
            </a:r>
            <a:r>
              <a:rPr lang="en-US" dirty="0"/>
              <a:t> a </a:t>
            </a:r>
            <a:r>
              <a:rPr lang="en-US" dirty="0" err="1"/>
              <a:t>atributelor</a:t>
            </a:r>
            <a:r>
              <a:rPr lang="en-US" dirty="0"/>
              <a:t>, 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retea</a:t>
            </a:r>
            <a:r>
              <a:rPr lang="en-US" dirty="0"/>
              <a:t> </a:t>
            </a:r>
            <a:r>
              <a:rPr lang="en-US" dirty="0" err="1"/>
              <a:t>neuronala</a:t>
            </a:r>
            <a:r>
              <a:rPr lang="en-US" dirty="0"/>
              <a:t> (</a:t>
            </a:r>
            <a:r>
              <a:rPr lang="en-US" dirty="0" err="1"/>
              <a:t>combinatie</a:t>
            </a:r>
            <a:r>
              <a:rPr lang="en-US" dirty="0"/>
              <a:t> </a:t>
            </a:r>
            <a:r>
              <a:rPr lang="en-US" dirty="0" err="1"/>
              <a:t>neliniara</a:t>
            </a:r>
            <a:r>
              <a:rPr lang="en-US" dirty="0"/>
              <a:t> a </a:t>
            </a:r>
            <a:r>
              <a:rPr lang="en-US" dirty="0" err="1"/>
              <a:t>atributelor</a:t>
            </a:r>
            <a:r>
              <a:rPr lang="en-US" dirty="0"/>
              <a:t>), ...</a:t>
            </a:r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3B39D49-C31E-ADFD-5CD2-B7DCC8AE469D}"/>
              </a:ext>
            </a:extLst>
          </p:cNvPr>
          <p:cNvSpPr/>
          <p:nvPr/>
        </p:nvSpPr>
        <p:spPr>
          <a:xfrm>
            <a:off x="5308501" y="2174695"/>
            <a:ext cx="1644314" cy="1143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74974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F31D-4C96-009F-7B91-E42651E2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Cati </a:t>
            </a:r>
            <a:r>
              <a:rPr lang="en-US" dirty="0" err="1"/>
              <a:t>arbori</a:t>
            </a:r>
            <a:r>
              <a:rPr lang="en-US" dirty="0"/>
              <a:t> </a:t>
            </a:r>
            <a:r>
              <a:rPr lang="en-US" dirty="0" err="1"/>
              <a:t>posibili</a:t>
            </a:r>
            <a:r>
              <a:rPr lang="en-US" dirty="0"/>
              <a:t>? (cate </a:t>
            </a:r>
            <a:r>
              <a:rPr lang="en-US" dirty="0" err="1"/>
              <a:t>ipoteze</a:t>
            </a:r>
            <a:r>
              <a:rPr lang="en-US" dirty="0"/>
              <a:t> </a:t>
            </a:r>
            <a:r>
              <a:rPr lang="en-US" dirty="0" err="1"/>
              <a:t>distincte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7AD6B-7005-5DB1-0329-BBBA2ABBE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58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Exemplu</a:t>
            </a:r>
            <a:r>
              <a:rPr lang="en-US" dirty="0"/>
              <a:t>: </a:t>
            </a:r>
            <a:r>
              <a:rPr lang="en-US" err="1"/>
              <a:t>consideram</a:t>
            </a:r>
            <a:r>
              <a:rPr lang="en-US" dirty="0"/>
              <a:t> n </a:t>
            </a:r>
            <a:r>
              <a:rPr lang="en-US" err="1"/>
              <a:t>atribute</a:t>
            </a:r>
            <a:r>
              <a:rPr lang="en-US" dirty="0"/>
              <a:t> cu 2 </a:t>
            </a:r>
            <a:r>
              <a:rPr lang="en-US" err="1"/>
              <a:t>valori</a:t>
            </a:r>
            <a:endParaRPr lang="en-US"/>
          </a:p>
          <a:p>
            <a:r>
              <a:rPr lang="en-US" dirty="0"/>
              <a:t>Cate </a:t>
            </a:r>
            <a:r>
              <a:rPr lang="en-US" dirty="0" err="1"/>
              <a:t>functii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construi</a:t>
            </a:r>
            <a:r>
              <a:rPr lang="en-US" dirty="0"/>
              <a:t> cu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atribute</a:t>
            </a:r>
            <a:r>
              <a:rPr lang="en-US" dirty="0"/>
              <a:t>?</a:t>
            </a:r>
          </a:p>
          <a:p>
            <a:r>
              <a:rPr lang="en-US" dirty="0"/>
              <a:t>=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tabele</a:t>
            </a:r>
            <a:r>
              <a:rPr lang="en-US" dirty="0"/>
              <a:t> de </a:t>
            </a:r>
            <a:r>
              <a:rPr lang="en-US" dirty="0" err="1"/>
              <a:t>adevar</a:t>
            </a:r>
            <a:r>
              <a:rPr lang="en-US" dirty="0"/>
              <a:t> </a:t>
            </a:r>
            <a:r>
              <a:rPr lang="en-US" dirty="0" err="1"/>
              <a:t>distincte</a:t>
            </a:r>
            <a:r>
              <a:rPr lang="en-US" dirty="0"/>
              <a:t> cu </a:t>
            </a:r>
            <a:r>
              <a:rPr lang="en-US" dirty="0">
                <a:solidFill>
                  <a:srgbClr val="FF0000"/>
                </a:solidFill>
              </a:rPr>
              <a:t>2^n</a:t>
            </a:r>
            <a:r>
              <a:rPr lang="en-US" dirty="0"/>
              <a:t> </a:t>
            </a:r>
            <a:r>
              <a:rPr lang="en-US" dirty="0" err="1"/>
              <a:t>linii</a:t>
            </a:r>
            <a:endParaRPr lang="en-US"/>
          </a:p>
          <a:p>
            <a:r>
              <a:rPr lang="en-US" dirty="0"/>
              <a:t>Adica: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2^n</a:t>
            </a:r>
            <a:r>
              <a:rPr lang="en-US" baseline="30000" dirty="0"/>
              <a:t>    </a:t>
            </a:r>
            <a:r>
              <a:rPr lang="en-US" baseline="30000" err="1">
                <a:ea typeface="+mn-lt"/>
                <a:cs typeface="+mn-lt"/>
              </a:rPr>
              <a:t>arbori</a:t>
            </a:r>
            <a:r>
              <a:rPr lang="en-US" baseline="30000" dirty="0">
                <a:ea typeface="+mn-lt"/>
                <a:cs typeface="+mn-lt"/>
              </a:rPr>
              <a:t> </a:t>
            </a:r>
            <a:r>
              <a:rPr lang="en-US" baseline="30000" err="1">
                <a:ea typeface="+mn-lt"/>
                <a:cs typeface="+mn-lt"/>
              </a:rPr>
              <a:t>distincti</a:t>
            </a:r>
            <a:r>
              <a:rPr lang="en-US" baseline="30000" dirty="0">
                <a:ea typeface="+mn-lt"/>
                <a:cs typeface="+mn-lt"/>
              </a:rPr>
              <a:t> 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endParaRPr lang="en-US" baseline="30000" dirty="0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230BD-C875-E247-0830-00AB9E658570}"/>
              </a:ext>
            </a:extLst>
          </p:cNvPr>
          <p:cNvSpPr txBox="1"/>
          <p:nvPr/>
        </p:nvSpPr>
        <p:spPr>
          <a:xfrm>
            <a:off x="841421" y="4639720"/>
            <a:ext cx="10006943" cy="480131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latin typeface="Arial"/>
                <a:cs typeface="Arial"/>
              </a:rPr>
              <a:t>Scop: </a:t>
            </a:r>
            <a:r>
              <a:rPr lang="en-US" sz="2800" err="1">
                <a:latin typeface="Arial"/>
                <a:cs typeface="Arial"/>
              </a:rPr>
              <a:t>cel</a:t>
            </a:r>
            <a:r>
              <a:rPr lang="en-US" sz="2800" dirty="0">
                <a:latin typeface="Arial"/>
                <a:cs typeface="Arial"/>
              </a:rPr>
              <a:t> </a:t>
            </a:r>
            <a:r>
              <a:rPr lang="en-US" sz="2800" err="1">
                <a:latin typeface="Arial"/>
                <a:cs typeface="Arial"/>
              </a:rPr>
              <a:t>mai</a:t>
            </a:r>
            <a:r>
              <a:rPr lang="en-US" sz="2800" dirty="0">
                <a:latin typeface="Arial"/>
                <a:cs typeface="Arial"/>
              </a:rPr>
              <a:t> mic arbore </a:t>
            </a: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consistent </a:t>
            </a:r>
            <a:r>
              <a:rPr lang="en-US" sz="2800" dirty="0">
                <a:latin typeface="Arial"/>
                <a:cs typeface="Arial"/>
              </a:rPr>
              <a:t>cu </a:t>
            </a:r>
            <a:r>
              <a:rPr lang="en-US" sz="2800" b="1" err="1">
                <a:latin typeface="Arial"/>
                <a:cs typeface="Arial"/>
              </a:rPr>
              <a:t>observatiile</a:t>
            </a:r>
            <a:endParaRPr lang="en-US" sz="28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38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1F94-06FC-78A6-E216-99E6DA5F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learning</a:t>
            </a:r>
          </a:p>
        </p:txBody>
      </p:sp>
      <p:pic>
        <p:nvPicPr>
          <p:cNvPr id="4" name="Content Placeholder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0FE4EBB-F9FA-61F7-E67A-B7EDEED69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362" y="1867380"/>
            <a:ext cx="8918909" cy="449843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043A84-1F2D-061C-AAD9-A90AA0859ABA}"/>
              </a:ext>
            </a:extLst>
          </p:cNvPr>
          <p:cNvSpPr txBox="1"/>
          <p:nvPr/>
        </p:nvSpPr>
        <p:spPr>
          <a:xfrm>
            <a:off x="334993" y="3167355"/>
            <a:ext cx="215894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err="1"/>
              <a:t>Alege</a:t>
            </a:r>
            <a:r>
              <a:rPr lang="en-US" dirty="0"/>
              <a:t> in mod </a:t>
            </a:r>
            <a:r>
              <a:rPr lang="en-US" b="1" err="1"/>
              <a:t>recursiv</a:t>
            </a:r>
            <a:r>
              <a:rPr lang="en-US" b="1" dirty="0"/>
              <a:t> </a:t>
            </a:r>
            <a:r>
              <a:rPr lang="en-US" err="1"/>
              <a:t>cel</a:t>
            </a:r>
            <a:r>
              <a:rPr lang="en-US" dirty="0"/>
              <a:t> </a:t>
            </a:r>
            <a:r>
              <a:rPr lang="en-US" b="1" err="1"/>
              <a:t>mai</a:t>
            </a:r>
            <a:r>
              <a:rPr lang="en-US" b="1" dirty="0"/>
              <a:t> </a:t>
            </a:r>
            <a:r>
              <a:rPr lang="en-US" b="1" err="1"/>
              <a:t>semnificativ</a:t>
            </a:r>
            <a:r>
              <a:rPr lang="en-US" b="1" dirty="0"/>
              <a:t> </a:t>
            </a:r>
            <a:r>
              <a:rPr lang="en-US" b="1" err="1"/>
              <a:t>atribut</a:t>
            </a:r>
            <a:r>
              <a:rPr lang="en-US" dirty="0"/>
              <a:t> </a:t>
            </a:r>
            <a:r>
              <a:rPr lang="en-US" err="1"/>
              <a:t>drept</a:t>
            </a:r>
            <a:r>
              <a:rPr lang="en-US" dirty="0"/>
              <a:t> </a:t>
            </a:r>
            <a:r>
              <a:rPr lang="en-US" err="1"/>
              <a:t>radacina</a:t>
            </a:r>
            <a:r>
              <a:rPr lang="en-US" dirty="0"/>
              <a:t> </a:t>
            </a:r>
            <a:r>
              <a:rPr lang="en-US" err="1"/>
              <a:t>pentru</a:t>
            </a:r>
            <a:r>
              <a:rPr lang="en-US" dirty="0"/>
              <a:t> </a:t>
            </a:r>
            <a:r>
              <a:rPr lang="en-US" b="1" err="1"/>
              <a:t>subarbore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92362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4EEDB-1A3D-A478-DB9B-532747E0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 e </a:t>
            </a:r>
            <a:r>
              <a:rPr lang="en-US" err="1"/>
              <a:t>cel</a:t>
            </a:r>
            <a:r>
              <a:rPr lang="en-US" dirty="0"/>
              <a:t> </a:t>
            </a:r>
            <a:r>
              <a:rPr lang="en-US" err="1"/>
              <a:t>mai</a:t>
            </a:r>
            <a:r>
              <a:rPr lang="en-US" dirty="0"/>
              <a:t> </a:t>
            </a:r>
            <a:r>
              <a:rPr lang="en-US" err="1"/>
              <a:t>semnificativ</a:t>
            </a:r>
            <a:r>
              <a:rPr lang="en-US" dirty="0"/>
              <a:t> </a:t>
            </a:r>
            <a:r>
              <a:rPr lang="en-US" err="1"/>
              <a:t>atribut</a:t>
            </a:r>
            <a:r>
              <a:rPr lang="en-US" dirty="0"/>
              <a:t>?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3055EE-90C4-D3D3-120D-3D63988E8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093" y="1844382"/>
            <a:ext cx="2876550" cy="280987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A49738-235F-7B45-CC47-8F2596AB24C5}"/>
              </a:ext>
            </a:extLst>
          </p:cNvPr>
          <p:cNvSpPr txBox="1"/>
          <p:nvPr/>
        </p:nvSpPr>
        <p:spPr>
          <a:xfrm>
            <a:off x="683889" y="4867683"/>
            <a:ext cx="297787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Consideram</a:t>
            </a:r>
            <a:r>
              <a:rPr lang="en-US" dirty="0"/>
              <a:t> N=40 </a:t>
            </a:r>
            <a:r>
              <a:rPr lang="en-US" err="1"/>
              <a:t>exemple</a:t>
            </a:r>
            <a:r>
              <a:rPr lang="en-US" dirty="0"/>
              <a:t>: </a:t>
            </a:r>
            <a:endParaRPr lang="en-US"/>
          </a:p>
          <a:p>
            <a:r>
              <a:rPr lang="en-US" dirty="0"/>
              <a:t>22 safe, </a:t>
            </a:r>
          </a:p>
          <a:p>
            <a:r>
              <a:rPr lang="en-US" dirty="0"/>
              <a:t>18 risky</a:t>
            </a:r>
          </a:p>
        </p:txBody>
      </p:sp>
      <p:pic>
        <p:nvPicPr>
          <p:cNvPr id="6" name="Picture 5" descr="A diagram of a credit&#10;&#10;Description automatically generated">
            <a:extLst>
              <a:ext uri="{FF2B5EF4-FFF2-40B4-BE49-F238E27FC236}">
                <a16:creationId xmlns:a16="http://schemas.microsoft.com/office/drawing/2014/main" id="{DF2F5BDD-EB7B-CD22-BC35-9B387EC6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862" y="2283493"/>
            <a:ext cx="827722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91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89E8-D584-32B4-3B77-035F78E8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4" y="435309"/>
            <a:ext cx="4640179" cy="1335589"/>
          </a:xfrm>
        </p:spPr>
        <p:txBody>
          <a:bodyPr>
            <a:normAutofit fontScale="90000"/>
          </a:bodyPr>
          <a:lstStyle/>
          <a:p>
            <a:r>
              <a:rPr lang="en-US" sz="3600" err="1"/>
              <a:t>Consideram</a:t>
            </a:r>
            <a:r>
              <a:rPr lang="en-US" sz="3600" dirty="0"/>
              <a:t> ca am ales </a:t>
            </a:r>
            <a:r>
              <a:rPr lang="en-US" sz="3600" b="1" dirty="0"/>
              <a:t>Credit </a:t>
            </a:r>
            <a:r>
              <a:rPr lang="en-US" sz="3600" dirty="0"/>
              <a:t>ca </a:t>
            </a:r>
            <a:r>
              <a:rPr lang="en-US" sz="3600" err="1"/>
              <a:t>fiind</a:t>
            </a:r>
            <a:r>
              <a:rPr lang="en-US" sz="3600" dirty="0"/>
              <a:t> </a:t>
            </a:r>
            <a:r>
              <a:rPr lang="en-US" sz="3600" err="1"/>
              <a:t>cel</a:t>
            </a:r>
            <a:r>
              <a:rPr lang="en-US" sz="3600" dirty="0"/>
              <a:t> </a:t>
            </a:r>
            <a:r>
              <a:rPr lang="en-US" sz="3600" err="1"/>
              <a:t>mai</a:t>
            </a:r>
            <a:r>
              <a:rPr lang="en-US" sz="3600" dirty="0"/>
              <a:t> </a:t>
            </a:r>
            <a:r>
              <a:rPr lang="en-US" sz="3600" err="1"/>
              <a:t>semnificativ</a:t>
            </a:r>
            <a:r>
              <a:rPr lang="en-US" sz="3600" dirty="0"/>
              <a:t> </a:t>
            </a:r>
            <a:r>
              <a:rPr lang="en-US" sz="3600" err="1"/>
              <a:t>atribut</a:t>
            </a:r>
            <a:r>
              <a:rPr lang="en-US" sz="3600" dirty="0"/>
              <a:t> </a:t>
            </a:r>
            <a:r>
              <a:rPr lang="en-US" sz="3600" err="1"/>
              <a:t>si</a:t>
            </a:r>
            <a:r>
              <a:rPr lang="en-US" sz="3600" dirty="0"/>
              <a:t>...</a:t>
            </a:r>
          </a:p>
        </p:txBody>
      </p:sp>
      <p:pic>
        <p:nvPicPr>
          <p:cNvPr id="4" name="Content Placeholder 3" descr="A diagram of a credit&#10;&#10;Description automatically generated">
            <a:extLst>
              <a:ext uri="{FF2B5EF4-FFF2-40B4-BE49-F238E27FC236}">
                <a16:creationId xmlns:a16="http://schemas.microsoft.com/office/drawing/2014/main" id="{813F17DF-4B88-B317-8C32-017D39ABB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745" b="21470"/>
          <a:stretch/>
        </p:blipFill>
        <p:spPr>
          <a:xfrm>
            <a:off x="-251" y="2104316"/>
            <a:ext cx="5434740" cy="2672304"/>
          </a:xfrm>
        </p:spPr>
      </p:pic>
      <p:pic>
        <p:nvPicPr>
          <p:cNvPr id="5" name="Picture 4" descr="A diagram of a credit&#10;&#10;Description automatically generated">
            <a:extLst>
              <a:ext uri="{FF2B5EF4-FFF2-40B4-BE49-F238E27FC236}">
                <a16:creationId xmlns:a16="http://schemas.microsoft.com/office/drawing/2014/main" id="{82CC64BC-3381-2B1C-2F25-D58AA5023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272" y="3083844"/>
            <a:ext cx="6179219" cy="3658101"/>
          </a:xfrm>
          <a:prstGeom prst="rect">
            <a:avLst/>
          </a:prstGeom>
        </p:spPr>
      </p:pic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D554AAD0-AF76-B2ED-72DC-BB24C57080FB}"/>
              </a:ext>
            </a:extLst>
          </p:cNvPr>
          <p:cNvSpPr/>
          <p:nvPr/>
        </p:nvSpPr>
        <p:spPr>
          <a:xfrm rot="1140000">
            <a:off x="4962800" y="2356607"/>
            <a:ext cx="1313447" cy="53139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FBE4C-A84C-489E-F863-3EBEB24E8AD5}"/>
              </a:ext>
            </a:extLst>
          </p:cNvPr>
          <p:cNvSpPr txBox="1"/>
          <p:nvPr/>
        </p:nvSpPr>
        <p:spPr>
          <a:xfrm>
            <a:off x="7173147" y="1008113"/>
            <a:ext cx="461828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...</a:t>
            </a:r>
            <a:r>
              <a:rPr lang="en-US" sz="2400" err="1">
                <a:ea typeface="+mn-lt"/>
                <a:cs typeface="+mn-lt"/>
              </a:rPr>
              <a:t>construim</a:t>
            </a:r>
            <a:r>
              <a:rPr lang="en-US" sz="2400" dirty="0">
                <a:ea typeface="+mn-lt"/>
                <a:cs typeface="+mn-lt"/>
              </a:rPr>
              <a:t> al </a:t>
            </a:r>
            <a:r>
              <a:rPr lang="en-US" sz="2400" err="1">
                <a:ea typeface="+mn-lt"/>
                <a:cs typeface="+mn-lt"/>
              </a:rPr>
              <a:t>doilea</a:t>
            </a: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nivel</a:t>
            </a:r>
            <a:r>
              <a:rPr lang="en-US" sz="2400" dirty="0">
                <a:ea typeface="+mn-lt"/>
                <a:cs typeface="+mn-lt"/>
              </a:rPr>
              <a:t> pe </a:t>
            </a:r>
            <a:r>
              <a:rPr lang="en-US" sz="2400" b="1" dirty="0">
                <a:ea typeface="+mn-lt"/>
                <a:cs typeface="+mn-lt"/>
              </a:rPr>
              <a:t>subset de </a:t>
            </a:r>
            <a:r>
              <a:rPr lang="en-US" sz="2400" b="1" err="1">
                <a:ea typeface="+mn-lt"/>
                <a:cs typeface="+mn-lt"/>
              </a:rPr>
              <a:t>exemple</a:t>
            </a:r>
            <a:r>
              <a:rPr lang="en-US" sz="2400" b="1" dirty="0">
                <a:ea typeface="+mn-lt"/>
                <a:cs typeface="+mn-lt"/>
              </a:rPr>
              <a:t> </a:t>
            </a:r>
            <a:r>
              <a:rPr lang="en-US" sz="2400" b="1" err="1">
                <a:ea typeface="+mn-lt"/>
                <a:cs typeface="+mn-lt"/>
              </a:rPr>
              <a:t>si</a:t>
            </a:r>
            <a:r>
              <a:rPr lang="en-US" sz="2400" b="1" dirty="0">
                <a:ea typeface="+mn-lt"/>
                <a:cs typeface="+mn-lt"/>
              </a:rPr>
              <a:t> </a:t>
            </a:r>
            <a:r>
              <a:rPr lang="en-US" sz="2400" b="1" err="1">
                <a:ea typeface="+mn-lt"/>
                <a:cs typeface="+mn-lt"/>
              </a:rPr>
              <a:t>atribute</a:t>
            </a:r>
            <a:endParaRPr lang="en-US" sz="2400" b="1" err="1"/>
          </a:p>
        </p:txBody>
      </p:sp>
    </p:spTree>
    <p:extLst>
      <p:ext uri="{BB962C8B-B14F-4D97-AF65-F5344CB8AC3E}">
        <p14:creationId xmlns:p14="http://schemas.microsoft.com/office/powerpoint/2010/main" val="302091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company&#10;&#10;Description automatically generated">
            <a:extLst>
              <a:ext uri="{FF2B5EF4-FFF2-40B4-BE49-F238E27FC236}">
                <a16:creationId xmlns:a16="http://schemas.microsoft.com/office/drawing/2014/main" id="{89623819-313A-138F-068B-282C646F0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16" y="1096169"/>
            <a:ext cx="6029325" cy="428625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E35CA66-56C6-08D9-D802-05A07414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331" y="6170362"/>
            <a:ext cx="10515600" cy="543511"/>
          </a:xfrm>
        </p:spPr>
        <p:txBody>
          <a:bodyPr/>
          <a:lstStyle/>
          <a:p>
            <a:r>
              <a:rPr lang="en-US" sz="3200" dirty="0"/>
              <a:t>Cand ne </a:t>
            </a:r>
            <a:r>
              <a:rPr lang="en-US" sz="3200" err="1"/>
              <a:t>oprim</a:t>
            </a:r>
            <a:r>
              <a:rPr lang="en-US" sz="3200" dirty="0"/>
              <a:t>?</a:t>
            </a:r>
          </a:p>
        </p:txBody>
      </p:sp>
      <p:pic>
        <p:nvPicPr>
          <p:cNvPr id="10" name="Picture 9" descr="A diagram of a work flow&#10;&#10;Description automatically generated">
            <a:extLst>
              <a:ext uri="{FF2B5EF4-FFF2-40B4-BE49-F238E27FC236}">
                <a16:creationId xmlns:a16="http://schemas.microsoft.com/office/drawing/2014/main" id="{2FEC51FC-2E56-7E6F-2E2A-A2DDA8896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102" y="1035718"/>
            <a:ext cx="6057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65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B6594-E1AD-E4BE-220B-E85FCF535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673" y="141454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Supervised learning task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Arial"/>
                <a:cs typeface="Arial"/>
              </a:rPr>
              <a:t>Decision tree learning task</a:t>
            </a:r>
          </a:p>
          <a:p>
            <a:pPr>
              <a:buFont typeface="Arial"/>
              <a:buChar char="•"/>
            </a:pPr>
            <a:r>
              <a:rPr lang="en-US" b="1" dirty="0">
                <a:latin typeface="Arial"/>
                <a:cs typeface="Arial"/>
              </a:rPr>
              <a:t>Choosing the best attribute</a:t>
            </a:r>
          </a:p>
          <a:p>
            <a:pPr>
              <a:buFont typeface="Arial"/>
              <a:buChar char="•"/>
            </a:pPr>
            <a:r>
              <a:rPr lang="en-US" dirty="0">
                <a:latin typeface="Arial"/>
                <a:cs typeface="Arial"/>
              </a:rPr>
              <a:t>Entropy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40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EA72-D300-3450-389D-2840235B6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146" y="1097046"/>
            <a:ext cx="3617496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semnificativ</a:t>
            </a:r>
            <a:r>
              <a:rPr lang="en-US" dirty="0"/>
              <a:t> </a:t>
            </a:r>
            <a:r>
              <a:rPr lang="en-US" dirty="0" err="1"/>
              <a:t>atribut</a:t>
            </a:r>
          </a:p>
        </p:txBody>
      </p:sp>
      <p:pic>
        <p:nvPicPr>
          <p:cNvPr id="4" name="Content Placeholder 3" descr="A table with black text&#10;&#10;Description automatically generated">
            <a:extLst>
              <a:ext uri="{FF2B5EF4-FFF2-40B4-BE49-F238E27FC236}">
                <a16:creationId xmlns:a16="http://schemas.microsoft.com/office/drawing/2014/main" id="{BB2F380F-6D56-F196-DC27-1293D43CC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56" y="111125"/>
            <a:ext cx="8516603" cy="4090654"/>
          </a:xfr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C5948D9-B138-A490-D1AB-479D1C6C7A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9" b="28645"/>
          <a:stretch/>
        </p:blipFill>
        <p:spPr>
          <a:xfrm>
            <a:off x="1129966" y="4069932"/>
            <a:ext cx="9190130" cy="279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7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AAA5F-9D27-A089-3A82-B26A064F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C0983-D154-61B8-E4E2-D886BEB0F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The more clueless I am about the answer initially, the more information is contained in the answer</a:t>
            </a:r>
          </a:p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Valoare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informationala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unui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mesaj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comunicat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depinde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gradul</a:t>
            </a:r>
            <a:r>
              <a:rPr lang="en-US" dirty="0">
                <a:ea typeface="+mn-lt"/>
                <a:cs typeface="+mn-lt"/>
              </a:rPr>
              <a:t> in care </a:t>
            </a:r>
            <a:r>
              <a:rPr lang="en-US" err="1">
                <a:ea typeface="+mn-lt"/>
                <a:cs typeface="+mn-lt"/>
              </a:rPr>
              <a:t>continutul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neasteptat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err="1">
                <a:solidFill>
                  <a:schemeClr val="accent4">
                    <a:lumMod val="75000"/>
                  </a:schemeClr>
                </a:solidFill>
              </a:rPr>
              <a:t>Informatia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err="1">
                <a:solidFill>
                  <a:schemeClr val="accent4">
                    <a:lumMod val="75000"/>
                  </a:schemeClr>
                </a:solidFill>
              </a:rPr>
              <a:t>raspuns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la </a:t>
            </a:r>
            <a:r>
              <a:rPr lang="en-US" err="1">
                <a:solidFill>
                  <a:schemeClr val="accent4">
                    <a:lumMod val="75000"/>
                  </a:schemeClr>
                </a:solidFill>
              </a:rPr>
              <a:t>intrebari</a:t>
            </a:r>
            <a:endParaRPr lang="en-US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1bit = </a:t>
            </a:r>
            <a:r>
              <a:rPr lang="en-US" err="1"/>
              <a:t>raspunsul</a:t>
            </a:r>
            <a:r>
              <a:rPr lang="en-US" dirty="0"/>
              <a:t> la o </a:t>
            </a:r>
            <a:r>
              <a:rPr lang="en-US" err="1"/>
              <a:t>intrebare</a:t>
            </a:r>
            <a:r>
              <a:rPr lang="en-US" dirty="0"/>
              <a:t> </a:t>
            </a:r>
            <a:r>
              <a:rPr lang="en-US" err="1"/>
              <a:t>booleana</a:t>
            </a:r>
            <a:r>
              <a:rPr lang="en-US" dirty="0"/>
              <a:t> cu </a:t>
            </a:r>
            <a:r>
              <a:rPr lang="en-US" err="1"/>
              <a:t>probabilitate</a:t>
            </a:r>
            <a:r>
              <a:rPr lang="en-US" dirty="0"/>
              <a:t> </a:t>
            </a:r>
            <a:r>
              <a:rPr lang="en-US" err="1"/>
              <a:t>apriori</a:t>
            </a:r>
            <a:r>
              <a:rPr lang="en-US" dirty="0"/>
              <a:t> 0.5, 0.5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1 bit  =  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nivelul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 de 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incertitudine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 in 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rezultatul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aruncarii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unei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singure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monede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 (</a:t>
            </a:r>
            <a:r>
              <a:rPr lang="en-US" b="1" err="1">
                <a:solidFill>
                  <a:srgbClr val="C00000"/>
                </a:solidFill>
                <a:ea typeface="+mn-lt"/>
                <a:cs typeface="+mn-lt"/>
              </a:rPr>
              <a:t>corecte</a:t>
            </a:r>
            <a:r>
              <a:rPr lang="en-US" b="1" dirty="0">
                <a:solidFill>
                  <a:srgbClr val="C00000"/>
                </a:solidFill>
                <a:ea typeface="+mn-lt"/>
                <a:cs typeface="+mn-lt"/>
              </a:rPr>
              <a:t>).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235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8EF5-5C83-D377-97B7-F4B4E683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 </a:t>
            </a:r>
            <a:r>
              <a:rPr lang="en-US" dirty="0" err="1"/>
              <a:t>incertitudine</a:t>
            </a:r>
            <a:r>
              <a:rPr lang="en-US" dirty="0"/>
              <a:t> am? </a:t>
            </a:r>
          </a:p>
        </p:txBody>
      </p:sp>
      <p:pic>
        <p:nvPicPr>
          <p:cNvPr id="4" name="Content Placeholder 3" descr="Entropy For Dummies: How To Do It The Easy Way- A stick figure on the left flips a coin and is asking the following question in its head: “Heads or tails?” Below this bubble is seen the following word highlighted inside a square block: Entropy. Beside this block is a seal that says ‘For Dummies — Approved’ on it.">
            <a:extLst>
              <a:ext uri="{FF2B5EF4-FFF2-40B4-BE49-F238E27FC236}">
                <a16:creationId xmlns:a16="http://schemas.microsoft.com/office/drawing/2014/main" id="{C23EB176-9D0A-4F99-38CA-ACE3D3F0D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7854"/>
          <a:stretch/>
        </p:blipFill>
        <p:spPr>
          <a:xfrm>
            <a:off x="591019" y="1986045"/>
            <a:ext cx="3502751" cy="264686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DD6A45-E970-CA9E-BC13-05DACCC69F06}"/>
              </a:ext>
            </a:extLst>
          </p:cNvPr>
          <p:cNvSpPr txBox="1"/>
          <p:nvPr/>
        </p:nvSpPr>
        <p:spPr>
          <a:xfrm>
            <a:off x="5296791" y="1689609"/>
            <a:ext cx="4451986" cy="9386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F7059-FAFF-DFAD-D99D-969F0FF7F1F9}"/>
              </a:ext>
            </a:extLst>
          </p:cNvPr>
          <p:cNvSpPr txBox="1"/>
          <p:nvPr/>
        </p:nvSpPr>
        <p:spPr>
          <a:xfrm>
            <a:off x="5293160" y="1773080"/>
            <a:ext cx="60684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Daca stim ca </a:t>
            </a:r>
            <a:r>
              <a:rPr lang="en-US" err="1"/>
              <a:t>avem</a:t>
            </a:r>
            <a:r>
              <a:rPr lang="en-US" dirty="0"/>
              <a:t> o </a:t>
            </a:r>
            <a:r>
              <a:rPr lang="en-US" err="1"/>
              <a:t>moneda</a:t>
            </a:r>
            <a:r>
              <a:rPr lang="en-US" dirty="0"/>
              <a:t> care </a:t>
            </a:r>
            <a:r>
              <a:rPr lang="en-US" err="1"/>
              <a:t>intotdeauna</a:t>
            </a:r>
            <a:r>
              <a:rPr lang="en-US" dirty="0"/>
              <a:t> cade "cap" - </a:t>
            </a:r>
            <a:r>
              <a:rPr lang="en-US" err="1">
                <a:solidFill>
                  <a:srgbClr val="C00000"/>
                </a:solidFill>
              </a:rPr>
              <a:t>entropia</a:t>
            </a:r>
            <a:r>
              <a:rPr lang="en-US" dirty="0">
                <a:solidFill>
                  <a:srgbClr val="C00000"/>
                </a:solidFill>
              </a:rPr>
              <a:t> = 0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F62C-1A10-00D0-8B73-B2A53601DF65}"/>
              </a:ext>
            </a:extLst>
          </p:cNvPr>
          <p:cNvSpPr txBox="1"/>
          <p:nvPr/>
        </p:nvSpPr>
        <p:spPr>
          <a:xfrm>
            <a:off x="5350429" y="2842834"/>
            <a:ext cx="602090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Dar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o </a:t>
            </a:r>
            <a:r>
              <a:rPr lang="en-US" dirty="0" err="1"/>
              <a:t>moneda</a:t>
            </a:r>
            <a:r>
              <a:rPr lang="en-US" dirty="0"/>
              <a:t> "</a:t>
            </a:r>
            <a:r>
              <a:rPr lang="en-US" dirty="0" err="1"/>
              <a:t>normala</a:t>
            </a:r>
            <a:r>
              <a:rPr lang="en-US" dirty="0"/>
              <a:t>", care cade cu </a:t>
            </a:r>
            <a:r>
              <a:rPr lang="en-US" dirty="0" err="1"/>
              <a:t>probabilitate</a:t>
            </a:r>
            <a:r>
              <a:rPr lang="en-US" dirty="0"/>
              <a:t> 0.5 "cap", 0.5 "</a:t>
            </a:r>
            <a:r>
              <a:rPr lang="en-US" dirty="0" err="1"/>
              <a:t>pajura</a:t>
            </a:r>
            <a:r>
              <a:rPr lang="en-US" dirty="0"/>
              <a:t>"</a:t>
            </a:r>
          </a:p>
          <a:p>
            <a:r>
              <a:rPr lang="en-US" dirty="0">
                <a:solidFill>
                  <a:srgbClr val="C00000"/>
                </a:solidFill>
              </a:rPr>
              <a:t>Entropia = 1 (bit)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0EB84-7FF0-6606-26EC-97C3E8FEBF85}"/>
              </a:ext>
            </a:extLst>
          </p:cNvPr>
          <p:cNvSpPr txBox="1"/>
          <p:nvPr/>
        </p:nvSpPr>
        <p:spPr>
          <a:xfrm>
            <a:off x="5347663" y="4633077"/>
            <a:ext cx="501518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Dar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o </a:t>
            </a:r>
            <a:r>
              <a:rPr lang="en-US" dirty="0" err="1"/>
              <a:t>moneda</a:t>
            </a:r>
            <a:r>
              <a:rPr lang="en-US" dirty="0"/>
              <a:t> "</a:t>
            </a:r>
            <a:r>
              <a:rPr lang="en-US" dirty="0" err="1"/>
              <a:t>masluita</a:t>
            </a:r>
            <a:r>
              <a:rPr lang="en-US" dirty="0"/>
              <a:t>", care stim ca are 0.99 </a:t>
            </a:r>
            <a:r>
              <a:rPr lang="en-US" dirty="0" err="1"/>
              <a:t>probabilitate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"cap"</a:t>
            </a:r>
          </a:p>
          <a:p>
            <a:r>
              <a:rPr lang="en-US" dirty="0">
                <a:solidFill>
                  <a:srgbClr val="C00000"/>
                </a:solidFill>
              </a:rPr>
              <a:t>Entropia e </a:t>
            </a:r>
            <a:r>
              <a:rPr lang="en-US" err="1">
                <a:solidFill>
                  <a:srgbClr val="C00000"/>
                </a:solidFill>
              </a:rPr>
              <a:t>mult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err="1">
                <a:solidFill>
                  <a:srgbClr val="C00000"/>
                </a:solidFill>
              </a:rPr>
              <a:t>mai</a:t>
            </a:r>
            <a:r>
              <a:rPr lang="en-US" dirty="0">
                <a:solidFill>
                  <a:srgbClr val="C00000"/>
                </a:solidFill>
              </a:rPr>
              <a:t> mica </a:t>
            </a:r>
            <a:r>
              <a:rPr lang="en-US" err="1">
                <a:solidFill>
                  <a:srgbClr val="C00000"/>
                </a:solidFill>
              </a:rPr>
              <a:t>decat</a:t>
            </a:r>
            <a:r>
              <a:rPr lang="en-US" dirty="0">
                <a:solidFill>
                  <a:srgbClr val="C00000"/>
                </a:solidFill>
              </a:rPr>
              <a:t> 1 bit, </a:t>
            </a:r>
            <a:r>
              <a:rPr lang="en-US" err="1">
                <a:solidFill>
                  <a:srgbClr val="C00000"/>
                </a:solidFill>
              </a:rPr>
              <a:t>dar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err="1">
                <a:solidFill>
                  <a:srgbClr val="C00000"/>
                </a:solidFill>
              </a:rPr>
              <a:t>mai</a:t>
            </a:r>
            <a:r>
              <a:rPr lang="en-US" dirty="0">
                <a:solidFill>
                  <a:srgbClr val="C00000"/>
                </a:solidFill>
              </a:rPr>
              <a:t> mare </a:t>
            </a:r>
            <a:r>
              <a:rPr lang="en-US" err="1">
                <a:solidFill>
                  <a:srgbClr val="C00000"/>
                </a:solidFill>
              </a:rPr>
              <a:t>decat</a:t>
            </a:r>
            <a:r>
              <a:rPr lang="en-US" dirty="0">
                <a:solidFill>
                  <a:srgbClr val="C00000"/>
                </a:solidFill>
              </a:rPr>
              <a:t>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F96CAE-0999-3629-59F9-95020C50E0A3}"/>
              </a:ext>
            </a:extLst>
          </p:cNvPr>
          <p:cNvSpPr txBox="1"/>
          <p:nvPr/>
        </p:nvSpPr>
        <p:spPr>
          <a:xfrm>
            <a:off x="841421" y="6184713"/>
            <a:ext cx="9297167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Entropia </a:t>
            </a:r>
            <a:r>
              <a:rPr lang="en-US" dirty="0" err="1"/>
              <a:t>masoara</a:t>
            </a:r>
            <a:r>
              <a:rPr lang="en-US" dirty="0"/>
              <a:t> </a:t>
            </a:r>
            <a:r>
              <a:rPr lang="en-US" dirty="0" err="1"/>
              <a:t>incertitudinea</a:t>
            </a:r>
            <a:r>
              <a:rPr lang="en-US" dirty="0"/>
              <a:t>; </a:t>
            </a:r>
            <a:r>
              <a:rPr lang="en-US" dirty="0" err="1"/>
              <a:t>castigarea</a:t>
            </a:r>
            <a:r>
              <a:rPr lang="en-US" dirty="0"/>
              <a:t> de </a:t>
            </a:r>
            <a:r>
              <a:rPr lang="en-US" dirty="0" err="1"/>
              <a:t>informatii</a:t>
            </a:r>
            <a:r>
              <a:rPr lang="en-US" dirty="0"/>
              <a:t> reduce </a:t>
            </a:r>
            <a:r>
              <a:rPr lang="en-US" dirty="0" err="1"/>
              <a:t>incertitudinea</a:t>
            </a:r>
          </a:p>
        </p:txBody>
      </p:sp>
    </p:spTree>
    <p:extLst>
      <p:ext uri="{BB962C8B-B14F-4D97-AF65-F5344CB8AC3E}">
        <p14:creationId xmlns:p14="http://schemas.microsoft.com/office/powerpoint/2010/main" val="1553110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226A-586D-880F-3193-533EEAAC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97720-4F92-BF9C-ACB3-3BCE7809DA91}"/>
              </a:ext>
            </a:extLst>
          </p:cNvPr>
          <p:cNvSpPr txBox="1"/>
          <p:nvPr/>
        </p:nvSpPr>
        <p:spPr>
          <a:xfrm>
            <a:off x="791166" y="3124436"/>
            <a:ext cx="4733588" cy="36933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H(Fair coin) = -0.5 log</a:t>
            </a:r>
            <a:r>
              <a:rPr lang="en-US" baseline="-25000" dirty="0">
                <a:solidFill>
                  <a:srgbClr val="002060"/>
                </a:solidFill>
              </a:rPr>
              <a:t>2</a:t>
            </a:r>
            <a:r>
              <a:rPr lang="en-US" dirty="0">
                <a:solidFill>
                  <a:srgbClr val="002060"/>
                </a:solidFill>
              </a:rPr>
              <a:t> 0.5 - 0.5 log</a:t>
            </a:r>
            <a:r>
              <a:rPr lang="en-US" baseline="-25000" dirty="0">
                <a:solidFill>
                  <a:srgbClr val="002060"/>
                </a:solidFill>
              </a:rPr>
              <a:t>2</a:t>
            </a:r>
            <a:r>
              <a:rPr lang="en-US" dirty="0">
                <a:solidFill>
                  <a:srgbClr val="002060"/>
                </a:solidFill>
              </a:rPr>
              <a:t> 0.5 = 1</a:t>
            </a:r>
          </a:p>
        </p:txBody>
      </p:sp>
      <p:pic>
        <p:nvPicPr>
          <p:cNvPr id="8" name="Content Placeholder 7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7ED3B8A6-1901-E279-D918-2481DFDE1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4191" y="1718803"/>
            <a:ext cx="7133222" cy="93545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AD0C9D-E33F-D56E-21DD-AD06E5C19D08}"/>
              </a:ext>
            </a:extLst>
          </p:cNvPr>
          <p:cNvSpPr txBox="1"/>
          <p:nvPr/>
        </p:nvSpPr>
        <p:spPr>
          <a:xfrm>
            <a:off x="794084" y="3751847"/>
            <a:ext cx="66334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H(Loaded coin) = -0.99 log</a:t>
            </a:r>
            <a:r>
              <a:rPr lang="en-US" sz="1200" baseline="-25000" dirty="0">
                <a:solidFill>
                  <a:srgbClr val="002060"/>
                </a:solidFill>
              </a:rPr>
              <a:t>2</a:t>
            </a:r>
            <a:r>
              <a:rPr lang="en-US" dirty="0">
                <a:solidFill>
                  <a:srgbClr val="002060"/>
                </a:solidFill>
              </a:rPr>
              <a:t> 0.99 - 0.01 log</a:t>
            </a:r>
            <a:r>
              <a:rPr lang="en-US" sz="1200" baseline="-25000" dirty="0">
                <a:solidFill>
                  <a:srgbClr val="002060"/>
                </a:solidFill>
              </a:rPr>
              <a:t>2</a:t>
            </a:r>
            <a:r>
              <a:rPr lang="en-US" dirty="0">
                <a:solidFill>
                  <a:srgbClr val="002060"/>
                </a:solidFill>
              </a:rPr>
              <a:t> 0.0.1 ~ 0.08 bits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9E162-B22F-403B-345B-C4770916F038}"/>
              </a:ext>
            </a:extLst>
          </p:cNvPr>
          <p:cNvSpPr txBox="1"/>
          <p:nvPr/>
        </p:nvSpPr>
        <p:spPr>
          <a:xfrm>
            <a:off x="978900" y="4733588"/>
            <a:ext cx="10768050" cy="11449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800" dirty="0">
                <a:latin typeface="Arial"/>
                <a:cs typeface="Arial"/>
              </a:rPr>
              <a:t>Entropia </a:t>
            </a:r>
            <a:r>
              <a:rPr lang="en-US" sz="2800" dirty="0" err="1">
                <a:latin typeface="Arial"/>
                <a:cs typeface="Arial"/>
              </a:rPr>
              <a:t>este</a:t>
            </a:r>
            <a:r>
              <a:rPr lang="en-US" sz="2800" dirty="0">
                <a:latin typeface="Arial"/>
                <a:cs typeface="Arial"/>
              </a:rPr>
              <a:t> o </a:t>
            </a:r>
            <a:r>
              <a:rPr lang="en-US" sz="2800" dirty="0" err="1">
                <a:latin typeface="Arial"/>
                <a:cs typeface="Arial"/>
              </a:rPr>
              <a:t>masura</a:t>
            </a:r>
            <a:r>
              <a:rPr lang="en-US" sz="2800" dirty="0">
                <a:latin typeface="Arial"/>
                <a:cs typeface="Arial"/>
              </a:rPr>
              <a:t> o </a:t>
            </a:r>
            <a:r>
              <a:rPr lang="en-US" sz="2800" dirty="0" err="1">
                <a:latin typeface="Arial"/>
                <a:cs typeface="Arial"/>
              </a:rPr>
              <a:t>incertitudinii</a:t>
            </a:r>
            <a:r>
              <a:rPr lang="en-US" sz="2800" dirty="0">
                <a:latin typeface="Arial"/>
                <a:cs typeface="Arial"/>
              </a:rPr>
              <a:t> </a:t>
            </a:r>
            <a:r>
              <a:rPr lang="en-US" sz="2800" dirty="0" err="1">
                <a:latin typeface="Arial"/>
                <a:cs typeface="Arial"/>
              </a:rPr>
              <a:t>unei</a:t>
            </a:r>
            <a:r>
              <a:rPr lang="en-US" sz="2800" dirty="0">
                <a:latin typeface="Arial"/>
                <a:cs typeface="Arial"/>
              </a:rPr>
              <a:t> </a:t>
            </a:r>
            <a:r>
              <a:rPr lang="en-US" sz="2800" dirty="0" err="1">
                <a:latin typeface="Arial"/>
                <a:cs typeface="Arial"/>
              </a:rPr>
              <a:t>variabile</a:t>
            </a:r>
            <a:r>
              <a:rPr lang="en-US" sz="2800" dirty="0">
                <a:latin typeface="Arial"/>
                <a:cs typeface="Arial"/>
              </a:rPr>
              <a:t> random: </a:t>
            </a:r>
            <a:r>
              <a:rPr lang="en-US" sz="2800" dirty="0" err="1">
                <a:latin typeface="Arial"/>
                <a:cs typeface="Arial"/>
              </a:rPr>
              <a:t>mai</a:t>
            </a:r>
            <a:r>
              <a:rPr lang="en-US" sz="2800" dirty="0">
                <a:latin typeface="Arial"/>
                <a:cs typeface="Arial"/>
              </a:rPr>
              <a:t> </a:t>
            </a:r>
            <a:r>
              <a:rPr lang="en-US" sz="2800" dirty="0" err="1">
                <a:latin typeface="Arial"/>
                <a:cs typeface="Arial"/>
              </a:rPr>
              <a:t>multa</a:t>
            </a:r>
            <a:r>
              <a:rPr lang="en-US" sz="2800" dirty="0">
                <a:latin typeface="Arial"/>
                <a:cs typeface="Arial"/>
              </a:rPr>
              <a:t> </a:t>
            </a:r>
            <a:r>
              <a:rPr lang="en-US" sz="2800" dirty="0" err="1">
                <a:latin typeface="Arial"/>
                <a:cs typeface="Arial"/>
              </a:rPr>
              <a:t>informatie</a:t>
            </a:r>
            <a:r>
              <a:rPr lang="en-US" sz="2800" dirty="0">
                <a:latin typeface="Arial"/>
                <a:cs typeface="Arial"/>
              </a:rPr>
              <a:t>, </a:t>
            </a:r>
            <a:r>
              <a:rPr lang="en-US" sz="2800" dirty="0" err="1">
                <a:latin typeface="Arial"/>
                <a:cs typeface="Arial"/>
              </a:rPr>
              <a:t>mai</a:t>
            </a:r>
            <a:r>
              <a:rPr lang="en-US" sz="2800" dirty="0">
                <a:latin typeface="Arial"/>
                <a:cs typeface="Arial"/>
              </a:rPr>
              <a:t> </a:t>
            </a:r>
            <a:r>
              <a:rPr lang="en-US" sz="2800" dirty="0" err="1">
                <a:latin typeface="Arial"/>
                <a:cs typeface="Arial"/>
              </a:rPr>
              <a:t>putina</a:t>
            </a:r>
            <a:r>
              <a:rPr lang="en-US" sz="2800" dirty="0">
                <a:latin typeface="Arial"/>
                <a:cs typeface="Arial"/>
              </a:rPr>
              <a:t> </a:t>
            </a:r>
            <a:r>
              <a:rPr lang="en-US" sz="2800" dirty="0" err="1">
                <a:latin typeface="Arial"/>
                <a:cs typeface="Arial"/>
              </a:rPr>
              <a:t>entropie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39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1BDF-B245-40AA-BC8A-3DE50214A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Cum </a:t>
            </a:r>
            <a:r>
              <a:rPr lang="en-US" sz="3600" dirty="0" err="1"/>
              <a:t>putem</a:t>
            </a:r>
            <a:r>
              <a:rPr lang="en-US" sz="3600" dirty="0"/>
              <a:t> </a:t>
            </a:r>
            <a:r>
              <a:rPr lang="en-US" sz="3600" dirty="0" err="1"/>
              <a:t>folosi</a:t>
            </a:r>
            <a:r>
              <a:rPr lang="en-US" sz="3600" dirty="0"/>
              <a:t> </a:t>
            </a:r>
            <a:r>
              <a:rPr lang="en-US" sz="3600" dirty="0" err="1"/>
              <a:t>entropia</a:t>
            </a:r>
            <a:r>
              <a:rPr lang="en-US" sz="3600" dirty="0"/>
              <a:t> </a:t>
            </a:r>
            <a:r>
              <a:rPr lang="en-US" sz="3600" dirty="0" err="1"/>
              <a:t>pentru</a:t>
            </a:r>
            <a:r>
              <a:rPr lang="en-US" sz="3600" dirty="0"/>
              <a:t> </a:t>
            </a:r>
            <a:r>
              <a:rPr lang="en-US" sz="3600" dirty="0" err="1"/>
              <a:t>selectia</a:t>
            </a:r>
            <a:r>
              <a:rPr lang="en-US" sz="3600" dirty="0"/>
              <a:t> </a:t>
            </a:r>
            <a:r>
              <a:rPr lang="en-US" sz="3600" dirty="0" err="1"/>
              <a:t>celui</a:t>
            </a:r>
            <a:r>
              <a:rPr lang="en-US" sz="3600" dirty="0"/>
              <a:t> </a:t>
            </a:r>
            <a:r>
              <a:rPr lang="en-US" sz="3600" dirty="0" err="1"/>
              <a:t>mai</a:t>
            </a:r>
            <a:r>
              <a:rPr lang="en-US" sz="3600" dirty="0"/>
              <a:t> "bun" </a:t>
            </a:r>
            <a:r>
              <a:rPr lang="en-US" sz="3600" dirty="0" err="1"/>
              <a:t>atribut</a:t>
            </a:r>
            <a:r>
              <a:rPr lang="en-US" sz="3600" dirty="0"/>
              <a:t> la un moment </a:t>
            </a:r>
            <a:r>
              <a:rPr lang="en-US" sz="3600" dirty="0" err="1"/>
              <a:t>dat</a:t>
            </a:r>
            <a:r>
              <a:rPr lang="en-US" sz="3600" dirty="0"/>
              <a:t>?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D170F0A-8EA9-F369-D484-20563029E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9" b="28645"/>
          <a:stretch/>
        </p:blipFill>
        <p:spPr>
          <a:xfrm>
            <a:off x="708861" y="1693695"/>
            <a:ext cx="9190130" cy="27912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53DB59-56CF-3C56-D117-4B8348BBBBBE}"/>
              </a:ext>
            </a:extLst>
          </p:cNvPr>
          <p:cNvSpPr txBox="1"/>
          <p:nvPr/>
        </p:nvSpPr>
        <p:spPr>
          <a:xfrm>
            <a:off x="834779" y="4793746"/>
            <a:ext cx="99348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Initial: stim ca 6 </a:t>
            </a:r>
            <a:r>
              <a:rPr lang="en-US" err="1"/>
              <a:t>exemple</a:t>
            </a:r>
            <a:r>
              <a:rPr lang="en-US" dirty="0"/>
              <a:t> "</a:t>
            </a:r>
            <a:r>
              <a:rPr lang="en-US" err="1"/>
              <a:t>Asteptam</a:t>
            </a:r>
            <a:r>
              <a:rPr lang="en-US" dirty="0"/>
              <a:t>", 6 </a:t>
            </a:r>
            <a:r>
              <a:rPr lang="en-US" err="1"/>
              <a:t>exemple</a:t>
            </a:r>
            <a:r>
              <a:rPr lang="en-US" dirty="0"/>
              <a:t> "Nu </a:t>
            </a:r>
            <a:r>
              <a:rPr lang="en-US" err="1"/>
              <a:t>asteptam</a:t>
            </a:r>
            <a:r>
              <a:rPr lang="en-US" dirty="0"/>
              <a:t>" -&gt; </a:t>
            </a:r>
            <a:r>
              <a:rPr lang="en-US" b="1" err="1">
                <a:solidFill>
                  <a:srgbClr val="C00000"/>
                </a:solidFill>
              </a:rPr>
              <a:t>avem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err="1">
                <a:solidFill>
                  <a:srgbClr val="C00000"/>
                </a:solidFill>
              </a:rPr>
              <a:t>nevoie</a:t>
            </a:r>
            <a:r>
              <a:rPr lang="en-US" b="1" dirty="0">
                <a:solidFill>
                  <a:srgbClr val="C00000"/>
                </a:solidFill>
              </a:rPr>
              <a:t> de 1 bit de info </a:t>
            </a:r>
            <a:r>
              <a:rPr lang="en-US" err="1"/>
              <a:t>pentru</a:t>
            </a:r>
            <a:r>
              <a:rPr lang="en-US" dirty="0"/>
              <a:t> a </a:t>
            </a:r>
            <a:r>
              <a:rPr lang="en-US" err="1"/>
              <a:t>clasifica</a:t>
            </a:r>
            <a:r>
              <a:rPr lang="en-US" dirty="0"/>
              <a:t> un </a:t>
            </a:r>
            <a:r>
              <a:rPr lang="en-US" err="1"/>
              <a:t>exemplu</a:t>
            </a:r>
            <a:endParaRPr lang="en-US"/>
          </a:p>
          <a:p>
            <a:r>
              <a:rPr lang="en-US" dirty="0"/>
              <a:t>Cata </a:t>
            </a:r>
            <a:r>
              <a:rPr lang="en-US" dirty="0" err="1"/>
              <a:t>informatie</a:t>
            </a:r>
            <a:r>
              <a:rPr lang="en-US" dirty="0"/>
              <a:t> ne </a:t>
            </a:r>
            <a:r>
              <a:rPr lang="en-US" dirty="0" err="1"/>
              <a:t>ofera</a:t>
            </a:r>
            <a:r>
              <a:rPr lang="en-US" dirty="0"/>
              <a:t> un </a:t>
            </a:r>
            <a:r>
              <a:rPr lang="en-US" dirty="0" err="1"/>
              <a:t>atribut</a:t>
            </a:r>
            <a:r>
              <a:rPr lang="en-US" dirty="0"/>
              <a:t>?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imparte</a:t>
            </a:r>
            <a:r>
              <a:rPr lang="en-US" dirty="0"/>
              <a:t> </a:t>
            </a:r>
            <a:r>
              <a:rPr lang="en-US" dirty="0" err="1"/>
              <a:t>setul</a:t>
            </a:r>
            <a:r>
              <a:rPr lang="en-US" dirty="0"/>
              <a:t> de date in </a:t>
            </a:r>
            <a:r>
              <a:rPr lang="en-US" dirty="0" err="1"/>
              <a:t>subseturi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dirty="0" err="1"/>
              <a:t>speram</a:t>
            </a:r>
            <a:r>
              <a:rPr lang="en-US" dirty="0"/>
              <a:t> ca pe </a:t>
            </a:r>
            <a:r>
              <a:rPr lang="en-US" dirty="0" err="1"/>
              <a:t>acele</a:t>
            </a:r>
            <a:r>
              <a:rPr lang="en-US" dirty="0"/>
              <a:t> </a:t>
            </a:r>
            <a:r>
              <a:rPr lang="en-US" dirty="0" err="1"/>
              <a:t>subseturi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de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putina</a:t>
            </a:r>
            <a:r>
              <a:rPr lang="en-US" dirty="0"/>
              <a:t> </a:t>
            </a:r>
            <a:r>
              <a:rPr lang="en-US" dirty="0" err="1"/>
              <a:t>informatie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F8D79-BF62-18CF-AC6A-B0F89611F2AD}"/>
              </a:ext>
            </a:extLst>
          </p:cNvPr>
          <p:cNvSpPr txBox="1"/>
          <p:nvPr/>
        </p:nvSpPr>
        <p:spPr>
          <a:xfrm>
            <a:off x="2766871" y="6131446"/>
            <a:ext cx="6388100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Information gain – </a:t>
            </a:r>
            <a:r>
              <a:rPr lang="en-US" dirty="0" err="1"/>
              <a:t>calculat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disponibil</a:t>
            </a:r>
          </a:p>
        </p:txBody>
      </p:sp>
    </p:spTree>
    <p:extLst>
      <p:ext uri="{BB962C8B-B14F-4D97-AF65-F5344CB8AC3E}">
        <p14:creationId xmlns:p14="http://schemas.microsoft.com/office/powerpoint/2010/main" val="2249627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D170F0A-8EA9-F369-D484-20563029E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8" b="39898"/>
          <a:stretch/>
        </p:blipFill>
        <p:spPr>
          <a:xfrm>
            <a:off x="949493" y="300037"/>
            <a:ext cx="9180121" cy="23510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8F8D79-BF62-18CF-AC6A-B0F89611F2AD}"/>
              </a:ext>
            </a:extLst>
          </p:cNvPr>
          <p:cNvSpPr txBox="1"/>
          <p:nvPr/>
        </p:nvSpPr>
        <p:spPr>
          <a:xfrm>
            <a:off x="2766871" y="6131446"/>
            <a:ext cx="6388100" cy="369332"/>
          </a:xfrm>
          <a:prstGeom prst="rect">
            <a:avLst/>
          </a:prstGeom>
          <a:solidFill>
            <a:srgbClr val="ED7D3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Information gain – </a:t>
            </a:r>
            <a:r>
              <a:rPr lang="en-US" dirty="0" err="1"/>
              <a:t>calculat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disponibil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2DC67-8369-D632-3FCA-1FE68BD857B4}"/>
              </a:ext>
            </a:extLst>
          </p:cNvPr>
          <p:cNvSpPr txBox="1"/>
          <p:nvPr/>
        </p:nvSpPr>
        <p:spPr>
          <a:xfrm>
            <a:off x="1086671" y="2785936"/>
            <a:ext cx="72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 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BC5CD-D707-027E-6355-E9836B2A2727}"/>
              </a:ext>
            </a:extLst>
          </p:cNvPr>
          <p:cNvSpPr txBox="1"/>
          <p:nvPr/>
        </p:nvSpPr>
        <p:spPr>
          <a:xfrm>
            <a:off x="2259750" y="2785936"/>
            <a:ext cx="72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F62FF-8137-1159-4AC1-D79222B10743}"/>
              </a:ext>
            </a:extLst>
          </p:cNvPr>
          <p:cNvSpPr txBox="1"/>
          <p:nvPr/>
        </p:nvSpPr>
        <p:spPr>
          <a:xfrm>
            <a:off x="3162118" y="2785935"/>
            <a:ext cx="72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8BC15-36A0-64ED-BFB5-252C5665FEC3}"/>
              </a:ext>
            </a:extLst>
          </p:cNvPr>
          <p:cNvSpPr txBox="1"/>
          <p:nvPr/>
        </p:nvSpPr>
        <p:spPr>
          <a:xfrm>
            <a:off x="4325171" y="2785936"/>
            <a:ext cx="72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 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9653A-3AF4-317A-5693-FC64ECFB7665}"/>
              </a:ext>
            </a:extLst>
          </p:cNvPr>
          <p:cNvSpPr txBox="1"/>
          <p:nvPr/>
        </p:nvSpPr>
        <p:spPr>
          <a:xfrm>
            <a:off x="5819091" y="2785935"/>
            <a:ext cx="72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 =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89E1B-D083-A3B7-2DA0-9CE102298FC8}"/>
              </a:ext>
            </a:extLst>
          </p:cNvPr>
          <p:cNvSpPr txBox="1"/>
          <p:nvPr/>
        </p:nvSpPr>
        <p:spPr>
          <a:xfrm>
            <a:off x="7102460" y="2785936"/>
            <a:ext cx="72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 =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9B79D6-F0F6-5EC0-7A99-D155BFD7B637}"/>
              </a:ext>
            </a:extLst>
          </p:cNvPr>
          <p:cNvSpPr txBox="1"/>
          <p:nvPr/>
        </p:nvSpPr>
        <p:spPr>
          <a:xfrm>
            <a:off x="8265513" y="2785935"/>
            <a:ext cx="38712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 = -2/6*log</a:t>
            </a:r>
            <a:r>
              <a:rPr lang="en-US" baseline="-25000" dirty="0"/>
              <a:t>2</a:t>
            </a:r>
            <a:r>
              <a:rPr lang="en-US" dirty="0"/>
              <a:t> 2/6 - 4/6 log</a:t>
            </a:r>
            <a:r>
              <a:rPr lang="en-US" baseline="-25000" dirty="0"/>
              <a:t>2</a:t>
            </a:r>
            <a:r>
              <a:rPr lang="en-US" dirty="0"/>
              <a:t>4/6~=0.918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FDB9A0-6475-AA53-2C70-D6A2276EB022}"/>
              </a:ext>
            </a:extLst>
          </p:cNvPr>
          <p:cNvSpPr txBox="1"/>
          <p:nvPr/>
        </p:nvSpPr>
        <p:spPr>
          <a:xfrm>
            <a:off x="40056" y="4294996"/>
            <a:ext cx="65577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Entropia </a:t>
            </a:r>
            <a:r>
              <a:rPr lang="en-US" dirty="0" err="1"/>
              <a:t>asteptata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s-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testa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A: </a:t>
            </a:r>
            <a:r>
              <a:rPr lang="en-US" b="1" dirty="0"/>
              <a:t>Remainder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D5F529-A5EA-48BF-18E5-31820C7924F4}"/>
              </a:ext>
            </a:extLst>
          </p:cNvPr>
          <p:cNvSpPr txBox="1"/>
          <p:nvPr/>
        </p:nvSpPr>
        <p:spPr>
          <a:xfrm>
            <a:off x="-47908" y="3161528"/>
            <a:ext cx="15574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Probabilitate</a:t>
            </a:r>
            <a:r>
              <a:rPr lang="en-US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0DA9D7-6947-D590-B8A8-9C6CEF862522}"/>
              </a:ext>
            </a:extLst>
          </p:cNvPr>
          <p:cNvSpPr txBox="1"/>
          <p:nvPr/>
        </p:nvSpPr>
        <p:spPr>
          <a:xfrm>
            <a:off x="1086670" y="3527882"/>
            <a:ext cx="7230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2/12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A0FC6-5E1D-0C7E-7FCE-EE5A357D5FF2}"/>
              </a:ext>
            </a:extLst>
          </p:cNvPr>
          <p:cNvSpPr txBox="1"/>
          <p:nvPr/>
        </p:nvSpPr>
        <p:spPr>
          <a:xfrm>
            <a:off x="2259748" y="3527882"/>
            <a:ext cx="7230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2/12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258617-F281-E3F6-4D52-F6FD848162E0}"/>
              </a:ext>
            </a:extLst>
          </p:cNvPr>
          <p:cNvSpPr txBox="1"/>
          <p:nvPr/>
        </p:nvSpPr>
        <p:spPr>
          <a:xfrm>
            <a:off x="3162117" y="3527881"/>
            <a:ext cx="7230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4/12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9E6F27-D475-81D4-4ABB-06349EBDE2A1}"/>
              </a:ext>
            </a:extLst>
          </p:cNvPr>
          <p:cNvSpPr txBox="1"/>
          <p:nvPr/>
        </p:nvSpPr>
        <p:spPr>
          <a:xfrm>
            <a:off x="4325170" y="3527882"/>
            <a:ext cx="7230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4/12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7C46C-4D18-E302-0412-99A7A0263980}"/>
              </a:ext>
            </a:extLst>
          </p:cNvPr>
          <p:cNvSpPr txBox="1"/>
          <p:nvPr/>
        </p:nvSpPr>
        <p:spPr>
          <a:xfrm>
            <a:off x="5819090" y="3527881"/>
            <a:ext cx="7230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2/12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998A62-DA7F-6ADC-D66A-67D61823FE24}"/>
              </a:ext>
            </a:extLst>
          </p:cNvPr>
          <p:cNvSpPr txBox="1"/>
          <p:nvPr/>
        </p:nvSpPr>
        <p:spPr>
          <a:xfrm>
            <a:off x="7102459" y="3527882"/>
            <a:ext cx="7230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4/12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32D83C-78AC-E92E-D2D9-B67132538C20}"/>
              </a:ext>
            </a:extLst>
          </p:cNvPr>
          <p:cNvSpPr txBox="1"/>
          <p:nvPr/>
        </p:nvSpPr>
        <p:spPr>
          <a:xfrm>
            <a:off x="8716696" y="3527881"/>
            <a:ext cx="72300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6/12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C2F284-0EAC-0A67-20FE-AA870F2FD725}"/>
              </a:ext>
            </a:extLst>
          </p:cNvPr>
          <p:cNvSpPr txBox="1"/>
          <p:nvPr/>
        </p:nvSpPr>
        <p:spPr>
          <a:xfrm>
            <a:off x="731874" y="4720178"/>
            <a:ext cx="41358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-2/12*1 – 2/12 * 1 – 4/12 * 1 – 4/12 *1 =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757B70-CD97-EC3F-2028-A51BE21AD0BB}"/>
              </a:ext>
            </a:extLst>
          </p:cNvPr>
          <p:cNvSpPr txBox="1"/>
          <p:nvPr/>
        </p:nvSpPr>
        <p:spPr>
          <a:xfrm>
            <a:off x="6095952" y="4720178"/>
            <a:ext cx="57400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-2/12*0 – 4/12 * 0 – 4/12 * 1 – 6/12 *0.918=~ 0.459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C8DCE6-0021-1A3A-D303-19F3DDE21C91}"/>
              </a:ext>
            </a:extLst>
          </p:cNvPr>
          <p:cNvSpPr/>
          <p:nvPr/>
        </p:nvSpPr>
        <p:spPr>
          <a:xfrm>
            <a:off x="576613" y="147505"/>
            <a:ext cx="4782552" cy="5013157"/>
          </a:xfrm>
          <a:prstGeom prst="rect">
            <a:avLst/>
          </a:prstGeom>
          <a:noFill/>
          <a:ln w="6350">
            <a:prstDash val="dash"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CAE7D2-EAF3-CC28-A04B-170AA6DC8365}"/>
              </a:ext>
            </a:extLst>
          </p:cNvPr>
          <p:cNvSpPr/>
          <p:nvPr/>
        </p:nvSpPr>
        <p:spPr>
          <a:xfrm>
            <a:off x="5669981" y="147504"/>
            <a:ext cx="6386762" cy="5013157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85652E-6EC8-C174-2477-0C074F5F6B12}"/>
              </a:ext>
            </a:extLst>
          </p:cNvPr>
          <p:cNvSpPr txBox="1"/>
          <p:nvPr/>
        </p:nvSpPr>
        <p:spPr>
          <a:xfrm>
            <a:off x="1470225" y="5458895"/>
            <a:ext cx="1660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Info gain = 1- 1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A1D75C-31DA-477B-3EA4-96A0B33F6436}"/>
              </a:ext>
            </a:extLst>
          </p:cNvPr>
          <p:cNvSpPr txBox="1"/>
          <p:nvPr/>
        </p:nvSpPr>
        <p:spPr>
          <a:xfrm>
            <a:off x="7887067" y="5589237"/>
            <a:ext cx="32349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Info gain = 1- 0.459 ~=0.541</a:t>
            </a:r>
          </a:p>
        </p:txBody>
      </p:sp>
    </p:spTree>
    <p:extLst>
      <p:ext uri="{BB962C8B-B14F-4D97-AF65-F5344CB8AC3E}">
        <p14:creationId xmlns:p14="http://schemas.microsoft.com/office/powerpoint/2010/main" val="1763868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8ED8-A87B-0155-0151-FCDA3588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B6E24-219F-C9D7-7B64-B126A3977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/>
              <a:t>Information gain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A: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a </a:t>
            </a:r>
            <a:r>
              <a:rPr lang="en-US" dirty="0" err="1"/>
              <a:t>atributului</a:t>
            </a:r>
            <a:r>
              <a:rPr lang="en-US" dirty="0"/>
              <a:t> A,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p</a:t>
            </a:r>
            <a:r>
              <a:rPr lang="en-US" baseline="-25000" dirty="0">
                <a:solidFill>
                  <a:srgbClr val="002060"/>
                </a:solidFill>
              </a:rPr>
              <a:t>i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in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pozitiva</a:t>
            </a:r>
            <a:r>
              <a:rPr lang="en-US" dirty="0"/>
              <a:t>, </a:t>
            </a:r>
            <a:r>
              <a:rPr lang="en-US" dirty="0" err="1">
                <a:solidFill>
                  <a:srgbClr val="002060"/>
                </a:solidFill>
              </a:rPr>
              <a:t>n</a:t>
            </a:r>
            <a:r>
              <a:rPr lang="en-US" baseline="-25000" dirty="0" err="1">
                <a:solidFill>
                  <a:srgbClr val="002060"/>
                </a:solidFill>
              </a:rPr>
              <a:t>i</a:t>
            </a:r>
            <a:r>
              <a:rPr lang="en-US" dirty="0"/>
              <a:t> in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dirty="0" err="1"/>
              <a:t>negativa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care are Info Gain maxim</a:t>
            </a:r>
          </a:p>
        </p:txBody>
      </p:sp>
      <p:pic>
        <p:nvPicPr>
          <p:cNvPr id="4" name="Picture 3" descr="A close-up of a mathematical equation&#10;&#10;Description automatically generated">
            <a:extLst>
              <a:ext uri="{FF2B5EF4-FFF2-40B4-BE49-F238E27FC236}">
                <a16:creationId xmlns:a16="http://schemas.microsoft.com/office/drawing/2014/main" id="{C0D42C81-5C0A-CF6A-7D1F-8AD3CA664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610" y="2772903"/>
            <a:ext cx="8714121" cy="1041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BA668C-6597-3CCD-6F5B-FB9AA128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224" y="4443663"/>
            <a:ext cx="6306552" cy="60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19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8BC7-1B0B-E991-A17E-D5D77FA5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Arbore de </a:t>
            </a:r>
            <a:r>
              <a:rPr lang="en-US" dirty="0" err="1"/>
              <a:t>decizie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invatare</a:t>
            </a:r>
            <a:r>
              <a:rPr lang="en-US" dirty="0"/>
              <a:t> din </a:t>
            </a:r>
            <a:r>
              <a:rPr lang="en-US" dirty="0" err="1"/>
              <a:t>cele</a:t>
            </a:r>
            <a:r>
              <a:rPr lang="en-US" dirty="0"/>
              <a:t> 12 </a:t>
            </a:r>
            <a:r>
              <a:rPr lang="en-US" dirty="0" err="1"/>
              <a:t>exemple</a:t>
            </a:r>
            <a:r>
              <a:rPr lang="en-US" dirty="0"/>
              <a:t> cu Information Gain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criteriu</a:t>
            </a:r>
            <a:r>
              <a:rPr lang="en-US" dirty="0"/>
              <a:t> de </a:t>
            </a:r>
            <a:r>
              <a:rPr lang="en-US" dirty="0" err="1"/>
              <a:t>selectie</a:t>
            </a:r>
          </a:p>
        </p:txBody>
      </p:sp>
      <p:pic>
        <p:nvPicPr>
          <p:cNvPr id="4" name="Content Placeholder 3" descr="A diagram of different types of food&#10;&#10;Description automatically generated">
            <a:extLst>
              <a:ext uri="{FF2B5EF4-FFF2-40B4-BE49-F238E27FC236}">
                <a16:creationId xmlns:a16="http://schemas.microsoft.com/office/drawing/2014/main" id="{3ECF858C-6231-64AC-462C-84E91A4FC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2543" y="1932865"/>
            <a:ext cx="6434889" cy="4567988"/>
          </a:xfrm>
        </p:spPr>
      </p:pic>
    </p:spTree>
    <p:extLst>
      <p:ext uri="{BB962C8B-B14F-4D97-AF65-F5344CB8AC3E}">
        <p14:creationId xmlns:p14="http://schemas.microsoft.com/office/powerpoint/2010/main" val="4039636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69F2-94D9-6B69-EB6E-AF10DF3D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6863" cy="1335589"/>
          </a:xfrm>
        </p:spPr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modalitate</a:t>
            </a:r>
            <a:r>
              <a:rPr lang="en-US" dirty="0"/>
              <a:t> de a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bun </a:t>
            </a:r>
            <a:r>
              <a:rPr lang="en-US" dirty="0" err="1"/>
              <a:t>atribut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DF1AC-BCFF-1766-2BD3-1AE98EB6C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Gini impurity </a:t>
            </a:r>
            <a:r>
              <a:rPr lang="en-US" dirty="0"/>
              <a:t>– </a:t>
            </a:r>
            <a:r>
              <a:rPr lang="en-US" err="1"/>
              <a:t>probabilitatea</a:t>
            </a:r>
            <a:r>
              <a:rPr lang="en-US" dirty="0"/>
              <a:t> ca un </a:t>
            </a:r>
            <a:r>
              <a:rPr lang="en-US" err="1"/>
              <a:t>exemplu</a:t>
            </a:r>
            <a:r>
              <a:rPr lang="en-US" dirty="0"/>
              <a:t> </a:t>
            </a:r>
            <a:r>
              <a:rPr lang="en-US" err="1"/>
              <a:t>sa</a:t>
            </a:r>
            <a:r>
              <a:rPr lang="en-US" dirty="0"/>
              <a:t> fie </a:t>
            </a:r>
            <a:r>
              <a:rPr lang="en-US" err="1"/>
              <a:t>gresit</a:t>
            </a:r>
            <a:r>
              <a:rPr lang="en-US" dirty="0"/>
              <a:t> </a:t>
            </a:r>
            <a:r>
              <a:rPr lang="en-US" err="1"/>
              <a:t>clasificat</a:t>
            </a:r>
            <a:endParaRPr lang="en-US"/>
          </a:p>
          <a:p>
            <a:r>
              <a:rPr lang="en-US" b="1" dirty="0"/>
              <a:t>Daca </a:t>
            </a:r>
            <a:r>
              <a:rPr lang="en-US" b="1" dirty="0" err="1"/>
              <a:t>probabilitatea</a:t>
            </a:r>
            <a:r>
              <a:rPr lang="en-US" b="1" dirty="0"/>
              <a:t> </a:t>
            </a:r>
            <a:r>
              <a:rPr lang="en-US" b="1" dirty="0" err="1"/>
              <a:t>unei</a:t>
            </a:r>
            <a:r>
              <a:rPr lang="en-US" b="1" dirty="0"/>
              <a:t> </a:t>
            </a:r>
            <a:r>
              <a:rPr lang="en-US" b="1" dirty="0" err="1"/>
              <a:t>clase</a:t>
            </a:r>
            <a:r>
              <a:rPr lang="en-US" b="1" dirty="0"/>
              <a:t> </a:t>
            </a:r>
            <a:r>
              <a:rPr lang="en-US" b="1" dirty="0" err="1"/>
              <a:t>i</a:t>
            </a:r>
            <a:r>
              <a:rPr lang="en-US" b="1" dirty="0"/>
              <a:t> </a:t>
            </a:r>
            <a:r>
              <a:rPr lang="en-US" b="1" dirty="0" err="1"/>
              <a:t>este</a:t>
            </a:r>
            <a:r>
              <a:rPr lang="en-US" b="1" dirty="0"/>
              <a:t> pi:</a:t>
            </a:r>
          </a:p>
          <a:p>
            <a:endParaRPr lang="en-US" b="1" dirty="0"/>
          </a:p>
        </p:txBody>
      </p:sp>
      <p:pic>
        <p:nvPicPr>
          <p:cNvPr id="4" name="Picture 3" descr="Purple text on a white background&#10;&#10;Description automatically generated">
            <a:extLst>
              <a:ext uri="{FF2B5EF4-FFF2-40B4-BE49-F238E27FC236}">
                <a16:creationId xmlns:a16="http://schemas.microsoft.com/office/drawing/2014/main" id="{2AD9466E-D84C-B9E8-7518-2262714D6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39" y="3197643"/>
            <a:ext cx="4412581" cy="84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823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A6294-4E85-2613-5677-761EC81CC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61" y="369864"/>
            <a:ext cx="9753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Imagini</a:t>
            </a:r>
            <a:r>
              <a:rPr lang="en-US" dirty="0"/>
              <a:t> </a:t>
            </a:r>
            <a:r>
              <a:rPr lang="en-US" dirty="0" err="1"/>
              <a:t>preluate</a:t>
            </a:r>
            <a:r>
              <a:rPr lang="en-US" dirty="0"/>
              <a:t> din curs </a:t>
            </a:r>
            <a:r>
              <a:rPr lang="en-US" dirty="0">
                <a:hlinkClick r:id="rId2"/>
              </a:rPr>
              <a:t>Stanford</a:t>
            </a:r>
            <a:r>
              <a:rPr lang="en-US" dirty="0"/>
              <a:t> </a:t>
            </a:r>
          </a:p>
          <a:p>
            <a:r>
              <a:rPr lang="en-US" dirty="0">
                <a:hlinkClick r:id="rId3"/>
              </a:rPr>
              <a:t>Curs interesant pentru DecisionTree din tensorflow</a:t>
            </a:r>
          </a:p>
          <a:p>
            <a:endParaRPr lang="en-US" dirty="0"/>
          </a:p>
          <a:p>
            <a:r>
              <a:rPr lang="en-US" dirty="0"/>
              <a:t>Supervised learning: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Dat </a:t>
            </a:r>
            <a:r>
              <a:rPr lang="en-US" dirty="0" err="1"/>
              <a:t>fiind</a:t>
            </a:r>
            <a:r>
              <a:rPr lang="en-US" dirty="0"/>
              <a:t> un set de </a:t>
            </a:r>
            <a:r>
              <a:rPr lang="en-US" dirty="0" err="1"/>
              <a:t>exemple</a:t>
            </a:r>
            <a:r>
              <a:rPr lang="en-US" dirty="0"/>
              <a:t> Xi, </a:t>
            </a:r>
            <a:r>
              <a:rPr lang="en-US" dirty="0" err="1"/>
              <a:t>yi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Invata  un model care reduce </a:t>
            </a:r>
            <a:r>
              <a:rPr lang="en-US" dirty="0" err="1"/>
              <a:t>eroarea</a:t>
            </a:r>
            <a:r>
              <a:rPr lang="en-US" dirty="0"/>
              <a:t> de </a:t>
            </a:r>
            <a:r>
              <a:rPr lang="en-US" dirty="0" err="1"/>
              <a:t>predictie</a:t>
            </a:r>
            <a:r>
              <a:rPr lang="en-US" dirty="0"/>
              <a:t> a </a:t>
            </a:r>
            <a:r>
              <a:rPr lang="en-US" dirty="0" err="1"/>
              <a:t>lui</a:t>
            </a:r>
            <a:r>
              <a:rPr lang="en-US" dirty="0"/>
              <a:t> 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prezisa</a:t>
            </a:r>
            <a:r>
              <a:rPr lang="en-US" dirty="0"/>
              <a:t>: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5" name="Picture 4" descr="A diagram of a classifier model&#10;&#10;Description automatically generated">
            <a:extLst>
              <a:ext uri="{FF2B5EF4-FFF2-40B4-BE49-F238E27FC236}">
                <a16:creationId xmlns:a16="http://schemas.microsoft.com/office/drawing/2014/main" id="{FBDC46DB-9FEE-9D47-E4D6-2A310567F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052" y="3782418"/>
            <a:ext cx="5382764" cy="2636863"/>
          </a:xfrm>
          <a:prstGeom prst="rect">
            <a:avLst/>
          </a:prstGeom>
        </p:spPr>
      </p:pic>
      <p:pic>
        <p:nvPicPr>
          <p:cNvPr id="6" name="Picture 5" descr="Ŷ | latin capital letter y with circumflex (U+0176) @ Graphemica">
            <a:extLst>
              <a:ext uri="{FF2B5EF4-FFF2-40B4-BE49-F238E27FC236}">
                <a16:creationId xmlns:a16="http://schemas.microsoft.com/office/drawing/2014/main" id="{1D38E8B4-BFEB-0477-EA3D-9FB5A2301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280" y="3059279"/>
            <a:ext cx="548942" cy="5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07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Supervised Learning Definition | DeepAI">
            <a:extLst>
              <a:ext uri="{FF2B5EF4-FFF2-40B4-BE49-F238E27FC236}">
                <a16:creationId xmlns:a16="http://schemas.microsoft.com/office/drawing/2014/main" id="{551E83F5-0395-6FD9-FD78-516BFBF2E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424" y="1831596"/>
            <a:ext cx="8691704" cy="3677657"/>
          </a:xfrm>
        </p:spPr>
      </p:pic>
    </p:spTree>
    <p:extLst>
      <p:ext uri="{BB962C8B-B14F-4D97-AF65-F5344CB8AC3E}">
        <p14:creationId xmlns:p14="http://schemas.microsoft.com/office/powerpoint/2010/main" val="154859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Curs 2</vt:lpstr>
      <vt:lpstr>Cuprins</vt:lpstr>
      <vt:lpstr>Problema </vt:lpstr>
      <vt:lpstr>Problema – learning task</vt:lpstr>
      <vt:lpstr>Cum ar putea arata modelul?</vt:lpstr>
      <vt:lpstr>PowerPoint Presentation</vt:lpstr>
      <vt:lpstr>PowerPoint Presentation</vt:lpstr>
      <vt:lpstr>Cati arbori posibili? (cate ipoteze distincte)</vt:lpstr>
      <vt:lpstr>Decision tree learning</vt:lpstr>
      <vt:lpstr>Care e cel mai semnificativ atribut?</vt:lpstr>
      <vt:lpstr>Consideram ca am ales Credit ca fiind cel mai semnificativ atribut si...</vt:lpstr>
      <vt:lpstr>Cand ne oprim?</vt:lpstr>
      <vt:lpstr>PowerPoint Presentation</vt:lpstr>
      <vt:lpstr>Cel mai semnificativ atribut</vt:lpstr>
      <vt:lpstr>Information</vt:lpstr>
      <vt:lpstr>Cate incertitudine am? </vt:lpstr>
      <vt:lpstr>Entropia</vt:lpstr>
      <vt:lpstr>Cum putem folosi entropia pentru selectia celui mai "bun" atribut la un moment dat?</vt:lpstr>
      <vt:lpstr>PowerPoint Presentation</vt:lpstr>
      <vt:lpstr>PowerPoint Presentation</vt:lpstr>
      <vt:lpstr>Arbore de decizie rezultat prin invatare din cele 12 exemple cu Information Gain drept criteriu de selectie</vt:lpstr>
      <vt:lpstr>O alta modalitate de a alege cel mai bun atribut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672</cp:revision>
  <dcterms:created xsi:type="dcterms:W3CDTF">2024-03-06T20:07:26Z</dcterms:created>
  <dcterms:modified xsi:type="dcterms:W3CDTF">2024-03-06T23:47:10Z</dcterms:modified>
</cp:coreProperties>
</file>