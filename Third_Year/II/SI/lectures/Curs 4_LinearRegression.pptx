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83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8" r:id="rId21"/>
    <p:sldId id="282" r:id="rId22"/>
    <p:sldId id="281" r:id="rId23"/>
    <p:sldId id="277" r:id="rId24"/>
    <p:sldId id="284" r:id="rId25"/>
    <p:sldId id="273" r:id="rId26"/>
    <p:sldId id="275" r:id="rId27"/>
    <p:sldId id="276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94E0C-B22C-EEDF-56A1-883632DF7858}" v="39" dt="2025-03-27T07:28:55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developers.google.com/machine-learning/crash-course/regularization-for-sparsity/l1-regulariz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/>
              <a:t>Curs 4. </a:t>
            </a:r>
            <a:r>
              <a:rPr lang="en-US" sz="5400" err="1"/>
              <a:t>Modele</a:t>
            </a:r>
            <a:r>
              <a:rPr lang="en-US" sz="5400"/>
              <a:t> </a:t>
            </a:r>
            <a:r>
              <a:rPr lang="en-US" sz="5400" err="1"/>
              <a:t>liniare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endParaRPr lang="en-US" sz="20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4F1E20C0-351A-E809-678F-EEB8A32EF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2043303"/>
            <a:ext cx="5536001" cy="27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DBC1E-9EE2-4415-C5CC-BB8680CE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9C61-E70C-DA0D-72BB-98D25009F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Linear Regression</a:t>
            </a:r>
          </a:p>
          <a:p>
            <a:r>
              <a:rPr lang="en-US" dirty="0"/>
              <a:t>Gradient descent</a:t>
            </a:r>
          </a:p>
          <a:p>
            <a:r>
              <a:rPr lang="en-US" err="1"/>
              <a:t>Polinomial</a:t>
            </a:r>
            <a:r>
              <a:rPr lang="en-US"/>
              <a:t> regression</a:t>
            </a:r>
          </a:p>
          <a:p>
            <a:r>
              <a:rPr lang="en-US"/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80973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64EB6-442C-8912-8B4B-780FA9AB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Metrici</a:t>
            </a:r>
            <a:r>
              <a:rPr lang="en-US" dirty="0"/>
              <a:t> </a:t>
            </a:r>
            <a:r>
              <a:rPr lang="en-US" dirty="0" err="1"/>
              <a:t>comune</a:t>
            </a:r>
            <a:r>
              <a:rPr lang="en-US" dirty="0"/>
              <a:t> de </a:t>
            </a:r>
            <a:r>
              <a:rPr lang="en-US" dirty="0" err="1"/>
              <a:t>evaluare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regresie</a:t>
            </a:r>
          </a:p>
        </p:txBody>
      </p:sp>
      <p:pic>
        <p:nvPicPr>
          <p:cNvPr id="4" name="Content Placeholder 3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4CF5F3C7-BDCB-927F-017B-463C40A25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0677" y="2040825"/>
            <a:ext cx="5131733" cy="1253937"/>
          </a:xfrm>
        </p:spPr>
      </p:pic>
      <p:pic>
        <p:nvPicPr>
          <p:cNvPr id="5" name="Picture 4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52753911-4BB3-1399-1C5A-F35C27AAB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74" y="2039470"/>
            <a:ext cx="4554630" cy="13222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CEBAC4-193D-A404-8BBA-408BFC34D625}"/>
              </a:ext>
            </a:extLst>
          </p:cNvPr>
          <p:cNvSpPr txBox="1"/>
          <p:nvPr/>
        </p:nvSpPr>
        <p:spPr>
          <a:xfrm>
            <a:off x="280516" y="3711444"/>
            <a:ext cx="49208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RMSE </a:t>
            </a:r>
            <a:r>
              <a:rPr lang="en-US" dirty="0" err="1"/>
              <a:t>amplifica</a:t>
            </a:r>
            <a:r>
              <a:rPr lang="en-US" dirty="0"/>
              <a:t> </a:t>
            </a:r>
            <a:r>
              <a:rPr lang="en-US" dirty="0" err="1"/>
              <a:t>erorile</a:t>
            </a:r>
            <a:r>
              <a:rPr lang="en-US" dirty="0"/>
              <a:t> </a:t>
            </a:r>
            <a:r>
              <a:rPr lang="en-US" dirty="0" err="1"/>
              <a:t>mari</a:t>
            </a:r>
            <a:endParaRPr lang="en-US" dirty="0"/>
          </a:p>
          <a:p>
            <a:r>
              <a:rPr lang="en-US" dirty="0" err="1"/>
              <a:t>Sensibil</a:t>
            </a:r>
            <a:r>
              <a:rPr lang="en-US" dirty="0"/>
              <a:t> la outliers (</a:t>
            </a:r>
            <a:r>
              <a:rPr lang="en-US" dirty="0" err="1"/>
              <a:t>exemple</a:t>
            </a:r>
            <a:r>
              <a:rPr lang="en-US" dirty="0"/>
              <a:t> </a:t>
            </a:r>
            <a:r>
              <a:rPr lang="en-US" dirty="0" err="1"/>
              <a:t>nereprezentative</a:t>
            </a:r>
            <a:r>
              <a:rPr lang="en-US" dirty="0"/>
              <a:t>)</a:t>
            </a:r>
          </a:p>
          <a:p>
            <a:r>
              <a:rPr lang="en-US" dirty="0"/>
              <a:t>In general </a:t>
            </a:r>
            <a:r>
              <a:rPr lang="en-US" dirty="0" err="1"/>
              <a:t>preferat</a:t>
            </a:r>
            <a:r>
              <a:rPr lang="en-US" dirty="0"/>
              <a:t> RMSE</a:t>
            </a:r>
          </a:p>
          <a:p>
            <a:endParaRPr lang="en-US" dirty="0"/>
          </a:p>
        </p:txBody>
      </p:sp>
      <p:pic>
        <p:nvPicPr>
          <p:cNvPr id="8" name="Picture 7" descr="A group of sheep in a field&#10;&#10;Description automatically generated">
            <a:extLst>
              <a:ext uri="{FF2B5EF4-FFF2-40B4-BE49-F238E27FC236}">
                <a16:creationId xmlns:a16="http://schemas.microsoft.com/office/drawing/2014/main" id="{C7B3C499-1141-6915-CEFD-3BB8C0061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752" y="4020669"/>
            <a:ext cx="4067176" cy="27163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2D5332-A41B-ED5F-7D5F-0AFE9C59099F}"/>
              </a:ext>
            </a:extLst>
          </p:cNvPr>
          <p:cNvSpPr txBox="1"/>
          <p:nvPr/>
        </p:nvSpPr>
        <p:spPr>
          <a:xfrm>
            <a:off x="4792187" y="6221979"/>
            <a:ext cx="15471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99122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D493-7942-B183-AC9B-22F0D823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 err="1"/>
              <a:t>Regresia</a:t>
            </a:r>
            <a:r>
              <a:rPr lang="en-US"/>
              <a:t> </a:t>
            </a:r>
            <a:r>
              <a:rPr lang="en-US" err="1"/>
              <a:t>liniara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B153F-1BCB-1165-3C6D-658294E7B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85" y="1825625"/>
            <a:ext cx="3505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Model </a:t>
            </a:r>
            <a:r>
              <a:rPr lang="en-US" err="1"/>
              <a:t>liniar</a:t>
            </a:r>
            <a:r>
              <a:rPr lang="en-US"/>
              <a:t> – </a:t>
            </a:r>
            <a:r>
              <a:rPr lang="en-US" err="1"/>
              <a:t>predictia</a:t>
            </a:r>
            <a:r>
              <a:rPr lang="en-US"/>
              <a:t> </a:t>
            </a:r>
            <a:r>
              <a:rPr lang="en-US" err="1"/>
              <a:t>este</a:t>
            </a:r>
            <a:r>
              <a:rPr lang="en-US"/>
              <a:t> o </a:t>
            </a:r>
            <a:r>
              <a:rPr lang="en-US" err="1"/>
              <a:t>combinatie</a:t>
            </a:r>
            <a:r>
              <a:rPr lang="en-US"/>
              <a:t> </a:t>
            </a:r>
            <a:r>
              <a:rPr lang="en-US" err="1"/>
              <a:t>liniara</a:t>
            </a:r>
            <a:r>
              <a:rPr lang="en-US"/>
              <a:t> a </a:t>
            </a:r>
            <a:r>
              <a:rPr lang="en-US" err="1"/>
              <a:t>atributelor</a:t>
            </a:r>
            <a:r>
              <a:rPr lang="en-US"/>
              <a:t> + o </a:t>
            </a:r>
            <a:r>
              <a:rPr lang="en-US" err="1"/>
              <a:t>constanta</a:t>
            </a:r>
            <a:r>
              <a:rPr lang="en-US"/>
              <a:t> (intercept)</a:t>
            </a:r>
          </a:p>
          <a:p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Regresia</a:t>
            </a:r>
            <a:r>
              <a:rPr 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liniara</a:t>
            </a:r>
            <a:r>
              <a:rPr 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: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math symbols with a plus and x&#10;&#10;Description automatically generated">
            <a:extLst>
              <a:ext uri="{FF2B5EF4-FFF2-40B4-BE49-F238E27FC236}">
                <a16:creationId xmlns:a16="http://schemas.microsoft.com/office/drawing/2014/main" id="{8D36C34A-F9E2-649E-B218-D300172E0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24" y="2046044"/>
            <a:ext cx="5638800" cy="866775"/>
          </a:xfrm>
          <a:prstGeom prst="rect">
            <a:avLst/>
          </a:prstGeom>
        </p:spPr>
      </p:pic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C01D48B-D8E9-4672-256E-84D200CF3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501" y="2905857"/>
            <a:ext cx="8067675" cy="240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9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E1E2-ADB3-0B0A-D044-CAFBC6874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Vectorial</a:t>
            </a:r>
          </a:p>
        </p:txBody>
      </p:sp>
      <p:pic>
        <p:nvPicPr>
          <p:cNvPr id="4" name="Content Placeholder 3" descr="A black letter in a circle&#10;&#10;Description automatically generated">
            <a:extLst>
              <a:ext uri="{FF2B5EF4-FFF2-40B4-BE49-F238E27FC236}">
                <a16:creationId xmlns:a16="http://schemas.microsoft.com/office/drawing/2014/main" id="{448454AB-4C7E-6217-B28E-7663C6BB7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934" y="1624073"/>
            <a:ext cx="2933700" cy="58102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A4C676-585A-9BA6-2119-A8ACD8CCB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3" y="2516798"/>
            <a:ext cx="107251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3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B6C7-D9ED-300E-7FF3-378C5062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MSE – mean squared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0C00B-2733-A704-BF2D-E23DC745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Cum </a:t>
            </a:r>
            <a:r>
              <a:rPr lang="en-US" err="1"/>
              <a:t>masuram</a:t>
            </a:r>
            <a:r>
              <a:rPr lang="en-US"/>
              <a:t> cat de bine h </a:t>
            </a:r>
            <a:r>
              <a:rPr lang="en-US" err="1"/>
              <a:t>aproximeaza</a:t>
            </a:r>
            <a:r>
              <a:rPr lang="en-US"/>
              <a:t> </a:t>
            </a:r>
            <a:r>
              <a:rPr lang="en-US" err="1"/>
              <a:t>datele</a:t>
            </a:r>
            <a:r>
              <a:rPr lang="en-US"/>
              <a:t>?</a:t>
            </a:r>
          </a:p>
        </p:txBody>
      </p:sp>
      <p:pic>
        <p:nvPicPr>
          <p:cNvPr id="4" name="Picture 3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E869585A-CE30-C73F-1633-3E803CAF4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832" y="3125299"/>
            <a:ext cx="661987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2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CDC93C80-6B54-B51B-C8E7-4340589F6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0869" y="4152961"/>
            <a:ext cx="3495675" cy="1009650"/>
          </a:xfrm>
        </p:spPr>
      </p:pic>
      <p:pic>
        <p:nvPicPr>
          <p:cNvPr id="6" name="Content Placeholder 3" descr="A black letter in a circle&#10;&#10;Description automatically generated">
            <a:extLst>
              <a:ext uri="{FF2B5EF4-FFF2-40B4-BE49-F238E27FC236}">
                <a16:creationId xmlns:a16="http://schemas.microsoft.com/office/drawing/2014/main" id="{4892B7DA-2CAD-48CE-CF82-8C8F945CA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888" y="568996"/>
            <a:ext cx="2933700" cy="581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6E0031-BAE5-20F9-E0AF-9A1952646416}"/>
              </a:ext>
            </a:extLst>
          </p:cNvPr>
          <p:cNvSpPr txBox="1"/>
          <p:nvPr/>
        </p:nvSpPr>
        <p:spPr>
          <a:xfrm>
            <a:off x="586458" y="674338"/>
            <a:ext cx="36057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Se </a:t>
            </a:r>
            <a:r>
              <a:rPr lang="en-US" sz="2400" err="1"/>
              <a:t>cauta</a:t>
            </a:r>
            <a:r>
              <a:rPr lang="en-US" sz="2400"/>
              <a:t> </a:t>
            </a:r>
            <a:r>
              <a:rPr lang="en-US" sz="2400" err="1"/>
              <a:t>parametrii</a:t>
            </a:r>
            <a:r>
              <a:rPr lang="en-US" sz="2400"/>
              <a:t> theta</a:t>
            </a:r>
          </a:p>
        </p:txBody>
      </p:sp>
      <p:pic>
        <p:nvPicPr>
          <p:cNvPr id="9" name="Picture 8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F9259DD6-C3FC-6AFC-A981-4C49B3AD3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924" y="1425453"/>
            <a:ext cx="6619875" cy="13811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A3A6DE-B609-8B38-81B2-3E625D141316}"/>
              </a:ext>
            </a:extLst>
          </p:cNvPr>
          <p:cNvSpPr txBox="1"/>
          <p:nvPr/>
        </p:nvSpPr>
        <p:spPr>
          <a:xfrm>
            <a:off x="879602" y="1929280"/>
            <a:ext cx="3201935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Care </a:t>
            </a:r>
            <a:r>
              <a:rPr lang="en-US" err="1"/>
              <a:t>minimizeaza</a:t>
            </a:r>
            <a:r>
              <a:rPr lang="en-US"/>
              <a:t> MSE: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3A623-37E8-A0D2-36DD-5EF87870C310}"/>
              </a:ext>
            </a:extLst>
          </p:cNvPr>
          <p:cNvSpPr txBox="1"/>
          <p:nvPr/>
        </p:nvSpPr>
        <p:spPr>
          <a:xfrm>
            <a:off x="586542" y="4245526"/>
            <a:ext cx="3727938" cy="83099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 err="1"/>
              <a:t>Solutie</a:t>
            </a:r>
            <a:r>
              <a:rPr lang="en-US" sz="2400"/>
              <a:t> pe </a:t>
            </a:r>
            <a:r>
              <a:rPr lang="en-US" sz="2400" err="1"/>
              <a:t>baza</a:t>
            </a:r>
            <a:r>
              <a:rPr lang="en-US" sz="2400"/>
              <a:t> </a:t>
            </a:r>
            <a:r>
              <a:rPr lang="en-US" sz="2400" err="1"/>
              <a:t>ecuatiei</a:t>
            </a:r>
            <a:r>
              <a:rPr lang="en-US" sz="2400"/>
              <a:t> </a:t>
            </a:r>
            <a:r>
              <a:rPr lang="en-US" sz="2400" err="1"/>
              <a:t>matematice</a:t>
            </a:r>
            <a:r>
              <a:rPr lang="en-US" sz="2400"/>
              <a:t>: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0AF5A7-DF2D-F917-4BE9-0C33E8AF484A}"/>
              </a:ext>
            </a:extLst>
          </p:cNvPr>
          <p:cNvSpPr txBox="1"/>
          <p:nvPr/>
        </p:nvSpPr>
        <p:spPr>
          <a:xfrm>
            <a:off x="586474" y="6034197"/>
            <a:ext cx="25509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Vezi</a:t>
            </a:r>
            <a:r>
              <a:rPr lang="en-US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8393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EF15-E7F1-E3D9-1B6D-3B00958C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Probleme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F1C46-032D-A7D2-A055-8A9F7E817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err="1"/>
              <a:t>Complexitatea</a:t>
            </a:r>
            <a:r>
              <a:rPr lang="en-US"/>
              <a:t> </a:t>
            </a:r>
            <a:r>
              <a:rPr lang="en-US" err="1"/>
              <a:t>calcularii</a:t>
            </a:r>
            <a:r>
              <a:rPr lang="en-US"/>
              <a:t> </a:t>
            </a:r>
            <a:r>
              <a:rPr lang="en-US" err="1"/>
              <a:t>matrii</a:t>
            </a:r>
            <a:r>
              <a:rPr lang="en-US"/>
              <a:t> X</a:t>
            </a:r>
            <a:r>
              <a:rPr lang="en-US" baseline="30000"/>
              <a:t>T</a:t>
            </a:r>
            <a:r>
              <a:rPr lang="en-US"/>
              <a:t>X: O(n</a:t>
            </a:r>
            <a:r>
              <a:rPr lang="en-US" baseline="30000"/>
              <a:t>2.4</a:t>
            </a:r>
            <a:r>
              <a:rPr lang="en-US"/>
              <a:t>) -O(n</a:t>
            </a:r>
            <a:r>
              <a:rPr lang="en-US" baseline="30000"/>
              <a:t>3</a:t>
            </a:r>
            <a:r>
              <a:rPr lang="en-US"/>
              <a:t>)</a:t>
            </a:r>
          </a:p>
          <a:p>
            <a:r>
              <a:rPr lang="en-US"/>
              <a:t>n– </a:t>
            </a:r>
            <a:r>
              <a:rPr lang="en-US" err="1"/>
              <a:t>numarul</a:t>
            </a:r>
            <a:r>
              <a:rPr lang="en-US"/>
              <a:t> de features</a:t>
            </a:r>
          </a:p>
          <a:p>
            <a:endParaRPr lang="en-US"/>
          </a:p>
          <a:p>
            <a:r>
              <a:rPr lang="en-US" err="1"/>
              <a:t>Pentru</a:t>
            </a:r>
            <a:r>
              <a:rPr lang="en-US"/>
              <a:t> </a:t>
            </a:r>
            <a:r>
              <a:rPr lang="en-US" err="1"/>
              <a:t>numar</a:t>
            </a:r>
            <a:r>
              <a:rPr lang="en-US"/>
              <a:t> mare de </a:t>
            </a:r>
            <a:r>
              <a:rPr lang="en-US" err="1"/>
              <a:t>atribute</a:t>
            </a:r>
            <a:r>
              <a:rPr lang="en-US"/>
              <a:t>: </a:t>
            </a:r>
            <a:r>
              <a:rPr lang="en-US" err="1"/>
              <a:t>solutia</a:t>
            </a:r>
            <a:r>
              <a:rPr lang="en-US"/>
              <a:t> </a:t>
            </a:r>
            <a:r>
              <a:rPr lang="en-US" err="1"/>
              <a:t>bazata</a:t>
            </a:r>
            <a:r>
              <a:rPr lang="en-US"/>
              <a:t> pe </a:t>
            </a:r>
            <a:r>
              <a:rPr lang="en-US" err="1"/>
              <a:t>ecuatia</a:t>
            </a:r>
            <a:r>
              <a:rPr lang="en-US"/>
              <a:t> </a:t>
            </a:r>
            <a:r>
              <a:rPr lang="en-US" err="1"/>
              <a:t>normala</a:t>
            </a:r>
            <a:r>
              <a:rPr lang="en-US"/>
              <a:t> nu e </a:t>
            </a:r>
            <a:r>
              <a:rPr lang="en-US" err="1"/>
              <a:t>fezabila</a:t>
            </a: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 err="1"/>
              <a:t>Solutie</a:t>
            </a:r>
            <a:r>
              <a:rPr lang="en-US"/>
              <a:t>: </a:t>
            </a:r>
            <a:r>
              <a:rPr lang="en-US">
                <a:solidFill>
                  <a:srgbClr val="000000"/>
                </a:solidFill>
              </a:rPr>
              <a:t>2. </a:t>
            </a:r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folosire</a:t>
            </a:r>
            <a:r>
              <a:rPr 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 Gradient Descent (GD) – </a:t>
            </a:r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metoda</a:t>
            </a:r>
            <a:r>
              <a:rPr 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bazata</a:t>
            </a:r>
            <a:r>
              <a:rPr 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 pe </a:t>
            </a:r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minimizarea</a:t>
            </a:r>
            <a:r>
              <a:rPr 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functiei</a:t>
            </a:r>
            <a:r>
              <a:rPr 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 de cost pe </a:t>
            </a:r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baza</a:t>
            </a:r>
            <a:r>
              <a:rPr 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modificarii</a:t>
            </a:r>
            <a:r>
              <a:rPr 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 iterative a </a:t>
            </a:r>
            <a:r>
              <a:rPr lang="en-US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parametrilor</a:t>
            </a:r>
            <a:endParaRPr lang="en-US" b="1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816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CB13D-6A70-6D4A-3748-8E89AFE8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Gradient Descent</a:t>
            </a:r>
          </a:p>
        </p:txBody>
      </p:sp>
      <p:pic>
        <p:nvPicPr>
          <p:cNvPr id="4" name="Content Placeholder 3" descr="A diagram of a graph&#10;&#10;Description automatically generated">
            <a:extLst>
              <a:ext uri="{FF2B5EF4-FFF2-40B4-BE49-F238E27FC236}">
                <a16:creationId xmlns:a16="http://schemas.microsoft.com/office/drawing/2014/main" id="{668A183B-9BED-83B2-63A1-98F51DB15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5835" y="2060087"/>
            <a:ext cx="7501438" cy="43513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835816-44E3-9F15-9615-3011E36C1307}"/>
              </a:ext>
            </a:extLst>
          </p:cNvPr>
          <p:cNvSpPr txBox="1"/>
          <p:nvPr/>
        </p:nvSpPr>
        <p:spPr>
          <a:xfrm>
            <a:off x="668535" y="2093573"/>
            <a:ext cx="253339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Coborarea</a:t>
            </a:r>
            <a:r>
              <a:rPr lang="en-US"/>
              <a:t> de pe un deal </a:t>
            </a:r>
            <a:r>
              <a:rPr lang="en-US" err="1"/>
              <a:t>aflat</a:t>
            </a:r>
            <a:r>
              <a:rPr lang="en-US"/>
              <a:t> in </a:t>
            </a:r>
            <a:r>
              <a:rPr lang="en-US" err="1"/>
              <a:t>ceata</a:t>
            </a:r>
            <a:r>
              <a:rPr lang="en-US"/>
              <a:t>: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Calea </a:t>
            </a:r>
            <a:r>
              <a:rPr lang="en-US" err="1"/>
              <a:t>catre</a:t>
            </a:r>
            <a:r>
              <a:rPr lang="en-US"/>
              <a:t> </a:t>
            </a:r>
            <a:r>
              <a:rPr lang="en-US" err="1"/>
              <a:t>baza</a:t>
            </a:r>
            <a:r>
              <a:rPr lang="en-US"/>
              <a:t> nu e </a:t>
            </a:r>
            <a:r>
              <a:rPr lang="en-US" err="1"/>
              <a:t>vizibila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Se </a:t>
            </a:r>
            <a:r>
              <a:rPr lang="en-US" err="1"/>
              <a:t>foloseste</a:t>
            </a:r>
            <a:r>
              <a:rPr lang="en-US"/>
              <a:t> </a:t>
            </a:r>
            <a:r>
              <a:rPr lang="en-US" err="1"/>
              <a:t>informatie</a:t>
            </a:r>
            <a:r>
              <a:rPr lang="en-US"/>
              <a:t> </a:t>
            </a:r>
            <a:r>
              <a:rPr lang="en-US" err="1"/>
              <a:t>locala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Se merge in </a:t>
            </a:r>
            <a:r>
              <a:rPr lang="en-US" err="1"/>
              <a:t>directia</a:t>
            </a:r>
            <a:r>
              <a:rPr lang="en-US"/>
              <a:t> </a:t>
            </a:r>
            <a:r>
              <a:rPr lang="en-US" err="1"/>
              <a:t>cea</a:t>
            </a:r>
            <a:r>
              <a:rPr lang="en-US"/>
              <a:t> </a:t>
            </a:r>
            <a:r>
              <a:rPr lang="en-US" err="1"/>
              <a:t>mai</a:t>
            </a:r>
            <a:r>
              <a:rPr lang="en-US"/>
              <a:t> </a:t>
            </a:r>
            <a:r>
              <a:rPr lang="en-US" err="1"/>
              <a:t>abrupta</a:t>
            </a:r>
            <a:r>
              <a:rPr lang="en-US"/>
              <a:t> in </a:t>
            </a:r>
            <a:r>
              <a:rPr lang="en-US" err="1"/>
              <a:t>jos</a:t>
            </a:r>
            <a:r>
              <a:rPr lang="en-US"/>
              <a:t> din </a:t>
            </a:r>
            <a:r>
              <a:rPr lang="en-US" err="1"/>
              <a:t>acel</a:t>
            </a:r>
            <a:r>
              <a:rPr lang="en-US"/>
              <a:t> loc</a:t>
            </a:r>
          </a:p>
          <a:p>
            <a:endParaRPr lang="en-US"/>
          </a:p>
          <a:p>
            <a:r>
              <a:rPr lang="en-US"/>
              <a:t>Gradient, </a:t>
            </a:r>
            <a:r>
              <a:rPr lang="en-US" err="1"/>
              <a:t>derivata</a:t>
            </a:r>
            <a:r>
              <a:rPr lang="en-US"/>
              <a:t>, derivate </a:t>
            </a:r>
            <a:r>
              <a:rPr lang="en-US" err="1"/>
              <a:t>partiale</a:t>
            </a:r>
          </a:p>
        </p:txBody>
      </p:sp>
    </p:spTree>
    <p:extLst>
      <p:ext uri="{BB962C8B-B14F-4D97-AF65-F5344CB8AC3E}">
        <p14:creationId xmlns:p14="http://schemas.microsoft.com/office/powerpoint/2010/main" val="2178124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9BEED-F1DA-A6B6-12C2-A021416E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Consideram</a:t>
            </a:r>
            <a:r>
              <a:rPr lang="en-US"/>
              <a:t> o </a:t>
            </a:r>
            <a:r>
              <a:rPr lang="en-US" err="1"/>
              <a:t>functie</a:t>
            </a:r>
            <a:r>
              <a:rPr lang="en-US"/>
              <a:t> </a:t>
            </a:r>
            <a:r>
              <a:rPr lang="en-US" err="1"/>
              <a:t>derivabila</a:t>
            </a:r>
            <a:r>
              <a:rPr lang="en-US"/>
              <a:t> de o </a:t>
            </a:r>
            <a:r>
              <a:rPr lang="en-US" err="1"/>
              <a:t>singura</a:t>
            </a:r>
            <a:r>
              <a:rPr lang="en-US"/>
              <a:t> </a:t>
            </a:r>
            <a:r>
              <a:rPr lang="en-US" err="1"/>
              <a:t>variabila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EDA32-D25C-743F-B544-C8E392606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Vrem</a:t>
            </a:r>
            <a:r>
              <a:rPr lang="en-US"/>
              <a:t>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gasim</a:t>
            </a:r>
            <a:r>
              <a:rPr lang="en-US"/>
              <a:t> </a:t>
            </a:r>
            <a:r>
              <a:rPr lang="en-US" err="1"/>
              <a:t>minimul</a:t>
            </a:r>
            <a:r>
              <a:rPr lang="en-US"/>
              <a:t> </a:t>
            </a:r>
            <a:r>
              <a:rPr lang="en-US" err="1"/>
              <a:t>functiei</a:t>
            </a:r>
            <a:r>
              <a:rPr lang="en-US"/>
              <a:t>:</a:t>
            </a:r>
          </a:p>
          <a:p>
            <a:endParaRPr lang="en-US"/>
          </a:p>
          <a:p>
            <a:r>
              <a:rPr lang="en-US"/>
              <a:t>x</a:t>
            </a:r>
            <a:r>
              <a:rPr lang="en-US" baseline="-25000"/>
              <a:t>n+1</a:t>
            </a:r>
            <a:r>
              <a:rPr lang="en-US"/>
              <a:t> = </a:t>
            </a:r>
            <a:r>
              <a:rPr lang="en-US" err="1"/>
              <a:t>x</a:t>
            </a:r>
            <a:r>
              <a:rPr lang="en-US" baseline="-25000" err="1"/>
              <a:t>n</a:t>
            </a:r>
            <a:r>
              <a:rPr lang="en-US"/>
              <a:t> – </a:t>
            </a:r>
            <a:r>
              <a:rPr lang="en-US" err="1"/>
              <a:t>learning_rate</a:t>
            </a:r>
            <a:r>
              <a:rPr lang="en-US"/>
              <a:t> * f'(</a:t>
            </a:r>
            <a:r>
              <a:rPr lang="en-US" err="1"/>
              <a:t>x</a:t>
            </a:r>
            <a:r>
              <a:rPr lang="en-US" baseline="-25000" err="1"/>
              <a:t>n</a:t>
            </a:r>
            <a:r>
              <a:rPr lang="en-US"/>
              <a:t>)</a:t>
            </a:r>
          </a:p>
        </p:txBody>
      </p:sp>
      <p:pic>
        <p:nvPicPr>
          <p:cNvPr id="4" name="Picture 3" descr="A graph of a curve&#10;&#10;Description automatically generated">
            <a:extLst>
              <a:ext uri="{FF2B5EF4-FFF2-40B4-BE49-F238E27FC236}">
                <a16:creationId xmlns:a16="http://schemas.microsoft.com/office/drawing/2014/main" id="{30D0D9F7-8630-D346-2260-1D7D60DE8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792" y="2412390"/>
            <a:ext cx="52578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37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C95537-58E4-9A7B-D888-79D0335F8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89" y="149225"/>
            <a:ext cx="4658376" cy="2674938"/>
          </a:xfrm>
        </p:spPr>
      </p:pic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F9D96C96-EE3D-F5EE-AF7E-32389486F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032" y="227133"/>
            <a:ext cx="5283445" cy="2968870"/>
          </a:xfrm>
          <a:prstGeom prst="rect">
            <a:avLst/>
          </a:prstGeom>
        </p:spPr>
      </p:pic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C8CFF9F9-2A54-EACC-947D-1EAE7C801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3110278"/>
            <a:ext cx="5895243" cy="359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63E94B-EA08-9D9D-8B07-25B059D601DB}"/>
              </a:ext>
            </a:extLst>
          </p:cNvPr>
          <p:cNvSpPr txBox="1"/>
          <p:nvPr/>
        </p:nvSpPr>
        <p:spPr>
          <a:xfrm>
            <a:off x="6643499" y="4799995"/>
            <a:ext cx="46457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NU </a:t>
            </a:r>
            <a:r>
              <a:rPr lang="en-US" err="1"/>
              <a:t>afecteaza</a:t>
            </a:r>
            <a:r>
              <a:rPr lang="en-US"/>
              <a:t> </a:t>
            </a:r>
            <a:r>
              <a:rPr lang="en-US" err="1"/>
              <a:t>regresia</a:t>
            </a:r>
            <a:r>
              <a:rPr lang="en-US"/>
              <a:t> </a:t>
            </a:r>
            <a:r>
              <a:rPr lang="en-US" err="1"/>
              <a:t>liniara</a:t>
            </a:r>
            <a:r>
              <a:rPr lang="en-US"/>
              <a:t>, pt ca MSE e o </a:t>
            </a:r>
            <a:r>
              <a:rPr lang="en-US" err="1"/>
              <a:t>functie</a:t>
            </a:r>
            <a:r>
              <a:rPr lang="en-US"/>
              <a:t> </a:t>
            </a:r>
            <a:r>
              <a:rPr lang="en-US" err="1"/>
              <a:t>convexa</a:t>
            </a:r>
            <a:r>
              <a:rPr lang="en-US"/>
              <a:t> (</a:t>
            </a:r>
            <a:r>
              <a:rPr lang="en-US" err="1"/>
              <a:t>deci</a:t>
            </a:r>
            <a:r>
              <a:rPr lang="en-US"/>
              <a:t> nu precum </a:t>
            </a:r>
            <a:r>
              <a:rPr lang="en-US" err="1"/>
              <a:t>cea</a:t>
            </a:r>
            <a:r>
              <a:rPr lang="en-US"/>
              <a:t> din </a:t>
            </a:r>
            <a:r>
              <a:rPr lang="en-US" err="1"/>
              <a:t>imaginea</a:t>
            </a:r>
            <a:r>
              <a:rPr lang="en-US"/>
              <a:t> </a:t>
            </a:r>
            <a:r>
              <a:rPr lang="en-US" err="1"/>
              <a:t>alaturara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6467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BAEE-377A-8157-5608-270519321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Algoritm</a:t>
            </a:r>
            <a:r>
              <a:rPr lang="en-US"/>
              <a:t> gradient descent </a:t>
            </a:r>
            <a:r>
              <a:rPr lang="en-US" err="1"/>
              <a:t>pentru</a:t>
            </a:r>
            <a:r>
              <a:rPr lang="en-US"/>
              <a:t> </a:t>
            </a:r>
            <a:r>
              <a:rPr lang="en-US" err="1"/>
              <a:t>regresia</a:t>
            </a:r>
            <a:r>
              <a:rPr lang="en-US"/>
              <a:t> </a:t>
            </a:r>
            <a:r>
              <a:rPr lang="en-US" err="1"/>
              <a:t>liniara</a:t>
            </a:r>
          </a:p>
        </p:txBody>
      </p:sp>
      <p:pic>
        <p:nvPicPr>
          <p:cNvPr id="5" name="Picture 4" descr="A mathematical equation with a triangle and triangle&#10;&#10;Description automatically generated">
            <a:extLst>
              <a:ext uri="{FF2B5EF4-FFF2-40B4-BE49-F238E27FC236}">
                <a16:creationId xmlns:a16="http://schemas.microsoft.com/office/drawing/2014/main" id="{CACF799B-711D-4E93-6DD6-F61A8D6DD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68" y="5250474"/>
            <a:ext cx="3810000" cy="647700"/>
          </a:xfrm>
          <a:prstGeom prst="rect">
            <a:avLst/>
          </a:prstGeom>
        </p:spPr>
      </p:pic>
      <p:pic>
        <p:nvPicPr>
          <p:cNvPr id="7" name="Picture 6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772B6C85-565C-3709-F29D-13053DAD9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81" y="1862503"/>
            <a:ext cx="7886700" cy="1866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158064-59F7-0ED8-BB81-9CCBBABA9250}"/>
              </a:ext>
            </a:extLst>
          </p:cNvPr>
          <p:cNvSpPr txBox="1"/>
          <p:nvPr/>
        </p:nvSpPr>
        <p:spPr>
          <a:xfrm>
            <a:off x="6790294" y="1420889"/>
            <a:ext cx="499549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Dar care </a:t>
            </a:r>
            <a:r>
              <a:rPr lang="en-US" err="1"/>
              <a:t>exemple</a:t>
            </a:r>
            <a:r>
              <a:rPr lang="en-US"/>
              <a:t> se </a:t>
            </a:r>
            <a:r>
              <a:rPr lang="en-US" err="1"/>
              <a:t>iau</a:t>
            </a:r>
            <a:r>
              <a:rPr lang="en-US"/>
              <a:t> din </a:t>
            </a:r>
            <a:r>
              <a:rPr lang="en-US" err="1"/>
              <a:t>setul</a:t>
            </a:r>
            <a:r>
              <a:rPr lang="en-US"/>
              <a:t> de date?</a:t>
            </a:r>
          </a:p>
        </p:txBody>
      </p:sp>
      <p:pic>
        <p:nvPicPr>
          <p:cNvPr id="12" name="Picture 11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6CA08FEA-47F7-109B-72F6-81665C3BB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465" y="4536098"/>
            <a:ext cx="5295900" cy="20764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C4D665-2F34-C2AD-C7FE-A083D45567B7}"/>
              </a:ext>
            </a:extLst>
          </p:cNvPr>
          <p:cNvSpPr txBox="1"/>
          <p:nvPr/>
        </p:nvSpPr>
        <p:spPr>
          <a:xfrm>
            <a:off x="598198" y="4327756"/>
            <a:ext cx="62025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Varianta</a:t>
            </a:r>
            <a:r>
              <a:rPr lang="en-US"/>
              <a:t> </a:t>
            </a:r>
            <a:r>
              <a:rPr lang="en-US" err="1"/>
              <a:t>mai</a:t>
            </a:r>
            <a:r>
              <a:rPr lang="en-US"/>
              <a:t> </a:t>
            </a:r>
            <a:r>
              <a:rPr lang="en-US" err="1"/>
              <a:t>eficienta</a:t>
            </a:r>
            <a:r>
              <a:rPr lang="en-US"/>
              <a:t>: </a:t>
            </a:r>
            <a:r>
              <a:rPr lang="en-US" err="1"/>
              <a:t>calcularea</a:t>
            </a:r>
            <a:r>
              <a:rPr lang="en-US"/>
              <a:t> </a:t>
            </a:r>
            <a:r>
              <a:rPr lang="en-US" err="1"/>
              <a:t>tuturor</a:t>
            </a:r>
            <a:r>
              <a:rPr lang="en-US"/>
              <a:t> </a:t>
            </a:r>
            <a:r>
              <a:rPr lang="en-US" err="1"/>
              <a:t>derivatelor</a:t>
            </a:r>
            <a:r>
              <a:rPr lang="en-US"/>
              <a:t> </a:t>
            </a:r>
            <a:r>
              <a:rPr lang="en-US" err="1"/>
              <a:t>partiale</a:t>
            </a:r>
            <a:r>
              <a:rPr lang="en-US"/>
              <a:t> </a:t>
            </a:r>
            <a:r>
              <a:rPr lang="en-US" err="1"/>
              <a:t>deodata</a:t>
            </a:r>
          </a:p>
        </p:txBody>
      </p:sp>
    </p:spTree>
    <p:extLst>
      <p:ext uri="{BB962C8B-B14F-4D97-AF65-F5344CB8AC3E}">
        <p14:creationId xmlns:p14="http://schemas.microsoft.com/office/powerpoint/2010/main" val="669731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2922-6085-1C91-C00E-0F94E3E1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Explicatii</a:t>
            </a:r>
            <a:r>
              <a:rPr lang="en-US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E3C3C-0E0F-1616-F3AD-F3114E9F5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41" y="154547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Regresie</a:t>
            </a:r>
            <a:r>
              <a:rPr lang="en-US" dirty="0"/>
              <a:t> </a:t>
            </a:r>
            <a:r>
              <a:rPr lang="en-US" dirty="0" err="1"/>
              <a:t>univariata</a:t>
            </a:r>
            <a:r>
              <a:rPr lang="en-US" dirty="0"/>
              <a:t>: un </a:t>
            </a:r>
            <a:r>
              <a:rPr lang="en-US" dirty="0" err="1"/>
              <a:t>singur</a:t>
            </a:r>
            <a:r>
              <a:rPr lang="en-US" dirty="0"/>
              <a:t> </a:t>
            </a:r>
            <a:r>
              <a:rPr lang="en-US" dirty="0" err="1"/>
              <a:t>atribut</a:t>
            </a:r>
          </a:p>
          <a:p>
            <a:r>
              <a:rPr lang="en-US" dirty="0"/>
              <a:t>Daca </a:t>
            </a:r>
            <a:r>
              <a:rPr lang="en-US" dirty="0" err="1"/>
              <a:t>consideram</a:t>
            </a:r>
            <a:r>
              <a:rPr lang="en-US" dirty="0"/>
              <a:t> un </a:t>
            </a:r>
            <a:r>
              <a:rPr lang="en-US" dirty="0" err="1"/>
              <a:t>singur</a:t>
            </a:r>
            <a:r>
              <a:rPr lang="en-US" dirty="0"/>
              <a:t> </a:t>
            </a:r>
            <a:r>
              <a:rPr lang="en-US" dirty="0" err="1"/>
              <a:t>exemplu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C52B6-6C5B-25CF-ECD3-E842F3F06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71" y="2589335"/>
            <a:ext cx="4029075" cy="2476500"/>
          </a:xfrm>
          <a:prstGeom prst="rect">
            <a:avLst/>
          </a:prstGeom>
        </p:spPr>
      </p:pic>
      <p:pic>
        <p:nvPicPr>
          <p:cNvPr id="5" name="Picture 4" descr="A close-up of math symbols&#10;&#10;Description automatically generated">
            <a:extLst>
              <a:ext uri="{FF2B5EF4-FFF2-40B4-BE49-F238E27FC236}">
                <a16:creationId xmlns:a16="http://schemas.microsoft.com/office/drawing/2014/main" id="{D50D275A-3EA8-96BB-2EF7-B453404D7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828" y="5201771"/>
            <a:ext cx="26860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75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gradient of blue and red&#10;&#10;Description automatically generated">
            <a:extLst>
              <a:ext uri="{FF2B5EF4-FFF2-40B4-BE49-F238E27FC236}">
                <a16:creationId xmlns:a16="http://schemas.microsoft.com/office/drawing/2014/main" id="{500470EE-5A4D-5354-CED1-37508C559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730" y="1011543"/>
            <a:ext cx="5827834" cy="449067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ABC099-D8C4-3502-2548-10E1DF20F317}"/>
              </a:ext>
            </a:extLst>
          </p:cNvPr>
          <p:cNvSpPr txBox="1"/>
          <p:nvPr/>
        </p:nvSpPr>
        <p:spPr>
          <a:xfrm>
            <a:off x="7305496" y="2575136"/>
            <a:ext cx="357953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Batch gradient descent: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Gaseste </a:t>
            </a:r>
            <a:r>
              <a:rPr lang="en-US" err="1"/>
              <a:t>parametrii</a:t>
            </a:r>
            <a:r>
              <a:rPr lang="en-US"/>
              <a:t> theta </a:t>
            </a:r>
            <a:r>
              <a:rPr lang="en-US" err="1"/>
              <a:t>pentru</a:t>
            </a:r>
            <a:r>
              <a:rPr lang="en-US"/>
              <a:t> </a:t>
            </a:r>
            <a:r>
              <a:rPr lang="en-US" err="1"/>
              <a:t>combinatia</a:t>
            </a:r>
            <a:r>
              <a:rPr lang="en-US"/>
              <a:t> </a:t>
            </a:r>
            <a:r>
              <a:rPr lang="en-US" err="1"/>
              <a:t>liniara</a:t>
            </a:r>
            <a:r>
              <a:rPr lang="en-US"/>
              <a:t> care </a:t>
            </a:r>
            <a:r>
              <a:rPr lang="en-US" err="1"/>
              <a:t>gaseste</a:t>
            </a:r>
            <a:r>
              <a:rPr lang="en-US"/>
              <a:t> </a:t>
            </a:r>
            <a:r>
              <a:rPr lang="en-US" err="1"/>
              <a:t>minimul</a:t>
            </a:r>
            <a:r>
              <a:rPr lang="en-US"/>
              <a:t> </a:t>
            </a:r>
            <a:r>
              <a:rPr lang="en-US" err="1"/>
              <a:t>functiei</a:t>
            </a:r>
            <a:r>
              <a:rPr lang="en-US"/>
              <a:t> MSE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La </a:t>
            </a:r>
            <a:r>
              <a:rPr lang="en-US" err="1"/>
              <a:t>fiecare</a:t>
            </a:r>
            <a:r>
              <a:rPr lang="en-US"/>
              <a:t> pas de </a:t>
            </a:r>
            <a:r>
              <a:rPr lang="en-US" err="1"/>
              <a:t>actualizare</a:t>
            </a:r>
            <a:r>
              <a:rPr lang="en-US"/>
              <a:t>, </a:t>
            </a:r>
            <a:r>
              <a:rPr lang="en-US" err="1"/>
              <a:t>foloseste</a:t>
            </a:r>
            <a:r>
              <a:rPr lang="en-US"/>
              <a:t> </a:t>
            </a:r>
            <a:r>
              <a:rPr lang="en-US" err="1"/>
              <a:t>toate</a:t>
            </a:r>
            <a:r>
              <a:rPr lang="en-US"/>
              <a:t> </a:t>
            </a:r>
            <a:r>
              <a:rPr lang="en-US" err="1"/>
              <a:t>exemplele</a:t>
            </a:r>
            <a:r>
              <a:rPr lang="en-US"/>
              <a:t> din </a:t>
            </a:r>
            <a:r>
              <a:rPr lang="en-US" err="1"/>
              <a:t>setul</a:t>
            </a:r>
            <a:r>
              <a:rPr lang="en-US"/>
              <a:t> de date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Va converge, </a:t>
            </a:r>
            <a:r>
              <a:rPr lang="en-US" err="1"/>
              <a:t>dar</a:t>
            </a:r>
            <a:r>
              <a:rPr lang="en-US"/>
              <a:t> </a:t>
            </a:r>
            <a:r>
              <a:rPr lang="en-US" err="1"/>
              <a:t>poate</a:t>
            </a:r>
            <a:r>
              <a:rPr lang="en-US"/>
              <a:t> dura </a:t>
            </a:r>
            <a:r>
              <a:rPr lang="en-US" err="1"/>
              <a:t>pentru</a:t>
            </a:r>
            <a:r>
              <a:rPr lang="en-US"/>
              <a:t> </a:t>
            </a:r>
            <a:r>
              <a:rPr lang="en-US" err="1"/>
              <a:t>seturi</a:t>
            </a:r>
            <a:r>
              <a:rPr lang="en-US"/>
              <a:t> </a:t>
            </a:r>
            <a:r>
              <a:rPr lang="en-US" err="1"/>
              <a:t>mari</a:t>
            </a:r>
            <a:r>
              <a:rPr lang="en-US"/>
              <a:t> de date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1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ED5A-3814-7B9D-9D48-E629C6B3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Influenta</a:t>
            </a:r>
            <a:r>
              <a:rPr lang="en-US"/>
              <a:t> learning rate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6BFB65-B5B4-9CEA-5E34-FF4A779FC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291" y="2251869"/>
            <a:ext cx="9750425" cy="4083050"/>
          </a:xfrm>
        </p:spPr>
      </p:pic>
    </p:spTree>
    <p:extLst>
      <p:ext uri="{BB962C8B-B14F-4D97-AF65-F5344CB8AC3E}">
        <p14:creationId xmlns:p14="http://schemas.microsoft.com/office/powerpoint/2010/main" val="2975322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CF2F-15D3-1F06-7A1E-9F9EF6390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62184-B38A-02F6-5323-2366DAD37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 loc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foloseasca</a:t>
            </a:r>
            <a:r>
              <a:rPr lang="en-US"/>
              <a:t> </a:t>
            </a:r>
            <a:r>
              <a:rPr lang="en-US" err="1"/>
              <a:t>toate</a:t>
            </a:r>
            <a:r>
              <a:rPr lang="en-US"/>
              <a:t> </a:t>
            </a:r>
            <a:r>
              <a:rPr lang="en-US" err="1"/>
              <a:t>datele</a:t>
            </a:r>
            <a:r>
              <a:rPr lang="en-US"/>
              <a:t> la </a:t>
            </a:r>
            <a:r>
              <a:rPr lang="en-US" err="1"/>
              <a:t>fiecare</a:t>
            </a:r>
            <a:r>
              <a:rPr lang="en-US"/>
              <a:t> pas de </a:t>
            </a:r>
            <a:r>
              <a:rPr lang="en-US" err="1"/>
              <a:t>actualizare</a:t>
            </a:r>
            <a:r>
              <a:rPr lang="en-US"/>
              <a:t>, se </a:t>
            </a:r>
            <a:r>
              <a:rPr lang="en-US" err="1"/>
              <a:t>va</a:t>
            </a:r>
            <a:r>
              <a:rPr lang="en-US"/>
              <a:t> selecta random un </a:t>
            </a:r>
            <a:r>
              <a:rPr lang="en-US" err="1"/>
              <a:t>exemplu</a:t>
            </a:r>
            <a:r>
              <a:rPr lang="en-US"/>
              <a:t>; </a:t>
            </a:r>
            <a:r>
              <a:rPr lang="en-US" err="1"/>
              <a:t>gradientii</a:t>
            </a:r>
            <a:r>
              <a:rPr lang="en-US"/>
              <a:t> </a:t>
            </a:r>
            <a:r>
              <a:rPr lang="en-US" err="1"/>
              <a:t>vor</a:t>
            </a:r>
            <a:r>
              <a:rPr lang="en-US"/>
              <a:t> fi </a:t>
            </a:r>
            <a:r>
              <a:rPr lang="en-US" err="1"/>
              <a:t>calculati</a:t>
            </a:r>
            <a:r>
              <a:rPr lang="en-US"/>
              <a:t> </a:t>
            </a:r>
            <a:r>
              <a:rPr lang="en-US" err="1"/>
              <a:t>pentru</a:t>
            </a:r>
            <a:r>
              <a:rPr lang="en-US"/>
              <a:t> </a:t>
            </a:r>
            <a:r>
              <a:rPr lang="en-US" err="1"/>
              <a:t>acest</a:t>
            </a:r>
            <a:r>
              <a:rPr lang="en-US"/>
              <a:t> </a:t>
            </a:r>
            <a:r>
              <a:rPr lang="en-US" err="1"/>
              <a:t>elemplu</a:t>
            </a:r>
          </a:p>
        </p:txBody>
      </p:sp>
      <p:pic>
        <p:nvPicPr>
          <p:cNvPr id="4" name="Picture 3" descr="A diagram of a circular object with blue circles and dots&#10;&#10;Description automatically generated">
            <a:extLst>
              <a:ext uri="{FF2B5EF4-FFF2-40B4-BE49-F238E27FC236}">
                <a16:creationId xmlns:a16="http://schemas.microsoft.com/office/drawing/2014/main" id="{6A3CA64C-77F8-FA16-78F8-CA6122F1B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331" y="2697773"/>
            <a:ext cx="5339862" cy="4064977"/>
          </a:xfrm>
          <a:prstGeom prst="rect">
            <a:avLst/>
          </a:prstGeom>
        </p:spPr>
      </p:pic>
      <p:pic>
        <p:nvPicPr>
          <p:cNvPr id="5" name="Picture 4" descr="A diagram of a circular object&#10;&#10;Description automatically generated">
            <a:extLst>
              <a:ext uri="{FF2B5EF4-FFF2-40B4-BE49-F238E27FC236}">
                <a16:creationId xmlns:a16="http://schemas.microsoft.com/office/drawing/2014/main" id="{EDF14618-CF87-AA23-2C6F-FE3B07C4A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35" y="3279531"/>
            <a:ext cx="2628900" cy="266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C07E2A-20F7-FD68-710D-253600481881}"/>
              </a:ext>
            </a:extLst>
          </p:cNvPr>
          <p:cNvSpPr txBox="1"/>
          <p:nvPr/>
        </p:nvSpPr>
        <p:spPr>
          <a:xfrm>
            <a:off x="723523" y="6176308"/>
            <a:ext cx="27394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Batch </a:t>
            </a:r>
            <a:r>
              <a:rPr lang="en-US"/>
              <a:t>gradient descent with feature scaling</a:t>
            </a:r>
          </a:p>
        </p:txBody>
      </p:sp>
    </p:spTree>
    <p:extLst>
      <p:ext uri="{BB962C8B-B14F-4D97-AF65-F5344CB8AC3E}">
        <p14:creationId xmlns:p14="http://schemas.microsoft.com/office/powerpoint/2010/main" val="1502070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BAC2-4C0F-34BF-302D-3B1E6AE4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rate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B97A-E615-DDC6-AF42-9983331BE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Similar cu Simulated annealing (</a:t>
            </a:r>
            <a:r>
              <a:rPr lang="en-US" err="1"/>
              <a:t>semestrul</a:t>
            </a:r>
            <a:r>
              <a:rPr lang="en-US"/>
              <a:t> 1),</a:t>
            </a:r>
          </a:p>
          <a:p>
            <a:r>
              <a:rPr lang="en-US"/>
              <a:t>Se </a:t>
            </a:r>
            <a:r>
              <a:rPr lang="en-US" err="1"/>
              <a:t>poate</a:t>
            </a:r>
            <a:r>
              <a:rPr lang="en-US"/>
              <a:t> </a:t>
            </a:r>
            <a:r>
              <a:rPr lang="en-US" err="1"/>
              <a:t>scadea</a:t>
            </a:r>
            <a:r>
              <a:rPr lang="en-US"/>
              <a:t> learning rate pe </a:t>
            </a:r>
            <a:r>
              <a:rPr lang="en-US" err="1"/>
              <a:t>masura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se </a:t>
            </a:r>
            <a:r>
              <a:rPr lang="en-US" err="1"/>
              <a:t>aplica</a:t>
            </a:r>
            <a:r>
              <a:rPr lang="en-US"/>
              <a:t> </a:t>
            </a:r>
            <a:r>
              <a:rPr lang="en-US" err="1"/>
              <a:t>algoritmul</a:t>
            </a:r>
          </a:p>
        </p:txBody>
      </p:sp>
    </p:spTree>
    <p:extLst>
      <p:ext uri="{BB962C8B-B14F-4D97-AF65-F5344CB8AC3E}">
        <p14:creationId xmlns:p14="http://schemas.microsoft.com/office/powerpoint/2010/main" val="371222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1268-5642-B9B6-0439-6E23CA79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MInibatch</a:t>
            </a:r>
            <a:r>
              <a:rPr lang="en-US"/>
              <a:t>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0E62F-37A4-1529-DFC5-2026D90F1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Selecteaza</a:t>
            </a:r>
            <a:r>
              <a:rPr lang="en-US"/>
              <a:t> un subset de </a:t>
            </a:r>
            <a:r>
              <a:rPr lang="en-US" err="1"/>
              <a:t>exemple</a:t>
            </a:r>
            <a:r>
              <a:rPr lang="en-US"/>
              <a:t> la </a:t>
            </a:r>
            <a:r>
              <a:rPr lang="en-US" err="1"/>
              <a:t>fiecare</a:t>
            </a:r>
            <a:r>
              <a:rPr lang="en-US"/>
              <a:t> pas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AB2F9-C4E3-B5F1-869A-267CEB924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856" y="2606919"/>
            <a:ext cx="728662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65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F4F9-A535-22C4-A22E-14498CDF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73EF82-CA9A-25CE-F678-3910469D2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25" y="635794"/>
            <a:ext cx="7782657" cy="409721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477819-8E5B-4E0B-7176-39007BED7230}"/>
              </a:ext>
            </a:extLst>
          </p:cNvPr>
          <p:cNvSpPr txBox="1"/>
          <p:nvPr/>
        </p:nvSpPr>
        <p:spPr>
          <a:xfrm>
            <a:off x="913211" y="5132094"/>
            <a:ext cx="27417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 – </a:t>
            </a:r>
            <a:r>
              <a:rPr lang="en-US" err="1"/>
              <a:t>numar</a:t>
            </a:r>
            <a:r>
              <a:rPr lang="en-US"/>
              <a:t> de </a:t>
            </a:r>
            <a:r>
              <a:rPr lang="en-US" err="1"/>
              <a:t>exemple</a:t>
            </a:r>
          </a:p>
          <a:p>
            <a:r>
              <a:rPr lang="en-US"/>
              <a:t>N – </a:t>
            </a:r>
            <a:r>
              <a:rPr lang="en-US" err="1"/>
              <a:t>numar</a:t>
            </a:r>
            <a:r>
              <a:rPr lang="en-US"/>
              <a:t> de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74952-1B88-2E60-CC24-444742BB45FB}"/>
              </a:ext>
            </a:extLst>
          </p:cNvPr>
          <p:cNvSpPr txBox="1"/>
          <p:nvPr/>
        </p:nvSpPr>
        <p:spPr>
          <a:xfrm>
            <a:off x="6458919" y="5572767"/>
            <a:ext cx="536930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Out-of-core learning = </a:t>
            </a:r>
            <a:r>
              <a:rPr lang="en-US" err="1"/>
              <a:t>invatare</a:t>
            </a:r>
            <a:r>
              <a:rPr lang="en-US"/>
              <a:t> din date f </a:t>
            </a:r>
            <a:r>
              <a:rPr lang="en-US" err="1"/>
              <a:t>mari</a:t>
            </a:r>
            <a:r>
              <a:rPr lang="en-US"/>
              <a:t> care nu </a:t>
            </a:r>
            <a:r>
              <a:rPr lang="en-US" err="1"/>
              <a:t>incap</a:t>
            </a:r>
            <a:r>
              <a:rPr lang="en-US"/>
              <a:t> in </a:t>
            </a:r>
            <a:r>
              <a:rPr lang="en-US" err="1"/>
              <a:t>memorie</a:t>
            </a:r>
            <a:r>
              <a:rPr lang="en-US"/>
              <a:t>; </a:t>
            </a:r>
            <a:r>
              <a:rPr lang="en-US" err="1"/>
              <a:t>incarca</a:t>
            </a:r>
            <a:r>
              <a:rPr lang="en-US"/>
              <a:t> o </a:t>
            </a:r>
            <a:r>
              <a:rPr lang="en-US" err="1"/>
              <a:t>parte</a:t>
            </a:r>
            <a:r>
              <a:rPr lang="en-US"/>
              <a:t> din date, </a:t>
            </a:r>
            <a:r>
              <a:rPr lang="en-US" err="1"/>
              <a:t>invata</a:t>
            </a:r>
            <a:r>
              <a:rPr lang="en-US"/>
              <a:t>, </a:t>
            </a:r>
            <a:r>
              <a:rPr lang="en-US" err="1"/>
              <a:t>repeta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282E4-F893-0F2E-7593-B7249F9F911C}"/>
              </a:ext>
            </a:extLst>
          </p:cNvPr>
          <p:cNvSpPr txBox="1"/>
          <p:nvPr/>
        </p:nvSpPr>
        <p:spPr>
          <a:xfrm>
            <a:off x="751216" y="6111791"/>
            <a:ext cx="45929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Svd</a:t>
            </a:r>
            <a:r>
              <a:rPr lang="en-US"/>
              <a:t> – singular value decomposition: </a:t>
            </a:r>
            <a:r>
              <a:rPr lang="en-US" err="1"/>
              <a:t>bazat</a:t>
            </a:r>
            <a:r>
              <a:rPr lang="en-US"/>
              <a:t> pe </a:t>
            </a:r>
            <a:r>
              <a:rPr lang="en-US" err="1"/>
              <a:t>inmultirea</a:t>
            </a:r>
            <a:r>
              <a:rPr lang="en-US"/>
              <a:t> </a:t>
            </a:r>
            <a:r>
              <a:rPr lang="en-US" err="1"/>
              <a:t>matricilor</a:t>
            </a:r>
          </a:p>
        </p:txBody>
      </p:sp>
    </p:spTree>
    <p:extLst>
      <p:ext uri="{BB962C8B-B14F-4D97-AF65-F5344CB8AC3E}">
        <p14:creationId xmlns:p14="http://schemas.microsoft.com/office/powerpoint/2010/main" val="2400710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F137-B562-8B7C-207D-53DF52BE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Polinomial</a:t>
            </a:r>
            <a:r>
              <a:rPr lang="en-US" dirty="0"/>
              <a:t> regression</a:t>
            </a:r>
          </a:p>
        </p:txBody>
      </p:sp>
      <p:pic>
        <p:nvPicPr>
          <p:cNvPr id="4" name="Content Placeholder 3" descr="A graph of a function&#10;&#10;Description automatically generated">
            <a:extLst>
              <a:ext uri="{FF2B5EF4-FFF2-40B4-BE49-F238E27FC236}">
                <a16:creationId xmlns:a16="http://schemas.microsoft.com/office/drawing/2014/main" id="{EAAF9A35-6874-25BC-180A-A95D0777C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936" y="1792006"/>
            <a:ext cx="4469362" cy="2771309"/>
          </a:xfrm>
        </p:spPr>
      </p:pic>
      <p:pic>
        <p:nvPicPr>
          <p:cNvPr id="5" name="Picture 4" descr="A group of numbers and symbols&#10;&#10;Description automatically generated">
            <a:extLst>
              <a:ext uri="{FF2B5EF4-FFF2-40B4-BE49-F238E27FC236}">
                <a16:creationId xmlns:a16="http://schemas.microsoft.com/office/drawing/2014/main" id="{25609014-915E-3EC3-20FB-19482F1E0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548" y="2712104"/>
            <a:ext cx="5667375" cy="828675"/>
          </a:xfrm>
          <a:prstGeom prst="rect">
            <a:avLst/>
          </a:prstGeom>
        </p:spPr>
      </p:pic>
      <p:pic>
        <p:nvPicPr>
          <p:cNvPr id="6" name="Picture 5" descr="A computer code with blue and white text&#10;&#10;Description automatically generated">
            <a:extLst>
              <a:ext uri="{FF2B5EF4-FFF2-40B4-BE49-F238E27FC236}">
                <a16:creationId xmlns:a16="http://schemas.microsoft.com/office/drawing/2014/main" id="{C9E2DA2F-FDC4-798A-B288-457F0E593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69" y="4667810"/>
            <a:ext cx="76866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07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lack text on a white background&#10;&#10;Description automatically generated">
            <a:extLst>
              <a:ext uri="{FF2B5EF4-FFF2-40B4-BE49-F238E27FC236}">
                <a16:creationId xmlns:a16="http://schemas.microsoft.com/office/drawing/2014/main" id="{98100672-7412-8CED-52BB-7DD5EBDE9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913" y="1132868"/>
            <a:ext cx="10039350" cy="164670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EBD6D1-2A94-CB6A-FB7F-2ECFD1CEDB7D}"/>
              </a:ext>
            </a:extLst>
          </p:cNvPr>
          <p:cNvSpPr txBox="1"/>
          <p:nvPr/>
        </p:nvSpPr>
        <p:spPr>
          <a:xfrm>
            <a:off x="807178" y="3649110"/>
            <a:ext cx="950482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/>
              <a:t>Exemplu</a:t>
            </a:r>
            <a:r>
              <a:rPr lang="en-US" sz="2800" dirty="0"/>
              <a:t>: features: </a:t>
            </a:r>
            <a:r>
              <a:rPr lang="en-US" sz="2800" dirty="0" err="1"/>
              <a:t>a,b</a:t>
            </a:r>
            <a:endParaRPr lang="en-US" sz="2800" dirty="0"/>
          </a:p>
          <a:p>
            <a:r>
              <a:rPr lang="en-US" sz="2800" err="1"/>
              <a:t>PolinomialFeatures</a:t>
            </a:r>
            <a:r>
              <a:rPr lang="en-US" sz="2800" dirty="0"/>
              <a:t> cu degree3: a</a:t>
            </a:r>
            <a:r>
              <a:rPr lang="en-US" sz="2800" baseline="30000" dirty="0"/>
              <a:t>2</a:t>
            </a:r>
            <a:r>
              <a:rPr lang="en-US" sz="2800" dirty="0"/>
              <a:t>, a</a:t>
            </a:r>
            <a:r>
              <a:rPr lang="en-US" sz="2800" baseline="30000" dirty="0"/>
              <a:t>3</a:t>
            </a:r>
            <a:r>
              <a:rPr lang="en-US" sz="2800" dirty="0"/>
              <a:t>, b</a:t>
            </a:r>
            <a:r>
              <a:rPr lang="en-US" sz="2800" baseline="30000" dirty="0"/>
              <a:t>2</a:t>
            </a:r>
            <a:r>
              <a:rPr lang="en-US" sz="2800" dirty="0"/>
              <a:t>, b</a:t>
            </a:r>
            <a:r>
              <a:rPr lang="en-US" sz="2800" baseline="30000" dirty="0"/>
              <a:t>3</a:t>
            </a:r>
            <a:r>
              <a:rPr lang="en-US" sz="2800" dirty="0"/>
              <a:t>, ab, a</a:t>
            </a:r>
            <a:r>
              <a:rPr lang="en-US" sz="2800" baseline="30000" dirty="0"/>
              <a:t>2</a:t>
            </a:r>
            <a:r>
              <a:rPr lang="en-US" sz="2800" dirty="0"/>
              <a:t>b, ab</a:t>
            </a:r>
            <a:r>
              <a:rPr lang="en-US" sz="28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0367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7CCE-C454-C686-CDD1-C0F778CC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9435" y="-71904"/>
            <a:ext cx="10515600" cy="1325563"/>
          </a:xfrm>
        </p:spPr>
        <p:txBody>
          <a:bodyPr/>
          <a:lstStyle/>
          <a:p>
            <a:r>
              <a:rPr lang="en-US"/>
              <a:t>Learning curve</a:t>
            </a:r>
          </a:p>
        </p:txBody>
      </p:sp>
      <p:pic>
        <p:nvPicPr>
          <p:cNvPr id="4" name="Content Placeholder 3" descr="A graph of training set size&#10;&#10;Description automatically generated">
            <a:extLst>
              <a:ext uri="{FF2B5EF4-FFF2-40B4-BE49-F238E27FC236}">
                <a16:creationId xmlns:a16="http://schemas.microsoft.com/office/drawing/2014/main" id="{8DBB1498-3E89-8E3F-19DD-F0A1CC06F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4743" y="2968624"/>
            <a:ext cx="6014132" cy="381345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22D018-1DB0-3C02-2812-01B0623A6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30" y="2421872"/>
            <a:ext cx="3276600" cy="333375"/>
          </a:xfrm>
          <a:prstGeom prst="rect">
            <a:avLst/>
          </a:prstGeom>
        </p:spPr>
      </p:pic>
      <p:pic>
        <p:nvPicPr>
          <p:cNvPr id="6" name="Picture 5" descr="A graph of training and training set size&#10;&#10;Description automatically generated">
            <a:extLst>
              <a:ext uri="{FF2B5EF4-FFF2-40B4-BE49-F238E27FC236}">
                <a16:creationId xmlns:a16="http://schemas.microsoft.com/office/drawing/2014/main" id="{15BC6D3C-30BE-64D5-D4AA-D0700D8A8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021" y="2907645"/>
            <a:ext cx="6214223" cy="3945032"/>
          </a:xfrm>
          <a:prstGeom prst="rect">
            <a:avLst/>
          </a:prstGeom>
        </p:spPr>
      </p:pic>
      <p:pic>
        <p:nvPicPr>
          <p:cNvPr id="7" name="Picture 6" descr="A white background with blue and red text&#10;&#10;Description automatically generated">
            <a:extLst>
              <a:ext uri="{FF2B5EF4-FFF2-40B4-BE49-F238E27FC236}">
                <a16:creationId xmlns:a16="http://schemas.microsoft.com/office/drawing/2014/main" id="{A4D34C2D-C3A9-3E60-882B-622611EC6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314" y="1630175"/>
            <a:ext cx="6181725" cy="1266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13AF4-AB6B-DD50-D856-A041F69B8C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13" y="1960"/>
            <a:ext cx="3690098" cy="2315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C3A39C-AF00-B94A-AF76-FF6B51E4B66D}"/>
              </a:ext>
            </a:extLst>
          </p:cNvPr>
          <p:cNvSpPr txBox="1"/>
          <p:nvPr/>
        </p:nvSpPr>
        <p:spPr>
          <a:xfrm>
            <a:off x="2371131" y="5381290"/>
            <a:ext cx="20684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underfit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DD2D8E-AE04-AF38-77BC-2AD3D03F1385}"/>
              </a:ext>
            </a:extLst>
          </p:cNvPr>
          <p:cNvSpPr txBox="1"/>
          <p:nvPr/>
        </p:nvSpPr>
        <p:spPr>
          <a:xfrm>
            <a:off x="9669507" y="4305032"/>
            <a:ext cx="12780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overfit</a:t>
            </a:r>
          </a:p>
        </p:txBody>
      </p:sp>
    </p:spTree>
    <p:extLst>
      <p:ext uri="{BB962C8B-B14F-4D97-AF65-F5344CB8AC3E}">
        <p14:creationId xmlns:p14="http://schemas.microsoft.com/office/powerpoint/2010/main" val="1823226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57C9-AE1D-552D-09D8-3476A10BF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Bias-variance trade-off: a model's generalization error can be expressed as the sum of three very different errors: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6289F-3147-B1EA-34A1-2C7D3B9B2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347" y="2150596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solidFill>
                  <a:srgbClr val="FF0000"/>
                </a:solidFill>
              </a:rPr>
              <a:t>Bias</a:t>
            </a:r>
            <a:r>
              <a:rPr lang="en-US"/>
              <a:t>: </a:t>
            </a:r>
            <a:r>
              <a:rPr lang="en-US" err="1"/>
              <a:t>asumptii</a:t>
            </a:r>
            <a:r>
              <a:rPr lang="en-US"/>
              <a:t> (ex. </a:t>
            </a:r>
            <a:r>
              <a:rPr lang="en-US" err="1"/>
              <a:t>Presupunerea</a:t>
            </a:r>
            <a:r>
              <a:rPr lang="en-US"/>
              <a:t> ca y e </a:t>
            </a:r>
            <a:r>
              <a:rPr lang="en-US" err="1"/>
              <a:t>combinatie</a:t>
            </a:r>
            <a:r>
              <a:rPr lang="en-US"/>
              <a:t> </a:t>
            </a:r>
            <a:r>
              <a:rPr lang="en-US" err="1"/>
              <a:t>liniara</a:t>
            </a:r>
            <a:r>
              <a:rPr lang="en-US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High-bias</a:t>
            </a:r>
            <a:r>
              <a:rPr lang="en-US"/>
              <a:t> model is likely to </a:t>
            </a:r>
            <a:r>
              <a:rPr lang="en-US" b="1"/>
              <a:t>underfit</a:t>
            </a:r>
            <a:r>
              <a:rPr lang="en-US"/>
              <a:t> the training data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r>
              <a:rPr lang="en-US">
                <a:solidFill>
                  <a:srgbClr val="FF0000"/>
                </a:solidFill>
              </a:rPr>
              <a:t>Variance</a:t>
            </a:r>
            <a:r>
              <a:rPr lang="en-US"/>
              <a:t>: model's </a:t>
            </a:r>
            <a:r>
              <a:rPr lang="en-US" err="1"/>
              <a:t>excessie</a:t>
            </a:r>
            <a:r>
              <a:rPr lang="en-US"/>
              <a:t> sensitivity to small variations in the training data;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 model with many degrees of freedom (e.g. high-degree </a:t>
            </a:r>
            <a:r>
              <a:rPr lang="en-US" err="1"/>
              <a:t>polinomyal</a:t>
            </a:r>
            <a:r>
              <a:rPr lang="en-US"/>
              <a:t> model) is likely to have </a:t>
            </a:r>
            <a:r>
              <a:rPr lang="en-US" b="1"/>
              <a:t>high variance -&gt; overfit the training data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b="1"/>
          </a:p>
          <a:p>
            <a:r>
              <a:rPr lang="en-US">
                <a:solidFill>
                  <a:srgbClr val="FF0000"/>
                </a:solidFill>
              </a:rPr>
              <a:t>Irreducible error</a:t>
            </a:r>
            <a:r>
              <a:rPr lang="en-US"/>
              <a:t>: noisiness of the data itself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only way to reduce this part of error is to clean up the data (e.g. remove outliers, fix the data sources)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marL="0" indent="0">
              <a:buNone/>
            </a:pPr>
            <a:r>
              <a:rPr lang="en-US" b="1"/>
              <a:t>Trade-off: </a:t>
            </a:r>
            <a:r>
              <a:rPr lang="en-US"/>
              <a:t>Increasing the model's complexity will </a:t>
            </a:r>
            <a:r>
              <a:rPr lang="en-US" err="1"/>
              <a:t>tipically</a:t>
            </a:r>
            <a:r>
              <a:rPr lang="en-US"/>
              <a:t> increase its </a:t>
            </a:r>
            <a:r>
              <a:rPr lang="en-US" err="1"/>
              <a:t>variacme</a:t>
            </a:r>
            <a:r>
              <a:rPr lang="en-US"/>
              <a:t> and reduce its bias. Conversely, reducing a model's complexity increases its bias and reduces its variance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46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C23C-4721-0D07-ACC3-63164965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curve and a price&#10;&#10;Description automatically generated">
            <a:extLst>
              <a:ext uri="{FF2B5EF4-FFF2-40B4-BE49-F238E27FC236}">
                <a16:creationId xmlns:a16="http://schemas.microsoft.com/office/drawing/2014/main" id="{4C81574B-ED8F-050F-12F9-05390CAC0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309" y="1717815"/>
            <a:ext cx="11127441" cy="4298016"/>
          </a:xfrm>
        </p:spPr>
      </p:pic>
    </p:spTree>
    <p:extLst>
      <p:ext uri="{BB962C8B-B14F-4D97-AF65-F5344CB8AC3E}">
        <p14:creationId xmlns:p14="http://schemas.microsoft.com/office/powerpoint/2010/main" val="134166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6F6C-4CAB-C832-6359-A912397A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err="1"/>
              <a:t>Regularizare</a:t>
            </a:r>
            <a:r>
              <a:rPr lang="en-US"/>
              <a:t>: l1, l2, early stopping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89879-9C85-C10C-A4CE-72854B53A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L2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incurajeaza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pt weights </a:t>
            </a:r>
            <a:r>
              <a:rPr lang="en-US" b="1" dirty="0" err="1"/>
              <a:t>mici</a:t>
            </a:r>
            <a:r>
              <a:rPr lang="en-US" b="1" dirty="0"/>
              <a:t>, </a:t>
            </a:r>
            <a:r>
              <a:rPr lang="en-US" b="1" dirty="0" err="1"/>
              <a:t>dar</a:t>
            </a:r>
            <a:r>
              <a:rPr lang="en-US" b="1" dirty="0"/>
              <a:t> nu zero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Penalizeaza</a:t>
            </a:r>
            <a:r>
              <a:rPr lang="en-US" dirty="0"/>
              <a:t> weight</a:t>
            </a:r>
            <a:r>
              <a:rPr lang="en-US" baseline="30000" dirty="0"/>
              <a:t>2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Derivata</a:t>
            </a:r>
            <a:r>
              <a:rPr lang="en-US" dirty="0"/>
              <a:t>: 2weight</a:t>
            </a:r>
          </a:p>
          <a:p>
            <a:endParaRPr lang="en-US"/>
          </a:p>
          <a:p>
            <a:r>
              <a:rPr lang="en-US" dirty="0"/>
              <a:t>L1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incurajeaza</a:t>
            </a:r>
            <a:r>
              <a:rPr lang="en-US" dirty="0"/>
              <a:t> </a:t>
            </a:r>
            <a:r>
              <a:rPr lang="en-US" dirty="0" err="1"/>
              <a:t>eliminarea</a:t>
            </a:r>
            <a:r>
              <a:rPr lang="en-US" dirty="0"/>
              <a:t> feature-</a:t>
            </a:r>
            <a:r>
              <a:rPr lang="en-US" dirty="0" err="1"/>
              <a:t>urilor</a:t>
            </a:r>
            <a:r>
              <a:rPr lang="en-US" dirty="0"/>
              <a:t> inutile, </a:t>
            </a:r>
            <a:r>
              <a:rPr lang="en-US" b="1" dirty="0" err="1"/>
              <a:t>permite</a:t>
            </a:r>
            <a:r>
              <a:rPr lang="en-US" b="1" dirty="0"/>
              <a:t> weights exact 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Penalizeaza</a:t>
            </a:r>
            <a:r>
              <a:rPr lang="en-US" dirty="0"/>
              <a:t> |weight|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Derivata</a:t>
            </a:r>
            <a:r>
              <a:rPr lang="en-US" dirty="0"/>
              <a:t>  – </a:t>
            </a:r>
            <a:r>
              <a:rPr lang="en-US" dirty="0" err="1"/>
              <a:t>constanta</a:t>
            </a:r>
          </a:p>
          <a:p>
            <a:r>
              <a:rPr lang="en-US" dirty="0">
                <a:hlinkClick r:id="rId2"/>
              </a:rPr>
              <a:t>See from Google Crash Course</a:t>
            </a:r>
            <a:endParaRPr lang="en-US" dirty="0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D65F4-084F-C69B-3B0A-6E9016D34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762" y="2762250"/>
            <a:ext cx="3724275" cy="647700"/>
          </a:xfrm>
          <a:prstGeom prst="rect">
            <a:avLst/>
          </a:prstGeom>
        </p:spPr>
      </p:pic>
      <p:pic>
        <p:nvPicPr>
          <p:cNvPr id="5" name="Picture 4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1CCE660F-6E39-D0F8-2A3E-3B0A2990C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761" y="4847945"/>
            <a:ext cx="372427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98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52092-EC2F-32B2-AB30-3837AD86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739568C-07B2-7E4C-34FB-CF3B6285F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182" y="452018"/>
            <a:ext cx="6019800" cy="3505200"/>
          </a:xfrm>
        </p:spPr>
      </p:pic>
      <p:pic>
        <p:nvPicPr>
          <p:cNvPr id="5" name="Picture 4" descr="A white background with black text and numbers&#10;&#10;Description automatically generated">
            <a:extLst>
              <a:ext uri="{FF2B5EF4-FFF2-40B4-BE49-F238E27FC236}">
                <a16:creationId xmlns:a16="http://schemas.microsoft.com/office/drawing/2014/main" id="{477B3345-C1FB-C82D-C3AF-D299D595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198" y="4506165"/>
            <a:ext cx="6370544" cy="192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20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51585BB0-CD8F-9ECF-8F10-363453A5B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868" y="136571"/>
            <a:ext cx="4152900" cy="401002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BE88AC-9E4C-C545-CEDA-AABFE321C363}"/>
              </a:ext>
            </a:extLst>
          </p:cNvPr>
          <p:cNvSpPr txBox="1"/>
          <p:nvPr/>
        </p:nvSpPr>
        <p:spPr>
          <a:xfrm>
            <a:off x="5045626" y="799683"/>
            <a:ext cx="52169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&lt;- </a:t>
            </a:r>
            <a:r>
              <a:rPr lang="en-US" dirty="0" err="1"/>
              <a:t>Regresie</a:t>
            </a:r>
            <a:r>
              <a:rPr lang="en-US" dirty="0"/>
              <a:t> </a:t>
            </a:r>
            <a:r>
              <a:rPr lang="en-US" dirty="0" err="1"/>
              <a:t>polinomiala</a:t>
            </a:r>
            <a:r>
              <a:rPr lang="en-US" dirty="0"/>
              <a:t> cu </a:t>
            </a:r>
            <a:r>
              <a:rPr lang="en-US" dirty="0" err="1"/>
              <a:t>regularizare</a:t>
            </a:r>
            <a:r>
              <a:rPr lang="en-US" dirty="0"/>
              <a:t> l2</a:t>
            </a:r>
          </a:p>
          <a:p>
            <a:r>
              <a:rPr lang="en-US" dirty="0"/>
              <a:t>Valori </a:t>
            </a:r>
            <a:r>
              <a:rPr lang="en-US" dirty="0" err="1"/>
              <a:t>mari</a:t>
            </a:r>
            <a:r>
              <a:rPr lang="en-US" dirty="0"/>
              <a:t> pt </a:t>
            </a:r>
            <a:r>
              <a:rPr lang="en-US" dirty="0" err="1"/>
              <a:t>hiperparametru</a:t>
            </a:r>
            <a:r>
              <a:rPr lang="en-US" dirty="0"/>
              <a:t> alpha: se reduce </a:t>
            </a:r>
            <a:r>
              <a:rPr lang="en-US" dirty="0" err="1"/>
              <a:t>varianta</a:t>
            </a:r>
            <a:r>
              <a:rPr lang="en-US" dirty="0"/>
              <a:t>, </a:t>
            </a:r>
            <a:r>
              <a:rPr lang="en-US" dirty="0" err="1"/>
              <a:t>creste</a:t>
            </a:r>
            <a:r>
              <a:rPr lang="en-US" dirty="0"/>
              <a:t> bias-</a:t>
            </a:r>
            <a:r>
              <a:rPr lang="en-US" dirty="0" err="1"/>
              <a:t>ul</a:t>
            </a:r>
            <a:endParaRPr lang="en-US" dirty="0"/>
          </a:p>
        </p:txBody>
      </p:sp>
      <p:pic>
        <p:nvPicPr>
          <p:cNvPr id="6" name="Picture 5" descr="A graph of a function&#10;&#10;Description automatically generated">
            <a:extLst>
              <a:ext uri="{FF2B5EF4-FFF2-40B4-BE49-F238E27FC236}">
                <a16:creationId xmlns:a16="http://schemas.microsoft.com/office/drawing/2014/main" id="{97DDA4A8-77EC-7E7D-10DA-3D297D901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582" y="2786063"/>
            <a:ext cx="4419600" cy="3952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4A5E07-1D60-0BE7-D8C3-30C77EAFC0AD}"/>
              </a:ext>
            </a:extLst>
          </p:cNvPr>
          <p:cNvSpPr txBox="1"/>
          <p:nvPr/>
        </p:nvSpPr>
        <p:spPr>
          <a:xfrm>
            <a:off x="971045" y="5064666"/>
            <a:ext cx="483618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Regresie</a:t>
            </a:r>
            <a:r>
              <a:rPr lang="en-US" dirty="0"/>
              <a:t> </a:t>
            </a:r>
            <a:r>
              <a:rPr lang="en-US" dirty="0" err="1"/>
              <a:t>polinomiala</a:t>
            </a:r>
            <a:r>
              <a:rPr lang="en-US" dirty="0"/>
              <a:t> cu </a:t>
            </a:r>
            <a:r>
              <a:rPr lang="en-US" dirty="0" err="1"/>
              <a:t>regularizare</a:t>
            </a:r>
            <a:r>
              <a:rPr lang="en-US" dirty="0"/>
              <a:t> l1 -&gt;</a:t>
            </a:r>
          </a:p>
          <a:p>
            <a:r>
              <a:rPr lang="en-US" dirty="0"/>
              <a:t>.. </a:t>
            </a:r>
            <a:r>
              <a:rPr lang="en-US" dirty="0" err="1"/>
              <a:t>weighturile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feature-urile </a:t>
            </a:r>
            <a:r>
              <a:rPr lang="en-US" dirty="0" err="1"/>
              <a:t>polinomiale</a:t>
            </a:r>
            <a:r>
              <a:rPr lang="en-US" dirty="0"/>
              <a:t> sunt zero (feature selection)</a:t>
            </a:r>
          </a:p>
        </p:txBody>
      </p:sp>
    </p:spTree>
    <p:extLst>
      <p:ext uri="{BB962C8B-B14F-4D97-AF65-F5344CB8AC3E}">
        <p14:creationId xmlns:p14="http://schemas.microsoft.com/office/powerpoint/2010/main" val="3614421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70AB7-34A7-8812-2D0A-B3FA662E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 net</a:t>
            </a:r>
          </a:p>
        </p:txBody>
      </p:sp>
      <p:pic>
        <p:nvPicPr>
          <p:cNvPr id="4" name="Content Placeholder 3" descr="A black and white math symbols&#10;&#10;Description automatically generated">
            <a:extLst>
              <a:ext uri="{FF2B5EF4-FFF2-40B4-BE49-F238E27FC236}">
                <a16:creationId xmlns:a16="http://schemas.microsoft.com/office/drawing/2014/main" id="{CAA46C40-72AC-7589-3AFC-EE99AFBB7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566" y="1717815"/>
            <a:ext cx="5495925" cy="60007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B47E50-0458-9B51-3DB2-5D5090AEBA7F}"/>
              </a:ext>
            </a:extLst>
          </p:cNvPr>
          <p:cNvSpPr txBox="1"/>
          <p:nvPr/>
        </p:nvSpPr>
        <p:spPr>
          <a:xfrm>
            <a:off x="975359" y="2589745"/>
            <a:ext cx="1050653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 – </a:t>
            </a:r>
            <a:r>
              <a:rPr lang="en-US" err="1"/>
              <a:t>controleaza</a:t>
            </a:r>
            <a:r>
              <a:rPr lang="en-US"/>
              <a:t> </a:t>
            </a:r>
            <a:r>
              <a:rPr lang="en-US" err="1"/>
              <a:t>tipul</a:t>
            </a:r>
            <a:r>
              <a:rPr lang="en-US"/>
              <a:t> de </a:t>
            </a:r>
            <a:r>
              <a:rPr lang="en-US" err="1"/>
              <a:t>regularizare</a:t>
            </a:r>
            <a:endParaRPr lang="en-US"/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In general: </a:t>
            </a:r>
            <a:r>
              <a:rPr lang="en-US" err="1"/>
              <a:t>regularizarea</a:t>
            </a:r>
            <a:r>
              <a:rPr lang="en-US"/>
              <a:t> l2 (ridge) </a:t>
            </a:r>
            <a:r>
              <a:rPr lang="en-US" err="1"/>
              <a:t>este</a:t>
            </a:r>
            <a:r>
              <a:rPr lang="en-US"/>
              <a:t> buna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Daca </a:t>
            </a:r>
            <a:r>
              <a:rPr lang="en-US" err="1"/>
              <a:t>suspectam</a:t>
            </a:r>
            <a:r>
              <a:rPr lang="en-US"/>
              <a:t> ca </a:t>
            </a:r>
            <a:r>
              <a:rPr lang="en-US" err="1"/>
              <a:t>anumite</a:t>
            </a:r>
            <a:r>
              <a:rPr lang="en-US"/>
              <a:t> features sunt </a:t>
            </a:r>
            <a:r>
              <a:rPr lang="en-US" err="1"/>
              <a:t>irelevante</a:t>
            </a:r>
            <a:r>
              <a:rPr lang="en-US"/>
              <a:t>, l1 </a:t>
            </a:r>
            <a:r>
              <a:rPr lang="en-US" err="1"/>
              <a:t>ete</a:t>
            </a:r>
            <a:r>
              <a:rPr lang="en-US"/>
              <a:t> buna </a:t>
            </a:r>
            <a:r>
              <a:rPr lang="en-US" err="1"/>
              <a:t>sau</a:t>
            </a:r>
            <a:r>
              <a:rPr lang="en-US"/>
              <a:t> Elastic Net</a:t>
            </a:r>
          </a:p>
          <a:p>
            <a:endParaRPr lang="en-US"/>
          </a:p>
        </p:txBody>
      </p:sp>
      <p:pic>
        <p:nvPicPr>
          <p:cNvPr id="6" name="Picture 5" descr="A close-up of a text&#10;&#10;Description automatically generated">
            <a:extLst>
              <a:ext uri="{FF2B5EF4-FFF2-40B4-BE49-F238E27FC236}">
                <a16:creationId xmlns:a16="http://schemas.microsoft.com/office/drawing/2014/main" id="{9AC1D815-6439-143B-13BF-F370444D9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03" y="4781830"/>
            <a:ext cx="63341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49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015F-DD38-35CD-BA74-0C8BDAB5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Early stopping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37AD81-054C-EC51-324D-9725A5E2C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655" y="1792007"/>
            <a:ext cx="6757866" cy="4351338"/>
          </a:xfrm>
        </p:spPr>
      </p:pic>
    </p:spTree>
    <p:extLst>
      <p:ext uri="{BB962C8B-B14F-4D97-AF65-F5344CB8AC3E}">
        <p14:creationId xmlns:p14="http://schemas.microsoft.com/office/powerpoint/2010/main" val="3377493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Curs 4. Modele liniare</vt:lpstr>
      <vt:lpstr>PowerPoint Presentation</vt:lpstr>
      <vt:lpstr>Metrici comune de evaluare pentru regresie</vt:lpstr>
      <vt:lpstr>Regresia liniara</vt:lpstr>
      <vt:lpstr>Vectorial</vt:lpstr>
      <vt:lpstr>MSE – mean squared error</vt:lpstr>
      <vt:lpstr>PowerPoint Presentation</vt:lpstr>
      <vt:lpstr>Probleme:</vt:lpstr>
      <vt:lpstr>2. Gradient Descent</vt:lpstr>
      <vt:lpstr>Consideram o functie derivabila de o singura variabila</vt:lpstr>
      <vt:lpstr>PowerPoint Presentation</vt:lpstr>
      <vt:lpstr>Algoritm gradient descent pentru regresia liniara</vt:lpstr>
      <vt:lpstr>Explicatii </vt:lpstr>
      <vt:lpstr>PowerPoint Presentation</vt:lpstr>
      <vt:lpstr>Influenta learning rate</vt:lpstr>
      <vt:lpstr>Stochastic gradient descent</vt:lpstr>
      <vt:lpstr>Learning rate scheduler</vt:lpstr>
      <vt:lpstr>MInibatch gradient descent</vt:lpstr>
      <vt:lpstr>PowerPoint Presentation</vt:lpstr>
      <vt:lpstr>3. Polinomial regression</vt:lpstr>
      <vt:lpstr>PowerPoint Presentation</vt:lpstr>
      <vt:lpstr>Learning curve</vt:lpstr>
      <vt:lpstr>Bias-variance trade-off: a model's generalization error can be expressed as the sum of three very different errors:</vt:lpstr>
      <vt:lpstr>PowerPoint Presentation</vt:lpstr>
      <vt:lpstr>4. Regularizare: l1, l2, early stopping</vt:lpstr>
      <vt:lpstr>PowerPoint Presentation</vt:lpstr>
      <vt:lpstr>PowerPoint Presentation</vt:lpstr>
      <vt:lpstr>Elastic net</vt:lpstr>
      <vt:lpstr>Early stopping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92</cp:revision>
  <dcterms:created xsi:type="dcterms:W3CDTF">2024-03-20T19:47:18Z</dcterms:created>
  <dcterms:modified xsi:type="dcterms:W3CDTF">2025-04-07T14:56:29Z</dcterms:modified>
</cp:coreProperties>
</file>