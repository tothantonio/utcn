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9" r:id="rId13"/>
    <p:sldId id="270" r:id="rId14"/>
    <p:sldId id="271" r:id="rId15"/>
    <p:sldId id="272" r:id="rId16"/>
    <p:sldId id="283" r:id="rId17"/>
    <p:sldId id="284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67" r:id="rId28"/>
    <p:sldId id="26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B45F85-A7A8-6AA6-42B1-706427D74847}" v="59" dt="2025-04-10T05:03:33.0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machine-learning/decision-forests/random-forests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lightgbm.readthedocs.io/en/stable/" TargetMode="External"/><Relationship Id="rId2" Type="http://schemas.openxmlformats.org/officeDocument/2006/relationships/hyperlink" Target="https://xgboost.readthedocs.io/en/stable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tensorflow.org/decision_forests/tutorials" TargetMode="External"/><Relationship Id="rId4" Type="http://schemas.openxmlformats.org/officeDocument/2006/relationships/hyperlink" Target="https://www.tensorflow.org/decision_forests/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3810" y="2960716"/>
            <a:ext cx="4036334" cy="2387600"/>
          </a:xfrm>
        </p:spPr>
        <p:txBody>
          <a:bodyPr anchor="t">
            <a:normAutofit/>
          </a:bodyPr>
          <a:lstStyle/>
          <a:p>
            <a:pPr algn="l"/>
            <a:r>
              <a:rPr lang="en-US" sz="5400" dirty="0"/>
              <a:t>Curs 6 – Ensemble Learning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model&#10;&#10;Description automatically generated">
            <a:extLst>
              <a:ext uri="{FF2B5EF4-FFF2-40B4-BE49-F238E27FC236}">
                <a16:creationId xmlns:a16="http://schemas.microsoft.com/office/drawing/2014/main" id="{75C02C45-D735-A4D2-7A10-12CC6F03E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1731904"/>
            <a:ext cx="5536001" cy="333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46A3A-75D9-0D13-4A2B-76605EC7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Wisdom of the crowd – ensemble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7CAFF-300D-DE2E-9116-27A1365D1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165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Group de predictors</a:t>
            </a:r>
          </a:p>
          <a:p>
            <a:r>
              <a:rPr lang="en-US" dirty="0" err="1"/>
              <a:t>Agregarea</a:t>
            </a:r>
            <a:r>
              <a:rPr lang="en-US" dirty="0"/>
              <a:t> </a:t>
            </a:r>
            <a:r>
              <a:rPr lang="en-US" dirty="0" err="1"/>
              <a:t>raspunsului</a:t>
            </a:r>
            <a:r>
              <a:rPr lang="en-US" dirty="0"/>
              <a:t> din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directii</a:t>
            </a:r>
          </a:p>
          <a:p>
            <a:endParaRPr lang="en-US" dirty="0"/>
          </a:p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Weak learner</a:t>
            </a:r>
            <a:r>
              <a:rPr lang="en-US" dirty="0"/>
              <a:t> – model care nu e cu </a:t>
            </a:r>
            <a:r>
              <a:rPr lang="en-US" err="1"/>
              <a:t>mult</a:t>
            </a:r>
            <a:r>
              <a:rPr lang="en-US" dirty="0"/>
              <a:t> </a:t>
            </a:r>
            <a:r>
              <a:rPr lang="en-US" err="1"/>
              <a:t>mai</a:t>
            </a:r>
            <a:r>
              <a:rPr lang="en-US" dirty="0"/>
              <a:t> bun </a:t>
            </a:r>
            <a:r>
              <a:rPr lang="en-US" err="1"/>
              <a:t>decat</a:t>
            </a:r>
            <a:r>
              <a:rPr lang="en-US" dirty="0"/>
              <a:t> random guessing</a:t>
            </a:r>
          </a:p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Strong learner</a:t>
            </a:r>
            <a:r>
              <a:rPr lang="en-US" dirty="0"/>
              <a:t> – model care are </a:t>
            </a:r>
            <a:r>
              <a:rPr lang="en-US" err="1"/>
              <a:t>calitate</a:t>
            </a:r>
            <a:r>
              <a:rPr lang="en-US" dirty="0"/>
              <a:t> buna</a:t>
            </a:r>
          </a:p>
        </p:txBody>
      </p:sp>
    </p:spTree>
    <p:extLst>
      <p:ext uri="{BB962C8B-B14F-4D97-AF65-F5344CB8AC3E}">
        <p14:creationId xmlns:p14="http://schemas.microsoft.com/office/powerpoint/2010/main" val="1286983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E6CC0-C44E-4360-FCF4-76D125AA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AutoNum type="arabicPeriod"/>
            </a:pPr>
            <a:r>
              <a:rPr lang="en-US" dirty="0"/>
              <a:t>Voting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96D2E-7715-DB6C-CDAB-EB2820C33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Antrenarea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multor</a:t>
            </a:r>
            <a:r>
              <a:rPr lang="en-US" dirty="0"/>
              <a:t> </a:t>
            </a:r>
            <a:r>
              <a:rPr lang="en-US" dirty="0" err="1"/>
              <a:t>modele</a:t>
            </a:r>
            <a:r>
              <a:rPr lang="en-US" dirty="0"/>
              <a:t> pe </a:t>
            </a:r>
            <a:r>
              <a:rPr lang="en-US" dirty="0" err="1"/>
              <a:t>aceleasi</a:t>
            </a:r>
            <a:r>
              <a:rPr lang="en-US" dirty="0"/>
              <a:t> date</a:t>
            </a:r>
          </a:p>
          <a:p>
            <a:r>
              <a:rPr lang="en-US" dirty="0"/>
              <a:t>De </a:t>
            </a:r>
            <a:r>
              <a:rPr lang="en-US" dirty="0" err="1"/>
              <a:t>preferat</a:t>
            </a:r>
            <a:r>
              <a:rPr lang="en-US" dirty="0"/>
              <a:t>, </a:t>
            </a:r>
            <a:r>
              <a:rPr lang="en-US" dirty="0" err="1"/>
              <a:t>modele</a:t>
            </a:r>
            <a:r>
              <a:rPr lang="en-US" dirty="0"/>
              <a:t> f </a:t>
            </a:r>
            <a:r>
              <a:rPr lang="en-US" dirty="0" err="1"/>
              <a:t>diferite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independente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, care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faca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alt </a:t>
            </a:r>
            <a:r>
              <a:rPr lang="en-US" dirty="0" err="1"/>
              <a:t>fel</a:t>
            </a:r>
            <a:r>
              <a:rPr lang="en-US" dirty="0"/>
              <a:t> de </a:t>
            </a:r>
            <a:r>
              <a:rPr lang="en-US" dirty="0" err="1"/>
              <a:t>erori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De ex. Pt </a:t>
            </a:r>
            <a:r>
              <a:rPr lang="en-US" dirty="0" err="1"/>
              <a:t>fiecare</a:t>
            </a:r>
            <a:r>
              <a:rPr lang="en-US" dirty="0"/>
              <a:t> model se </a:t>
            </a:r>
            <a:r>
              <a:rPr lang="en-US" dirty="0" err="1"/>
              <a:t>foloseste</a:t>
            </a:r>
            <a:r>
              <a:rPr lang="en-US" dirty="0"/>
              <a:t> alt </a:t>
            </a:r>
            <a:r>
              <a:rPr lang="en-US" dirty="0" err="1"/>
              <a:t>algoritm</a:t>
            </a:r>
            <a:r>
              <a:rPr lang="en-US" dirty="0"/>
              <a:t> de </a:t>
            </a:r>
            <a:r>
              <a:rPr lang="en-US" dirty="0" err="1"/>
              <a:t>invatare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Clasificare</a:t>
            </a:r>
            <a:r>
              <a:rPr lang="en-US" dirty="0"/>
              <a:t>: </a:t>
            </a:r>
            <a:r>
              <a:rPr lang="en-US" dirty="0" err="1"/>
              <a:t>alegerea</a:t>
            </a:r>
            <a:r>
              <a:rPr lang="en-US" dirty="0"/>
              <a:t> </a:t>
            </a:r>
            <a:r>
              <a:rPr lang="en-US" dirty="0" err="1"/>
              <a:t>clasei</a:t>
            </a:r>
            <a:r>
              <a:rPr lang="en-US" dirty="0"/>
              <a:t> </a:t>
            </a:r>
            <a:r>
              <a:rPr lang="en-US" dirty="0" err="1"/>
              <a:t>celei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des </a:t>
            </a:r>
            <a:r>
              <a:rPr lang="en-US" dirty="0" err="1"/>
              <a:t>votate</a:t>
            </a:r>
            <a:r>
              <a:rPr lang="en-US" dirty="0"/>
              <a:t> (</a:t>
            </a:r>
            <a:r>
              <a:rPr lang="en-US" dirty="0" err="1"/>
              <a:t>prezise</a:t>
            </a:r>
            <a:r>
              <a:rPr lang="en-US" dirty="0"/>
              <a:t>)</a:t>
            </a:r>
          </a:p>
          <a:p>
            <a:r>
              <a:rPr lang="en-US" dirty="0" err="1"/>
              <a:t>Performanta</a:t>
            </a:r>
            <a:r>
              <a:rPr lang="en-US" dirty="0"/>
              <a:t> </a:t>
            </a:r>
            <a:r>
              <a:rPr lang="en-US" dirty="0" err="1"/>
              <a:t>ansamblului</a:t>
            </a:r>
            <a:r>
              <a:rPr lang="en-US" dirty="0"/>
              <a:t> </a:t>
            </a:r>
            <a:r>
              <a:rPr lang="en-US" dirty="0" err="1"/>
              <a:t>construit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 Voting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depasi</a:t>
            </a:r>
            <a:r>
              <a:rPr lang="en-US" dirty="0"/>
              <a:t> </a:t>
            </a:r>
            <a:r>
              <a:rPr lang="en-US" dirty="0" err="1"/>
              <a:t>performanta</a:t>
            </a:r>
            <a:r>
              <a:rPr lang="en-US" dirty="0"/>
              <a:t> </a:t>
            </a:r>
            <a:r>
              <a:rPr lang="en-US" dirty="0" err="1"/>
              <a:t>individuala</a:t>
            </a:r>
          </a:p>
        </p:txBody>
      </p:sp>
    </p:spTree>
    <p:extLst>
      <p:ext uri="{BB962C8B-B14F-4D97-AF65-F5344CB8AC3E}">
        <p14:creationId xmlns:p14="http://schemas.microsoft.com/office/powerpoint/2010/main" val="1428046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4ED0-04ED-49D7-A23A-38715BD45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diagram of a training classifier&#10;&#10;Description automatically generated">
            <a:extLst>
              <a:ext uri="{FF2B5EF4-FFF2-40B4-BE49-F238E27FC236}">
                <a16:creationId xmlns:a16="http://schemas.microsoft.com/office/drawing/2014/main" id="{1A1EE8B7-7508-14AC-2F68-591AD630F4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1" y="370588"/>
            <a:ext cx="7124700" cy="342900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6BB18D-4B68-64F0-3BA5-5C108E64E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888" y="2720507"/>
            <a:ext cx="7134225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577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2C37D-256C-EC63-3881-73CE77EDE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904B4-D4F9-9024-7531-927680387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Hard voting – </a:t>
            </a:r>
            <a:r>
              <a:rPr lang="en-US" dirty="0" err="1"/>
              <a:t>doar</a:t>
            </a:r>
            <a:r>
              <a:rPr lang="en-US" dirty="0"/>
              <a:t> </a:t>
            </a:r>
            <a:r>
              <a:rPr lang="en-US" dirty="0" err="1"/>
              <a:t>numar</a:t>
            </a:r>
            <a:r>
              <a:rPr lang="en-US" dirty="0"/>
              <a:t> de </a:t>
            </a:r>
            <a:r>
              <a:rPr lang="en-US" dirty="0" err="1"/>
              <a:t>voturi</a:t>
            </a:r>
            <a:endParaRPr lang="en-US" dirty="0"/>
          </a:p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Soft voting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Necesita</a:t>
            </a:r>
            <a:r>
              <a:rPr lang="en-US" dirty="0"/>
              <a:t> </a:t>
            </a:r>
            <a:r>
              <a:rPr lang="en-US" dirty="0" err="1"/>
              <a:t>probabilitate</a:t>
            </a:r>
            <a:r>
              <a:rPr lang="en-US" dirty="0"/>
              <a:t> de </a:t>
            </a:r>
            <a:r>
              <a:rPr lang="en-US" dirty="0" err="1"/>
              <a:t>predictie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Da </a:t>
            </a:r>
            <a:r>
              <a:rPr lang="en-US" dirty="0" err="1"/>
              <a:t>pondere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mare </a:t>
            </a:r>
            <a:r>
              <a:rPr lang="en-US" dirty="0" err="1"/>
              <a:t>voturilor</a:t>
            </a:r>
            <a:r>
              <a:rPr lang="en-US" dirty="0"/>
              <a:t> cu </a:t>
            </a:r>
            <a:r>
              <a:rPr lang="en-US" dirty="0" err="1"/>
              <a:t>incredere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mare (i.e. cu </a:t>
            </a:r>
            <a:r>
              <a:rPr lang="en-US" dirty="0" err="1"/>
              <a:t>probabilitate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mare)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Da </a:t>
            </a:r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bune</a:t>
            </a:r>
            <a:r>
              <a:rPr lang="en-US" dirty="0"/>
              <a:t> </a:t>
            </a:r>
            <a:r>
              <a:rPr lang="en-US" dirty="0" err="1"/>
              <a:t>decat</a:t>
            </a:r>
            <a:r>
              <a:rPr lang="en-US" dirty="0"/>
              <a:t> hard voting</a:t>
            </a:r>
          </a:p>
          <a:p>
            <a:pPr marL="457200" lvl="1" indent="0">
              <a:buNone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361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B708C-2AB0-A882-1625-6E8A96625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Bagging and pasting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FCEE8-4B30-3FD8-C03B-61B63C140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8390"/>
            <a:ext cx="3119718" cy="44185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O </a:t>
            </a:r>
            <a:r>
              <a:rPr lang="en-US" err="1"/>
              <a:t>alta</a:t>
            </a:r>
            <a:r>
              <a:rPr lang="en-US" dirty="0"/>
              <a:t> </a:t>
            </a:r>
            <a:r>
              <a:rPr lang="en-US" err="1"/>
              <a:t>modalitate</a:t>
            </a:r>
            <a:r>
              <a:rPr lang="en-US" dirty="0"/>
              <a:t> de a </a:t>
            </a:r>
            <a:r>
              <a:rPr lang="en-US" err="1"/>
              <a:t>obtine</a:t>
            </a:r>
            <a:r>
              <a:rPr lang="en-US" dirty="0"/>
              <a:t> </a:t>
            </a:r>
            <a:r>
              <a:rPr lang="en-US" err="1"/>
              <a:t>clasificatori</a:t>
            </a:r>
            <a:r>
              <a:rPr lang="en-US" dirty="0"/>
              <a:t> </a:t>
            </a:r>
            <a:r>
              <a:rPr lang="en-US" err="1"/>
              <a:t>variati</a:t>
            </a:r>
            <a:r>
              <a:rPr lang="en-US" dirty="0"/>
              <a:t>: </a:t>
            </a:r>
            <a:r>
              <a:rPr lang="en-US" err="1"/>
              <a:t>antrenarea</a:t>
            </a:r>
            <a:r>
              <a:rPr lang="en-US" dirty="0"/>
              <a:t> </a:t>
            </a:r>
            <a:r>
              <a:rPr lang="en-US" err="1"/>
              <a:t>unui</a:t>
            </a:r>
            <a:r>
              <a:rPr lang="en-US" dirty="0"/>
              <a:t> </a:t>
            </a:r>
            <a:r>
              <a:rPr lang="en-US" err="1"/>
              <a:t>singur</a:t>
            </a:r>
            <a:r>
              <a:rPr lang="en-US" dirty="0"/>
              <a:t> </a:t>
            </a:r>
            <a:r>
              <a:rPr lang="en-US" err="1"/>
              <a:t>algoritm</a:t>
            </a:r>
            <a:r>
              <a:rPr lang="en-US" dirty="0"/>
              <a:t> </a:t>
            </a:r>
            <a:r>
              <a:rPr lang="en-US" err="1"/>
              <a:t>dar</a:t>
            </a:r>
            <a:r>
              <a:rPr lang="en-US" dirty="0"/>
              <a:t> pe </a:t>
            </a:r>
            <a:r>
              <a:rPr lang="en-US" b="1" err="1">
                <a:solidFill>
                  <a:schemeClr val="tx2">
                    <a:lumMod val="75000"/>
                    <a:lumOff val="25000"/>
                  </a:schemeClr>
                </a:solidFill>
              </a:rPr>
              <a:t>subseturi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err="1">
                <a:solidFill>
                  <a:schemeClr val="tx2">
                    <a:lumMod val="75000"/>
                    <a:lumOff val="25000"/>
                  </a:schemeClr>
                </a:solidFill>
              </a:rPr>
              <a:t>diferite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din </a:t>
            </a:r>
            <a:r>
              <a:rPr lang="en-US" b="1" err="1">
                <a:solidFill>
                  <a:schemeClr val="tx2">
                    <a:lumMod val="75000"/>
                    <a:lumOff val="25000"/>
                  </a:schemeClr>
                </a:solidFill>
              </a:rPr>
              <a:t>setul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de </a:t>
            </a:r>
            <a:r>
              <a:rPr lang="en-US" b="1" err="1">
                <a:solidFill>
                  <a:schemeClr val="tx2">
                    <a:lumMod val="75000"/>
                    <a:lumOff val="25000"/>
                  </a:schemeClr>
                </a:solidFill>
              </a:rPr>
              <a:t>antrenare</a:t>
            </a:r>
            <a:endParaRPr lang="en-US" b="1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 descr="A diagram of training set&#10;&#10;Description automatically generated">
            <a:extLst>
              <a:ext uri="{FF2B5EF4-FFF2-40B4-BE49-F238E27FC236}">
                <a16:creationId xmlns:a16="http://schemas.microsoft.com/office/drawing/2014/main" id="{66409F13-F3A9-7650-94AB-F7392C154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314" y="1737473"/>
            <a:ext cx="8254252" cy="443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472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3CB5-9A48-8B29-6716-29B68BB93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8B954-C340-ED70-E7C7-55E4AC0DA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Bagging </a:t>
            </a:r>
            <a:r>
              <a:rPr lang="en-US" dirty="0"/>
              <a:t>– </a:t>
            </a:r>
            <a:r>
              <a:rPr lang="en-US" err="1"/>
              <a:t>subsetul</a:t>
            </a:r>
            <a:r>
              <a:rPr lang="en-US" dirty="0"/>
              <a:t> e ales </a:t>
            </a:r>
            <a:r>
              <a:rPr lang="en-US" err="1"/>
              <a:t>aleator</a:t>
            </a:r>
            <a:r>
              <a:rPr lang="en-US" dirty="0"/>
              <a:t>; un </a:t>
            </a:r>
            <a:r>
              <a:rPr lang="en-US" err="1"/>
              <a:t>exemplu</a:t>
            </a:r>
            <a:r>
              <a:rPr lang="en-US" dirty="0"/>
              <a:t> ales e pus </a:t>
            </a:r>
            <a:r>
              <a:rPr lang="en-US" err="1"/>
              <a:t>inapoi</a:t>
            </a:r>
            <a:r>
              <a:rPr lang="en-US" dirty="0"/>
              <a:t> (</a:t>
            </a:r>
            <a:r>
              <a:rPr lang="en-US" err="1"/>
              <a:t>deci</a:t>
            </a:r>
            <a:r>
              <a:rPr lang="en-US" dirty="0"/>
              <a:t> </a:t>
            </a:r>
            <a:r>
              <a:rPr lang="en-US" err="1"/>
              <a:t>poate</a:t>
            </a:r>
            <a:r>
              <a:rPr lang="en-US" dirty="0"/>
              <a:t> fi ales de </a:t>
            </a:r>
            <a:r>
              <a:rPr lang="en-US" err="1"/>
              <a:t>mai</a:t>
            </a:r>
            <a:r>
              <a:rPr lang="en-US" dirty="0"/>
              <a:t> </a:t>
            </a:r>
            <a:r>
              <a:rPr lang="en-US" err="1"/>
              <a:t>multe</a:t>
            </a:r>
            <a:r>
              <a:rPr lang="en-US" dirty="0"/>
              <a:t> </a:t>
            </a:r>
            <a:r>
              <a:rPr lang="en-US" err="1"/>
              <a:t>ori</a:t>
            </a:r>
            <a:r>
              <a:rPr lang="en-US" dirty="0"/>
              <a:t> pt un subset)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Bootstrap aggregating</a:t>
            </a:r>
          </a:p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Pasting </a:t>
            </a:r>
            <a:r>
              <a:rPr lang="en-US" dirty="0"/>
              <a:t>– </a:t>
            </a:r>
            <a:r>
              <a:rPr lang="en-US" err="1"/>
              <a:t>subsetul</a:t>
            </a:r>
            <a:r>
              <a:rPr lang="en-US" dirty="0"/>
              <a:t> e ales </a:t>
            </a:r>
            <a:r>
              <a:rPr lang="en-US" err="1"/>
              <a:t>aleator</a:t>
            </a:r>
            <a:r>
              <a:rPr lang="en-US" dirty="0"/>
              <a:t>; un </a:t>
            </a:r>
            <a:r>
              <a:rPr lang="en-US" err="1"/>
              <a:t>exemplu</a:t>
            </a:r>
            <a:r>
              <a:rPr lang="en-US" dirty="0"/>
              <a:t> </a:t>
            </a:r>
            <a:r>
              <a:rPr lang="en-US" err="1"/>
              <a:t>poate</a:t>
            </a:r>
            <a:r>
              <a:rPr lang="en-US" dirty="0"/>
              <a:t> fi ales o </a:t>
            </a:r>
            <a:r>
              <a:rPr lang="en-US" err="1"/>
              <a:t>singura</a:t>
            </a:r>
            <a:r>
              <a:rPr lang="en-US" dirty="0"/>
              <a:t> data</a:t>
            </a:r>
          </a:p>
          <a:p>
            <a:r>
              <a:rPr lang="en-US" err="1"/>
              <a:t>Agregarea</a:t>
            </a:r>
            <a:r>
              <a:rPr lang="en-US" dirty="0"/>
              <a:t> </a:t>
            </a:r>
            <a:r>
              <a:rPr lang="en-US" err="1"/>
              <a:t>predictiilor</a:t>
            </a:r>
            <a:r>
              <a:rPr lang="en-US" dirty="0"/>
              <a:t>: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cea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frecventa</a:t>
            </a:r>
            <a:r>
              <a:rPr lang="en-US" dirty="0"/>
              <a:t> pt </a:t>
            </a:r>
            <a:r>
              <a:rPr lang="en-US" dirty="0" err="1"/>
              <a:t>clasificare</a:t>
            </a:r>
            <a:r>
              <a:rPr lang="en-US" dirty="0"/>
              <a:t> (similar cu hard voting)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media </a:t>
            </a:r>
            <a:r>
              <a:rPr lang="en-US" dirty="0" err="1"/>
              <a:t>valorilor</a:t>
            </a:r>
            <a:r>
              <a:rPr lang="en-US" dirty="0"/>
              <a:t> pt </a:t>
            </a:r>
            <a:r>
              <a:rPr lang="en-US" dirty="0" err="1"/>
              <a:t>regresie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Ponderat</a:t>
            </a:r>
            <a:r>
              <a:rPr lang="en-US" dirty="0"/>
              <a:t> cu </a:t>
            </a:r>
            <a:r>
              <a:rPr lang="en-US" dirty="0" err="1"/>
              <a:t>probabilitate</a:t>
            </a:r>
            <a:r>
              <a:rPr lang="en-US" dirty="0"/>
              <a:t> (similar cu soft voting)</a:t>
            </a:r>
          </a:p>
          <a:p>
            <a:r>
              <a:rPr lang="en-US" dirty="0"/>
              <a:t>Bagging &amp; pasting – </a:t>
            </a:r>
            <a:r>
              <a:rPr lang="en-US" err="1"/>
              <a:t>scalare</a:t>
            </a:r>
            <a:r>
              <a:rPr lang="en-US" dirty="0"/>
              <a:t> f buna; </a:t>
            </a:r>
            <a:r>
              <a:rPr lang="en-US" err="1"/>
              <a:t>membrii</a:t>
            </a:r>
            <a:r>
              <a:rPr lang="en-US" dirty="0"/>
              <a:t> </a:t>
            </a:r>
            <a:r>
              <a:rPr lang="en-US" err="1"/>
              <a:t>ansamblui</a:t>
            </a:r>
            <a:r>
              <a:rPr lang="en-US" dirty="0"/>
              <a:t> pot fi </a:t>
            </a:r>
            <a:r>
              <a:rPr lang="en-US" err="1"/>
              <a:t>antrenati</a:t>
            </a:r>
            <a:r>
              <a:rPr lang="en-US" dirty="0"/>
              <a:t> in </a:t>
            </a:r>
            <a:r>
              <a:rPr lang="en-US" err="1"/>
              <a:t>paralel</a:t>
            </a:r>
            <a:endParaRPr lang="en-US"/>
          </a:p>
          <a:p>
            <a:r>
              <a:rPr lang="en-US" dirty="0"/>
              <a:t>IN general Bagging da </a:t>
            </a:r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bune</a:t>
            </a:r>
            <a:r>
              <a:rPr lang="en-US" dirty="0"/>
              <a:t> (</a:t>
            </a:r>
            <a:r>
              <a:rPr lang="en-US" dirty="0" err="1"/>
              <a:t>erorile</a:t>
            </a:r>
            <a:r>
              <a:rPr lang="en-US" dirty="0"/>
              <a:t> </a:t>
            </a:r>
            <a:r>
              <a:rPr lang="en-US" dirty="0" err="1"/>
              <a:t>facute</a:t>
            </a:r>
            <a:r>
              <a:rPr lang="en-US" dirty="0"/>
              <a:t> de </a:t>
            </a:r>
            <a:r>
              <a:rPr lang="en-US" dirty="0" err="1"/>
              <a:t>fiecare</a:t>
            </a:r>
            <a:r>
              <a:rPr lang="en-US" dirty="0"/>
              <a:t> learning sunt </a:t>
            </a:r>
            <a:r>
              <a:rPr lang="en-US" dirty="0" err="1"/>
              <a:t>mai</a:t>
            </a:r>
            <a:r>
              <a:rPr lang="en-US" dirty="0"/>
              <a:t> variate) 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740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37B8F-F1AE-1EED-5AC6-3D382EE09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641" y="368860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Bagging </a:t>
            </a:r>
            <a:r>
              <a:rPr lang="en-US" err="1"/>
              <a:t>si</a:t>
            </a:r>
            <a:r>
              <a:rPr lang="en-US" dirty="0"/>
              <a:t> pasting </a:t>
            </a:r>
            <a:r>
              <a:rPr lang="en-US" err="1"/>
              <a:t>reduc</a:t>
            </a:r>
            <a:r>
              <a:rPr lang="en-US" dirty="0"/>
              <a:t> </a:t>
            </a:r>
            <a:r>
              <a:rPr lang="en-US" err="1"/>
              <a:t>varianta</a:t>
            </a:r>
            <a:endParaRPr lang="en-US"/>
          </a:p>
          <a:p>
            <a:r>
              <a:rPr lang="en-US" dirty="0"/>
              <a:t>Bagging introduce bias </a:t>
            </a:r>
            <a:r>
              <a:rPr lang="en-US" err="1"/>
              <a:t>mai</a:t>
            </a:r>
            <a:r>
              <a:rPr lang="en-US" dirty="0"/>
              <a:t> mare </a:t>
            </a:r>
            <a:r>
              <a:rPr lang="en-US" err="1"/>
              <a:t>decat</a:t>
            </a:r>
            <a:r>
              <a:rPr lang="en-US" dirty="0"/>
              <a:t> pasting, </a:t>
            </a:r>
            <a:r>
              <a:rPr lang="en-US" b="1" err="1"/>
              <a:t>dar</a:t>
            </a:r>
            <a:endParaRPr lang="en-US" b="1"/>
          </a:p>
          <a:p>
            <a:r>
              <a:rPr lang="en-US" b="1" dirty="0" err="1"/>
              <a:t>Diversitatea</a:t>
            </a:r>
            <a:r>
              <a:rPr lang="en-US" b="1" dirty="0"/>
              <a:t> e </a:t>
            </a:r>
            <a:r>
              <a:rPr lang="en-US" b="1" dirty="0" err="1"/>
              <a:t>mai</a:t>
            </a:r>
            <a:r>
              <a:rPr lang="en-US" b="1" dirty="0"/>
              <a:t> mare la bagging </a:t>
            </a:r>
            <a:r>
              <a:rPr lang="en-US" b="1" dirty="0" err="1"/>
              <a:t>decat</a:t>
            </a:r>
            <a:r>
              <a:rPr lang="en-US" b="1" dirty="0"/>
              <a:t> la pasting, </a:t>
            </a:r>
            <a:r>
              <a:rPr lang="en-US" b="1" dirty="0" err="1"/>
              <a:t>deci</a:t>
            </a:r>
            <a:r>
              <a:rPr lang="en-US" b="1" dirty="0"/>
              <a:t> </a:t>
            </a:r>
            <a:r>
              <a:rPr lang="en-US" b="1" dirty="0" err="1"/>
              <a:t>si</a:t>
            </a:r>
            <a:r>
              <a:rPr lang="en-US" b="1" dirty="0"/>
              <a:t> </a:t>
            </a:r>
            <a:r>
              <a:rPr lang="en-US" b="1" dirty="0" err="1"/>
              <a:t>predictiile</a:t>
            </a:r>
            <a:r>
              <a:rPr lang="en-US" b="1" dirty="0"/>
              <a:t> sunt </a:t>
            </a:r>
            <a:r>
              <a:rPr lang="en-US" b="1" dirty="0" err="1"/>
              <a:t>mai</a:t>
            </a:r>
            <a:r>
              <a:rPr lang="en-US" b="1" dirty="0"/>
              <a:t> </a:t>
            </a:r>
            <a:r>
              <a:rPr lang="en-US" b="1" dirty="0" err="1"/>
              <a:t>putin</a:t>
            </a:r>
            <a:r>
              <a:rPr lang="en-US" b="1" dirty="0"/>
              <a:t> corelate -&gt; </a:t>
            </a:r>
            <a:r>
              <a:rPr lang="en-US" b="1" dirty="0" err="1"/>
              <a:t>varianta</a:t>
            </a:r>
            <a:r>
              <a:rPr lang="en-US" b="1" dirty="0"/>
              <a:t> </a:t>
            </a:r>
            <a:r>
              <a:rPr lang="en-US" b="1" dirty="0" err="1"/>
              <a:t>ansamblui</a:t>
            </a:r>
            <a:r>
              <a:rPr lang="en-US" b="1" dirty="0"/>
              <a:t> e </a:t>
            </a:r>
            <a:r>
              <a:rPr lang="en-US" b="1" dirty="0" err="1"/>
              <a:t>redusa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79E9EC-66A4-CB18-6EC0-49CBD18D6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164" y="2707341"/>
            <a:ext cx="8896349" cy="380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580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FBAE2-613D-E8C2-F41A-3BF5EF97A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Out-of</a:t>
            </a:r>
            <a:r>
              <a:rPr lang="en-US" dirty="0"/>
              <a:t> bag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B7C35-D98C-0CCA-40A1-4E34EB5E6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Cu bagging </a:t>
            </a:r>
            <a:r>
              <a:rPr lang="en-US" err="1"/>
              <a:t>si</a:t>
            </a:r>
            <a:r>
              <a:rPr lang="en-US" dirty="0"/>
              <a:t> pasting, </a:t>
            </a:r>
            <a:r>
              <a:rPr lang="en-US" err="1"/>
              <a:t>datele</a:t>
            </a:r>
            <a:r>
              <a:rPr lang="en-US" dirty="0"/>
              <a:t> </a:t>
            </a:r>
            <a:r>
              <a:rPr lang="en-US" err="1"/>
              <a:t>nealese</a:t>
            </a:r>
            <a:r>
              <a:rPr lang="en-US" dirty="0"/>
              <a:t> in subset pot fi </a:t>
            </a:r>
            <a:r>
              <a:rPr lang="en-US" err="1"/>
              <a:t>folosite</a:t>
            </a:r>
            <a:r>
              <a:rPr lang="en-US" dirty="0"/>
              <a:t> </a:t>
            </a:r>
            <a:r>
              <a:rPr lang="en-US" err="1"/>
              <a:t>drept</a:t>
            </a:r>
            <a:r>
              <a:rPr lang="en-US" dirty="0"/>
              <a:t> date de </a:t>
            </a:r>
            <a:r>
              <a:rPr lang="en-US" err="1"/>
              <a:t>validare</a:t>
            </a:r>
            <a:r>
              <a:rPr lang="en-US" dirty="0"/>
              <a:t> –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out of bag (</a:t>
            </a:r>
            <a:r>
              <a:rPr lang="en-US" err="1">
                <a:solidFill>
                  <a:schemeClr val="tx2">
                    <a:lumMod val="75000"/>
                    <a:lumOff val="25000"/>
                  </a:schemeClr>
                </a:solidFill>
              </a:rPr>
              <a:t>oob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  <a:r>
              <a:rPr lang="en-US" dirty="0"/>
              <a:t> instances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238DC8-9265-EBC2-2FB1-681E31121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79" y="3090863"/>
            <a:ext cx="4791075" cy="1292599"/>
          </a:xfrm>
          <a:prstGeom prst="rect">
            <a:avLst/>
          </a:prstGeom>
        </p:spPr>
      </p:pic>
      <p:pic>
        <p:nvPicPr>
          <p:cNvPr id="5" name="Picture 4" descr="A screenshot of a training&#10;&#10;Description automatically generated">
            <a:extLst>
              <a:ext uri="{FF2B5EF4-FFF2-40B4-BE49-F238E27FC236}">
                <a16:creationId xmlns:a16="http://schemas.microsoft.com/office/drawing/2014/main" id="{9C269B3F-9E6C-19E9-7FAE-0EFAAD354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206" y="2758888"/>
            <a:ext cx="60960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93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1CCB8-750F-EEB6-106F-5A5B7762B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3799A-537F-B051-83EA-2DB8F8E84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Random patches </a:t>
            </a:r>
            <a:r>
              <a:rPr lang="en-US" dirty="0"/>
              <a:t>– </a:t>
            </a:r>
            <a:r>
              <a:rPr lang="en-US" dirty="0">
                <a:latin typeface="Arial"/>
                <a:cs typeface="Arial"/>
              </a:rPr>
              <a:t>se face sampling </a:t>
            </a:r>
            <a:r>
              <a:rPr lang="en-US" dirty="0" err="1">
                <a:latin typeface="Arial"/>
                <a:cs typeface="Arial"/>
              </a:rPr>
              <a:t>atat</a:t>
            </a:r>
            <a:r>
              <a:rPr lang="en-US" dirty="0">
                <a:latin typeface="Arial"/>
                <a:cs typeface="Arial"/>
              </a:rPr>
              <a:t> pe </a:t>
            </a:r>
            <a:r>
              <a:rPr lang="en-US" dirty="0" err="1">
                <a:latin typeface="Arial"/>
                <a:cs typeface="Arial"/>
              </a:rPr>
              <a:t>instante</a:t>
            </a:r>
            <a:r>
              <a:rPr lang="en-US" dirty="0">
                <a:latin typeface="Arial"/>
                <a:cs typeface="Arial"/>
              </a:rPr>
              <a:t> cat </a:t>
            </a:r>
            <a:r>
              <a:rPr lang="en-US" dirty="0" err="1">
                <a:latin typeface="Arial"/>
                <a:cs typeface="Arial"/>
              </a:rPr>
              <a:t>si</a:t>
            </a:r>
            <a:r>
              <a:rPr lang="en-US" dirty="0">
                <a:latin typeface="Arial"/>
                <a:cs typeface="Arial"/>
              </a:rPr>
              <a:t> pe </a:t>
            </a:r>
            <a:r>
              <a:rPr lang="en-US" dirty="0" err="1">
                <a:latin typeface="Arial"/>
                <a:cs typeface="Arial"/>
              </a:rPr>
              <a:t>atribute</a:t>
            </a:r>
            <a:r>
              <a:rPr lang="en-US" dirty="0">
                <a:latin typeface="Arial"/>
                <a:cs typeface="Arial"/>
              </a:rPr>
              <a:t> </a:t>
            </a:r>
          </a:p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Random subspaces</a:t>
            </a:r>
            <a:r>
              <a:rPr lang="en-US" dirty="0"/>
              <a:t> – </a:t>
            </a:r>
            <a:r>
              <a:rPr lang="en-US" dirty="0">
                <a:ea typeface="+mn-lt"/>
                <a:cs typeface="+mn-lt"/>
              </a:rPr>
              <a:t>se </a:t>
            </a:r>
            <a:r>
              <a:rPr lang="en-US" err="1">
                <a:ea typeface="+mn-lt"/>
                <a:cs typeface="+mn-lt"/>
              </a:rPr>
              <a:t>antreneaza</a:t>
            </a:r>
            <a:r>
              <a:rPr lang="en-US" dirty="0">
                <a:ea typeface="+mn-lt"/>
                <a:cs typeface="+mn-lt"/>
              </a:rPr>
              <a:t> pe </a:t>
            </a:r>
            <a:r>
              <a:rPr lang="en-US" err="1">
                <a:ea typeface="+mn-lt"/>
                <a:cs typeface="+mn-lt"/>
              </a:rPr>
              <a:t>toate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instantele</a:t>
            </a:r>
            <a:r>
              <a:rPr lang="en-US" dirty="0">
                <a:ea typeface="+mn-lt"/>
                <a:cs typeface="+mn-lt"/>
              </a:rPr>
              <a:t> de train, </a:t>
            </a:r>
            <a:r>
              <a:rPr lang="en-US" err="1">
                <a:ea typeface="+mn-lt"/>
                <a:cs typeface="+mn-lt"/>
              </a:rPr>
              <a:t>dar</a:t>
            </a:r>
            <a:r>
              <a:rPr lang="en-US" dirty="0">
                <a:ea typeface="+mn-lt"/>
                <a:cs typeface="+mn-lt"/>
              </a:rPr>
              <a:t> se </a:t>
            </a:r>
            <a:r>
              <a:rPr lang="en-US" err="1">
                <a:ea typeface="+mn-lt"/>
                <a:cs typeface="+mn-lt"/>
              </a:rPr>
              <a:t>selecteaza</a:t>
            </a:r>
            <a:r>
              <a:rPr lang="en-US" dirty="0">
                <a:ea typeface="+mn-lt"/>
                <a:cs typeface="+mn-lt"/>
              </a:rPr>
              <a:t> subset de </a:t>
            </a:r>
            <a:r>
              <a:rPr lang="en-US" err="1">
                <a:ea typeface="+mn-lt"/>
                <a:cs typeface="+mn-lt"/>
              </a:rPr>
              <a:t>atribute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744644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A4B42-D458-B348-2A97-FDC1401DC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Random Forests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8F13F-0BD2-3888-C693-F906589EC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Ansamblu</a:t>
            </a:r>
            <a:r>
              <a:rPr lang="en-US" dirty="0"/>
              <a:t> de </a:t>
            </a:r>
            <a:r>
              <a:rPr lang="en-US" dirty="0" err="1"/>
              <a:t>arbori</a:t>
            </a:r>
            <a:r>
              <a:rPr lang="en-US" dirty="0"/>
              <a:t> de </a:t>
            </a:r>
            <a:r>
              <a:rPr lang="en-US" dirty="0" err="1"/>
              <a:t>decizie</a:t>
            </a:r>
            <a:endParaRPr lang="en-US" dirty="0"/>
          </a:p>
          <a:p>
            <a:r>
              <a:rPr lang="en-US" err="1"/>
              <a:t>Antrenati</a:t>
            </a:r>
            <a:r>
              <a:rPr lang="en-US" dirty="0"/>
              <a:t> de </a:t>
            </a:r>
            <a:r>
              <a:rPr lang="en-US" err="1"/>
              <a:t>obicei</a:t>
            </a:r>
            <a:r>
              <a:rPr lang="en-US" dirty="0"/>
              <a:t> cu bagging</a:t>
            </a:r>
          </a:p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Doar un subset random de </a:t>
            </a:r>
            <a:r>
              <a:rPr lang="en-US" b="1" err="1">
                <a:solidFill>
                  <a:schemeClr val="tx2">
                    <a:lumMod val="75000"/>
                    <a:lumOff val="25000"/>
                  </a:schemeClr>
                </a:solidFill>
              </a:rPr>
              <a:t>caracteristici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sunt considerate la </a:t>
            </a:r>
            <a:r>
              <a:rPr lang="en-US" b="1" err="1">
                <a:solidFill>
                  <a:schemeClr val="tx2">
                    <a:lumMod val="75000"/>
                    <a:lumOff val="25000"/>
                  </a:schemeClr>
                </a:solidFill>
              </a:rPr>
              <a:t>fiecare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split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Feature importance</a:t>
            </a:r>
            <a:r>
              <a:rPr lang="en-US" dirty="0"/>
              <a:t> </a:t>
            </a:r>
          </a:p>
        </p:txBody>
      </p:sp>
      <p:pic>
        <p:nvPicPr>
          <p:cNvPr id="4" name="Picture 3" descr="A diagram of a diagram&#10;&#10;Description automatically generated">
            <a:extLst>
              <a:ext uri="{FF2B5EF4-FFF2-40B4-BE49-F238E27FC236}">
                <a16:creationId xmlns:a16="http://schemas.microsoft.com/office/drawing/2014/main" id="{E9E12398-023E-D327-3BE2-8F1C9C4D2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572" y="3830170"/>
            <a:ext cx="5391150" cy="2514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0FC0CB-2E73-89B7-D492-8BE1AB1A9CF5}"/>
              </a:ext>
            </a:extLst>
          </p:cNvPr>
          <p:cNvSpPr txBox="1"/>
          <p:nvPr/>
        </p:nvSpPr>
        <p:spPr>
          <a:xfrm>
            <a:off x="9469294" y="4003182"/>
            <a:ext cx="235431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linkClick r:id="rId3"/>
              </a:rPr>
              <a:t>Curs google for random forest</a:t>
            </a: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306300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9346-AC3E-8C07-9A3C-1D2D3D655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Boosting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B3D9C-BE83-4205-3C8E-6364EAF07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Metoda</a:t>
            </a:r>
            <a:r>
              <a:rPr lang="en-US" dirty="0"/>
              <a:t> de </a:t>
            </a:r>
            <a:r>
              <a:rPr lang="en-US" dirty="0" err="1"/>
              <a:t>construire</a:t>
            </a:r>
            <a:r>
              <a:rPr lang="en-US" dirty="0"/>
              <a:t> de </a:t>
            </a:r>
            <a:r>
              <a:rPr lang="en-US" dirty="0" err="1"/>
              <a:t>ansamblu</a:t>
            </a:r>
            <a:r>
              <a:rPr lang="en-US" dirty="0"/>
              <a:t> </a:t>
            </a:r>
            <a:r>
              <a:rPr lang="en-US" b="1" dirty="0" err="1"/>
              <a:t>secvential</a:t>
            </a:r>
          </a:p>
          <a:p>
            <a:r>
              <a:rPr lang="en-US" dirty="0" err="1"/>
              <a:t>Fiecare</a:t>
            </a:r>
            <a:r>
              <a:rPr lang="en-US" dirty="0"/>
              <a:t> learner </a:t>
            </a:r>
            <a:r>
              <a:rPr lang="en-US" dirty="0" err="1"/>
              <a:t>incearca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corecteze</a:t>
            </a:r>
            <a:r>
              <a:rPr lang="en-US" dirty="0"/>
              <a:t> </a:t>
            </a:r>
            <a:r>
              <a:rPr lang="en-US" dirty="0" err="1"/>
              <a:t>erorile</a:t>
            </a:r>
            <a:r>
              <a:rPr lang="en-US" dirty="0"/>
              <a:t> </a:t>
            </a:r>
            <a:r>
              <a:rPr lang="en-US" dirty="0" err="1"/>
              <a:t>predecesorului</a:t>
            </a:r>
          </a:p>
        </p:txBody>
      </p:sp>
    </p:spTree>
    <p:extLst>
      <p:ext uri="{BB962C8B-B14F-4D97-AF65-F5344CB8AC3E}">
        <p14:creationId xmlns:p14="http://schemas.microsoft.com/office/powerpoint/2010/main" val="1405144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E08A7-FBB5-9F1A-6F3A-8EA2AA3D4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4A. Ada boost</a:t>
            </a:r>
          </a:p>
        </p:txBody>
      </p:sp>
      <p:pic>
        <p:nvPicPr>
          <p:cNvPr id="4" name="Content Placeholder 3" descr="A diagram of a training&#10;&#10;Description automatically generated">
            <a:extLst>
              <a:ext uri="{FF2B5EF4-FFF2-40B4-BE49-F238E27FC236}">
                <a16:creationId xmlns:a16="http://schemas.microsoft.com/office/drawing/2014/main" id="{70352502-33CC-914A-B008-2AC160CDF9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993" y="1332566"/>
            <a:ext cx="7811692" cy="491163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21B7E9-806B-BCE4-3420-2CFBBE98C5E0}"/>
              </a:ext>
            </a:extLst>
          </p:cNvPr>
          <p:cNvSpPr txBox="1"/>
          <p:nvPr/>
        </p:nvSpPr>
        <p:spPr>
          <a:xfrm>
            <a:off x="8441900" y="1328506"/>
            <a:ext cx="3430572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Se </a:t>
            </a:r>
            <a:r>
              <a:rPr lang="en-US" dirty="0" err="1"/>
              <a:t>antreneaza</a:t>
            </a:r>
            <a:r>
              <a:rPr lang="en-US" dirty="0"/>
              <a:t> un learner</a:t>
            </a:r>
          </a:p>
          <a:p>
            <a:pPr marL="342900" indent="-342900">
              <a:buAutoNum type="arabicPeriod"/>
            </a:pPr>
            <a:r>
              <a:rPr lang="en-US" dirty="0"/>
              <a:t>Se </a:t>
            </a:r>
            <a:r>
              <a:rPr lang="en-US" dirty="0" err="1"/>
              <a:t>aplica</a:t>
            </a:r>
            <a:r>
              <a:rPr lang="en-US" dirty="0"/>
              <a:t> learner pe </a:t>
            </a:r>
            <a:r>
              <a:rPr lang="en-US" dirty="0" err="1"/>
              <a:t>instantele</a:t>
            </a:r>
            <a:r>
              <a:rPr lang="en-US" dirty="0"/>
              <a:t> de train</a:t>
            </a:r>
          </a:p>
          <a:p>
            <a:pPr marL="342900" indent="-342900">
              <a:buAutoNum type="arabicPeriod"/>
            </a:pPr>
            <a:r>
              <a:rPr lang="en-US" dirty="0"/>
              <a:t>Pt </a:t>
            </a:r>
            <a:r>
              <a:rPr lang="en-US" dirty="0" err="1"/>
              <a:t>Instantele</a:t>
            </a:r>
            <a:r>
              <a:rPr lang="en-US" dirty="0"/>
              <a:t> care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gresite</a:t>
            </a:r>
            <a:r>
              <a:rPr lang="en-US" dirty="0"/>
              <a:t> se </a:t>
            </a:r>
            <a:r>
              <a:rPr lang="en-US" dirty="0" err="1"/>
              <a:t>creste</a:t>
            </a:r>
            <a:r>
              <a:rPr lang="en-US" dirty="0"/>
              <a:t> </a:t>
            </a:r>
            <a:r>
              <a:rPr lang="en-US" dirty="0" err="1"/>
              <a:t>ponderea</a:t>
            </a:r>
            <a:r>
              <a:rPr lang="en-US" dirty="0"/>
              <a:t>, pt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corect</a:t>
            </a:r>
            <a:r>
              <a:rPr lang="en-US" dirty="0"/>
              <a:t> </a:t>
            </a:r>
            <a:r>
              <a:rPr lang="en-US" dirty="0" err="1"/>
              <a:t>prezise</a:t>
            </a:r>
            <a:r>
              <a:rPr lang="en-US" dirty="0"/>
              <a:t>, se </a:t>
            </a:r>
            <a:r>
              <a:rPr lang="en-US" dirty="0" err="1"/>
              <a:t>scade</a:t>
            </a:r>
          </a:p>
          <a:p>
            <a:pPr marL="342900" indent="-342900">
              <a:buAutoNum type="arabicPeriod"/>
            </a:pPr>
            <a:r>
              <a:rPr lang="en-US" dirty="0"/>
              <a:t>Se </a:t>
            </a:r>
            <a:r>
              <a:rPr lang="en-US" dirty="0" err="1"/>
              <a:t>antreneaza</a:t>
            </a:r>
            <a:r>
              <a:rPr lang="en-US" dirty="0"/>
              <a:t> un </a:t>
            </a:r>
            <a:r>
              <a:rPr lang="en-US" dirty="0" err="1"/>
              <a:t>nou</a:t>
            </a:r>
            <a:r>
              <a:rPr lang="en-US" dirty="0"/>
              <a:t> learner cu </a:t>
            </a:r>
            <a:r>
              <a:rPr lang="en-US" dirty="0" err="1"/>
              <a:t>noile</a:t>
            </a:r>
            <a:r>
              <a:rPr lang="en-US" dirty="0"/>
              <a:t> weights pt </a:t>
            </a:r>
            <a:r>
              <a:rPr lang="en-US" dirty="0" err="1"/>
              <a:t>instante</a:t>
            </a:r>
          </a:p>
          <a:p>
            <a:pPr marL="342900" indent="-342900">
              <a:buAutoNum type="arabicPeriod"/>
            </a:pPr>
            <a:endParaRPr lang="en-US" dirty="0"/>
          </a:p>
          <a:p>
            <a:endParaRPr lang="en-US" dirty="0"/>
          </a:p>
          <a:p>
            <a:r>
              <a:rPr lang="en-US" dirty="0"/>
              <a:t>-&gt; </a:t>
            </a:r>
            <a:r>
              <a:rPr lang="en-US" dirty="0" err="1"/>
              <a:t>Instantele</a:t>
            </a:r>
            <a:r>
              <a:rPr lang="en-US" dirty="0"/>
              <a:t> au weights care se </a:t>
            </a:r>
            <a:r>
              <a:rPr lang="en-US" dirty="0" err="1"/>
              <a:t>actualizeaza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antrenament</a:t>
            </a:r>
            <a:r>
              <a:rPr lang="en-US" dirty="0"/>
              <a:t> al </a:t>
            </a:r>
            <a:r>
              <a:rPr lang="en-US" dirty="0" err="1"/>
              <a:t>unui</a:t>
            </a:r>
            <a:r>
              <a:rPr lang="en-US" dirty="0"/>
              <a:t> learner</a:t>
            </a:r>
          </a:p>
          <a:p>
            <a:endParaRPr lang="en-US" b="1" dirty="0"/>
          </a:p>
          <a:p>
            <a:r>
              <a:rPr lang="en-US" b="1" dirty="0" err="1"/>
              <a:t>Decizia</a:t>
            </a:r>
            <a:r>
              <a:rPr lang="en-US" b="1" dirty="0"/>
              <a:t> – </a:t>
            </a:r>
            <a:r>
              <a:rPr lang="en-US" b="1" dirty="0" err="1"/>
              <a:t>fiecare</a:t>
            </a:r>
            <a:r>
              <a:rPr lang="en-US" b="1" dirty="0"/>
              <a:t> learner are o </a:t>
            </a:r>
            <a:r>
              <a:rPr lang="en-US" b="1" dirty="0" err="1"/>
              <a:t>alta</a:t>
            </a:r>
            <a:r>
              <a:rPr lang="en-US" b="1" dirty="0"/>
              <a:t> </a:t>
            </a:r>
            <a:r>
              <a:rPr lang="en-US" b="1" dirty="0" err="1"/>
              <a:t>pondere</a:t>
            </a:r>
            <a:r>
              <a:rPr lang="en-US" b="1" dirty="0"/>
              <a:t>, in </a:t>
            </a:r>
            <a:r>
              <a:rPr lang="en-US" b="1" dirty="0" err="1"/>
              <a:t>functie</a:t>
            </a:r>
            <a:r>
              <a:rPr lang="en-US" b="1" dirty="0"/>
              <a:t> de </a:t>
            </a:r>
            <a:r>
              <a:rPr lang="en-US" b="1" dirty="0" err="1"/>
              <a:t>calitatea</a:t>
            </a:r>
            <a:r>
              <a:rPr lang="en-US" b="1" dirty="0"/>
              <a:t> </a:t>
            </a:r>
            <a:r>
              <a:rPr lang="en-US" b="1" dirty="0" err="1"/>
              <a:t>lui</a:t>
            </a:r>
            <a:r>
              <a:rPr lang="en-US" b="1" dirty="0"/>
              <a:t> pe </a:t>
            </a:r>
            <a:r>
              <a:rPr lang="en-US" b="1" dirty="0" err="1"/>
              <a:t>setul</a:t>
            </a:r>
            <a:r>
              <a:rPr lang="en-US" b="1" dirty="0"/>
              <a:t> de train cu weights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510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0007C-5B9F-C89D-EB2C-3BC023E07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DF8E493-3325-DB0A-7E02-F1A6F7EB74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3157" y="368908"/>
            <a:ext cx="7970744" cy="3432361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4B584E-A7C4-0D5B-223F-C3F27417DE7D}"/>
              </a:ext>
            </a:extLst>
          </p:cNvPr>
          <p:cNvSpPr txBox="1"/>
          <p:nvPr/>
        </p:nvSpPr>
        <p:spPr>
          <a:xfrm>
            <a:off x="852049" y="4271399"/>
            <a:ext cx="919152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err="1"/>
              <a:t>Asemanare</a:t>
            </a:r>
            <a:r>
              <a:rPr lang="en-US" dirty="0"/>
              <a:t> cu Gradient Descent , </a:t>
            </a:r>
            <a:r>
              <a:rPr lang="en-US" b="1" err="1"/>
              <a:t>dar</a:t>
            </a:r>
            <a:r>
              <a:rPr lang="en-US" b="1" dirty="0"/>
              <a:t> la </a:t>
            </a:r>
            <a:r>
              <a:rPr lang="en-US" b="1" err="1"/>
              <a:t>fiecare</a:t>
            </a:r>
            <a:r>
              <a:rPr lang="en-US" b="1" dirty="0"/>
              <a:t> </a:t>
            </a:r>
            <a:r>
              <a:rPr lang="en-US" b="1" err="1"/>
              <a:t>iteratie</a:t>
            </a:r>
            <a:r>
              <a:rPr lang="en-US" b="1" dirty="0"/>
              <a:t>, </a:t>
            </a:r>
          </a:p>
          <a:p>
            <a:r>
              <a:rPr lang="en-US" dirty="0"/>
              <a:t> - AdaBoost </a:t>
            </a:r>
            <a:r>
              <a:rPr lang="en-US" dirty="0" err="1"/>
              <a:t>adauga</a:t>
            </a:r>
            <a:r>
              <a:rPr lang="en-US" dirty="0"/>
              <a:t> un nou learner </a:t>
            </a:r>
          </a:p>
          <a:p>
            <a:r>
              <a:rPr lang="en-US" dirty="0"/>
              <a:t>    - Gradient Descent </a:t>
            </a:r>
            <a:r>
              <a:rPr lang="en-US" dirty="0" err="1"/>
              <a:t>modifica</a:t>
            </a:r>
            <a:r>
              <a:rPr lang="en-US" dirty="0"/>
              <a:t> </a:t>
            </a:r>
            <a:r>
              <a:rPr lang="en-US" dirty="0" err="1"/>
              <a:t>parametrii</a:t>
            </a:r>
            <a:r>
              <a:rPr lang="en-US" dirty="0"/>
              <a:t> pt un </a:t>
            </a:r>
            <a:r>
              <a:rPr lang="en-US" dirty="0" err="1"/>
              <a:t>singur</a:t>
            </a:r>
            <a:r>
              <a:rPr lang="en-US" dirty="0"/>
              <a:t> predictor pt a reduce </a:t>
            </a:r>
            <a:r>
              <a:rPr lang="en-US" dirty="0" err="1"/>
              <a:t>functia</a:t>
            </a:r>
            <a:r>
              <a:rPr lang="en-US" dirty="0"/>
              <a:t> de loss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AAB2FD-5504-79C7-FCA6-A8D7807ABABE}"/>
              </a:ext>
            </a:extLst>
          </p:cNvPr>
          <p:cNvSpPr txBox="1"/>
          <p:nvPr/>
        </p:nvSpPr>
        <p:spPr>
          <a:xfrm>
            <a:off x="850135" y="3907316"/>
            <a:ext cx="105284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Learning rate – controleaza cu cat se modifica ponderile instantelor dupa fiecare iteratie</a:t>
            </a:r>
          </a:p>
        </p:txBody>
      </p:sp>
    </p:spTree>
    <p:extLst>
      <p:ext uri="{BB962C8B-B14F-4D97-AF65-F5344CB8AC3E}">
        <p14:creationId xmlns:p14="http://schemas.microsoft.com/office/powerpoint/2010/main" val="2156491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91838255-847F-6591-8B5B-2D74E30DC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242" y="1283914"/>
            <a:ext cx="7267575" cy="19145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3CEB6B-9683-666D-5053-C2B8B7CA2622}"/>
              </a:ext>
            </a:extLst>
          </p:cNvPr>
          <p:cNvSpPr txBox="1"/>
          <p:nvPr/>
        </p:nvSpPr>
        <p:spPr>
          <a:xfrm>
            <a:off x="863237" y="504496"/>
            <a:ext cx="850017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Initial </a:t>
            </a:r>
            <a:r>
              <a:rPr lang="en-US" err="1"/>
              <a:t>toate</a:t>
            </a:r>
            <a:r>
              <a:rPr lang="en-US" dirty="0"/>
              <a:t> </a:t>
            </a:r>
            <a:r>
              <a:rPr lang="en-US" err="1"/>
              <a:t>instantele</a:t>
            </a:r>
            <a:r>
              <a:rPr lang="en-US" dirty="0"/>
              <a:t> au </a:t>
            </a:r>
            <a:r>
              <a:rPr lang="en-US" err="1"/>
              <a:t>pondere</a:t>
            </a:r>
            <a:r>
              <a:rPr lang="en-US" dirty="0"/>
              <a:t> 1/m; m </a:t>
            </a:r>
            <a:r>
              <a:rPr lang="en-US" err="1"/>
              <a:t>numarul</a:t>
            </a:r>
            <a:r>
              <a:rPr lang="en-US" dirty="0"/>
              <a:t> de </a:t>
            </a:r>
            <a:r>
              <a:rPr lang="en-US" err="1"/>
              <a:t>instante</a:t>
            </a:r>
            <a:endParaRPr lang="en-US"/>
          </a:p>
          <a:p>
            <a:pPr marL="342900" indent="-342900">
              <a:buAutoNum type="arabicPeriod"/>
            </a:pPr>
            <a:r>
              <a:rPr lang="en-US" dirty="0"/>
              <a:t>Weighted error rate al </a:t>
            </a:r>
            <a:r>
              <a:rPr lang="en-US" dirty="0" err="1"/>
              <a:t>predictorului</a:t>
            </a:r>
            <a:r>
              <a:rPr lang="en-US" dirty="0"/>
              <a:t> j: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E36D29-A3FF-A56F-B4F6-48B714DE43CD}"/>
              </a:ext>
            </a:extLst>
          </p:cNvPr>
          <p:cNvSpPr txBox="1"/>
          <p:nvPr/>
        </p:nvSpPr>
        <p:spPr>
          <a:xfrm>
            <a:off x="997786" y="3430556"/>
            <a:ext cx="995202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3. </a:t>
            </a:r>
            <a:r>
              <a:rPr lang="en-US" dirty="0" err="1"/>
              <a:t>Ponderea</a:t>
            </a:r>
            <a:r>
              <a:rPr lang="en-US" dirty="0"/>
              <a:t> </a:t>
            </a:r>
            <a:r>
              <a:rPr lang="en-US" dirty="0" err="1"/>
              <a:t>predictorului</a:t>
            </a:r>
            <a:r>
              <a:rPr lang="en-US" dirty="0"/>
              <a:t> j: cu cat e </a:t>
            </a:r>
            <a:r>
              <a:rPr lang="en-US" dirty="0" err="1"/>
              <a:t>mai</a:t>
            </a:r>
            <a:r>
              <a:rPr lang="en-US" dirty="0"/>
              <a:t> bun </a:t>
            </a:r>
            <a:r>
              <a:rPr lang="en-US" dirty="0" err="1"/>
              <a:t>predictorul</a:t>
            </a:r>
            <a:r>
              <a:rPr lang="en-US" dirty="0"/>
              <a:t>, cu </a:t>
            </a:r>
            <a:r>
              <a:rPr lang="en-US" dirty="0" err="1"/>
              <a:t>atat</a:t>
            </a:r>
            <a:r>
              <a:rPr lang="en-US" dirty="0"/>
              <a:t> </a:t>
            </a:r>
            <a:r>
              <a:rPr lang="en-US" dirty="0" err="1"/>
              <a:t>ponderea</a:t>
            </a:r>
            <a:r>
              <a:rPr lang="en-US" dirty="0"/>
              <a:t> e </a:t>
            </a:r>
            <a:r>
              <a:rPr lang="en-US" dirty="0" err="1"/>
              <a:t>mai</a:t>
            </a:r>
            <a:r>
              <a:rPr lang="en-US" dirty="0"/>
              <a:t> mare. Daca e random guessing, e 0. Daca </a:t>
            </a:r>
            <a:r>
              <a:rPr lang="en-US" dirty="0" err="1"/>
              <a:t>greseste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</a:t>
            </a:r>
            <a:r>
              <a:rPr lang="en-US" dirty="0"/>
              <a:t> </a:t>
            </a:r>
            <a:r>
              <a:rPr lang="en-US" dirty="0" err="1"/>
              <a:t>decat</a:t>
            </a:r>
            <a:r>
              <a:rPr lang="en-US" dirty="0"/>
              <a:t> random guessing, </a:t>
            </a:r>
            <a:r>
              <a:rPr lang="en-US" dirty="0" err="1"/>
              <a:t>pondere</a:t>
            </a:r>
            <a:r>
              <a:rPr lang="en-US" dirty="0"/>
              <a:t> </a:t>
            </a:r>
            <a:r>
              <a:rPr lang="en-US" dirty="0" err="1"/>
              <a:t>negativa</a:t>
            </a:r>
          </a:p>
        </p:txBody>
      </p:sp>
      <p:pic>
        <p:nvPicPr>
          <p:cNvPr id="7" name="Picture 6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8358DA22-3381-05F8-1FF0-B4F15CE44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985" y="4083144"/>
            <a:ext cx="4381500" cy="10001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D2FCF2-85C3-FF91-6DFB-01F79D23CD6B}"/>
              </a:ext>
            </a:extLst>
          </p:cNvPr>
          <p:cNvSpPr txBox="1"/>
          <p:nvPr/>
        </p:nvSpPr>
        <p:spPr>
          <a:xfrm>
            <a:off x="1076258" y="5112225"/>
            <a:ext cx="91481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4. se </a:t>
            </a:r>
            <a:r>
              <a:rPr lang="en-US" dirty="0" err="1"/>
              <a:t>actualizeaza</a:t>
            </a:r>
            <a:r>
              <a:rPr lang="en-US" dirty="0"/>
              <a:t> </a:t>
            </a:r>
            <a:r>
              <a:rPr lang="en-US" dirty="0" err="1"/>
              <a:t>ponderile</a:t>
            </a:r>
            <a:r>
              <a:rPr lang="en-US" dirty="0"/>
              <a:t> </a:t>
            </a:r>
            <a:r>
              <a:rPr lang="en-US" dirty="0" err="1"/>
              <a:t>instantelor</a:t>
            </a:r>
            <a:r>
              <a:rPr lang="en-US" dirty="0"/>
              <a:t>. Dupa care se </a:t>
            </a:r>
            <a:r>
              <a:rPr lang="en-US" dirty="0" err="1"/>
              <a:t>normalizeaza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4CE42E-70E9-B6AF-63AA-868FF2539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807" y="5400956"/>
            <a:ext cx="577215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469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D550E7-6CAE-1E25-BED4-077CC996B9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5248" y="72108"/>
            <a:ext cx="5408614" cy="6719963"/>
          </a:xfr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0DD6C8-2291-79AF-B9A2-1CC9ACD91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54" y="1977290"/>
            <a:ext cx="4854764" cy="199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972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game&#10;&#10;AI-generated content may be incorrect.">
            <a:extLst>
              <a:ext uri="{FF2B5EF4-FFF2-40B4-BE49-F238E27FC236}">
                <a16:creationId xmlns:a16="http://schemas.microsoft.com/office/drawing/2014/main" id="{8A3577B9-C19E-7152-CC68-6DDA3BE6D0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1987" y="213500"/>
            <a:ext cx="5756314" cy="2186504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B8708B-FAF9-3CBD-1331-ED0F712D6ECF}"/>
              </a:ext>
            </a:extLst>
          </p:cNvPr>
          <p:cNvSpPr txBox="1"/>
          <p:nvPr/>
        </p:nvSpPr>
        <p:spPr>
          <a:xfrm>
            <a:off x="7044875" y="812251"/>
            <a:ext cx="19651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Ansamblul</a:t>
            </a:r>
            <a:r>
              <a:rPr lang="en-US" dirty="0"/>
              <a:t> final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3A86F2-F577-284A-186E-2E6DFC20F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293" y="1847139"/>
            <a:ext cx="4680331" cy="484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170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0B114-41E4-FC83-B117-76BCF186F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Decizia</a:t>
            </a:r>
            <a:r>
              <a:rPr lang="en-US" dirty="0"/>
              <a:t> </a:t>
            </a:r>
            <a:r>
              <a:rPr lang="en-US" dirty="0" err="1"/>
              <a:t>Adaboost</a:t>
            </a:r>
          </a:p>
        </p:txBody>
      </p:sp>
      <p:pic>
        <p:nvPicPr>
          <p:cNvPr id="4" name="Content Placeholder 3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64EEB8F9-9165-F7DC-A863-5D4023BF4C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9749" y="1873016"/>
            <a:ext cx="6791325" cy="1343025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96730E-EB11-84D4-0624-44852D6A5D09}"/>
              </a:ext>
            </a:extLst>
          </p:cNvPr>
          <p:cNvSpPr txBox="1"/>
          <p:nvPr/>
        </p:nvSpPr>
        <p:spPr>
          <a:xfrm>
            <a:off x="1025808" y="3632370"/>
            <a:ext cx="1034398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dirty="0" err="1"/>
              <a:t>Algoritmul</a:t>
            </a:r>
            <a:r>
              <a:rPr lang="en-US" dirty="0"/>
              <a:t> se </a:t>
            </a:r>
            <a:r>
              <a:rPr lang="en-US" dirty="0" err="1"/>
              <a:t>opreste</a:t>
            </a:r>
            <a:r>
              <a:rPr lang="en-US" dirty="0"/>
              <a:t> cand </a:t>
            </a:r>
            <a:r>
              <a:rPr lang="en-US" dirty="0" err="1"/>
              <a:t>toti</a:t>
            </a:r>
            <a:r>
              <a:rPr lang="en-US" dirty="0"/>
              <a:t> </a:t>
            </a:r>
            <a:r>
              <a:rPr lang="en-US" dirty="0" err="1"/>
              <a:t>predictorii</a:t>
            </a:r>
            <a:r>
              <a:rPr lang="en-US" dirty="0"/>
              <a:t>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antrenati</a:t>
            </a:r>
            <a:r>
              <a:rPr lang="en-US" dirty="0"/>
              <a:t> </a:t>
            </a:r>
            <a:r>
              <a:rPr lang="en-US" b="1" dirty="0" err="1"/>
              <a:t>sau</a:t>
            </a:r>
            <a:r>
              <a:rPr lang="en-US" b="1" dirty="0"/>
              <a:t> </a:t>
            </a:r>
            <a:r>
              <a:rPr lang="en-US" dirty="0" err="1"/>
              <a:t>daca</a:t>
            </a:r>
            <a:r>
              <a:rPr lang="en-US" dirty="0"/>
              <a:t> s-a </a:t>
            </a:r>
            <a:r>
              <a:rPr lang="en-US" dirty="0" err="1"/>
              <a:t>gasit</a:t>
            </a:r>
            <a:r>
              <a:rPr lang="en-US" dirty="0"/>
              <a:t> </a:t>
            </a:r>
            <a:r>
              <a:rPr lang="en-US" dirty="0" err="1"/>
              <a:t>predictorul</a:t>
            </a:r>
            <a:r>
              <a:rPr lang="en-US" dirty="0"/>
              <a:t> perfect</a:t>
            </a: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 dirty="0"/>
              <a:t>Dupa </a:t>
            </a:r>
            <a:r>
              <a:rPr lang="en-US" dirty="0" err="1"/>
              <a:t>ce</a:t>
            </a:r>
            <a:r>
              <a:rPr lang="en-US" dirty="0"/>
              <a:t>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antrenati</a:t>
            </a:r>
            <a:r>
              <a:rPr lang="en-US" dirty="0"/>
              <a:t> </a:t>
            </a:r>
            <a:r>
              <a:rPr lang="en-US" dirty="0" err="1"/>
              <a:t>toti</a:t>
            </a:r>
            <a:r>
              <a:rPr lang="en-US" dirty="0"/>
              <a:t> </a:t>
            </a:r>
            <a:r>
              <a:rPr lang="en-US" dirty="0" err="1"/>
              <a:t>predictorii</a:t>
            </a:r>
            <a:r>
              <a:rPr lang="en-US" dirty="0"/>
              <a:t>, se </a:t>
            </a:r>
            <a:r>
              <a:rPr lang="en-US" dirty="0" err="1"/>
              <a:t>ia</a:t>
            </a:r>
            <a:r>
              <a:rPr lang="en-US" dirty="0"/>
              <a:t> </a:t>
            </a:r>
            <a:r>
              <a:rPr lang="en-US" dirty="0" err="1"/>
              <a:t>decizia</a:t>
            </a:r>
            <a:r>
              <a:rPr lang="en-US" dirty="0"/>
              <a:t> </a:t>
            </a:r>
            <a:r>
              <a:rPr lang="en-US" dirty="0" err="1"/>
              <a:t>agregata</a:t>
            </a:r>
            <a:r>
              <a:rPr lang="en-US" dirty="0"/>
              <a:t> a </a:t>
            </a:r>
            <a:r>
              <a:rPr lang="en-US" dirty="0" err="1"/>
              <a:t>tuturor</a:t>
            </a:r>
            <a:r>
              <a:rPr lang="en-US" dirty="0"/>
              <a:t> </a:t>
            </a:r>
            <a:r>
              <a:rPr lang="en-US" dirty="0" err="1"/>
              <a:t>predictorilor</a:t>
            </a:r>
            <a:r>
              <a:rPr lang="en-US" dirty="0"/>
              <a:t>, </a:t>
            </a:r>
            <a:r>
              <a:rPr lang="en-US" dirty="0" err="1"/>
              <a:t>ponderata</a:t>
            </a:r>
            <a:r>
              <a:rPr lang="en-US" dirty="0"/>
              <a:t> cu </a:t>
            </a:r>
            <a:r>
              <a:rPr lang="en-US" dirty="0" err="1"/>
              <a:t>ponderea</a:t>
            </a:r>
            <a:r>
              <a:rPr lang="en-US" dirty="0"/>
              <a:t> </a:t>
            </a:r>
            <a:r>
              <a:rPr lang="en-US" dirty="0" err="1"/>
              <a:t>fiecarui</a:t>
            </a:r>
            <a:r>
              <a:rPr lang="en-US" dirty="0"/>
              <a:t> predictor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2DC17D-7E48-981D-3A40-5BA34E603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462" y="4863634"/>
            <a:ext cx="6013076" cy="14786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287E74-D5EC-BD13-6A87-B04C69A7A480}"/>
              </a:ext>
            </a:extLst>
          </p:cNvPr>
          <p:cNvSpPr txBox="1"/>
          <p:nvPr/>
        </p:nvSpPr>
        <p:spPr>
          <a:xfrm>
            <a:off x="7668338" y="5583072"/>
            <a:ext cx="331219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Decision stumps – </a:t>
            </a:r>
            <a:r>
              <a:rPr lang="en-US" dirty="0" err="1"/>
              <a:t>arbori</a:t>
            </a:r>
            <a:r>
              <a:rPr lang="en-US" dirty="0"/>
              <a:t> de </a:t>
            </a:r>
            <a:r>
              <a:rPr lang="en-US" dirty="0" err="1"/>
              <a:t>adancime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4236649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D5BE6-C2D1-D082-1E93-C6CC2604A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4B. Gradient Boosting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4671D-FB45-52FC-AA43-D33A467B5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Adauga</a:t>
            </a:r>
            <a:r>
              <a:rPr lang="en-US" dirty="0"/>
              <a:t> </a:t>
            </a:r>
            <a:r>
              <a:rPr lang="en-US" dirty="0" err="1"/>
              <a:t>secvential</a:t>
            </a:r>
            <a:r>
              <a:rPr lang="en-US" dirty="0"/>
              <a:t> </a:t>
            </a:r>
            <a:r>
              <a:rPr lang="en-US" dirty="0" err="1"/>
              <a:t>predictori</a:t>
            </a:r>
            <a:r>
              <a:rPr lang="en-US" dirty="0"/>
              <a:t>,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corectand</a:t>
            </a:r>
            <a:r>
              <a:rPr lang="en-US" dirty="0"/>
              <a:t> </a:t>
            </a:r>
            <a:r>
              <a:rPr lang="en-US" dirty="0" err="1"/>
              <a:t>predecesorul</a:t>
            </a:r>
          </a:p>
          <a:p>
            <a:r>
              <a:rPr lang="en-US" dirty="0"/>
              <a:t>Dar, AdaBoost – </a:t>
            </a:r>
            <a:r>
              <a:rPr lang="en-US" err="1"/>
              <a:t>modifica</a:t>
            </a:r>
            <a:r>
              <a:rPr lang="en-US"/>
              <a:t> weights </a:t>
            </a:r>
            <a:r>
              <a:rPr lang="en-US" err="1"/>
              <a:t>instante</a:t>
            </a:r>
            <a:endParaRPr lang="en-US" dirty="0" err="1"/>
          </a:p>
          <a:p>
            <a:r>
              <a:rPr lang="en-US" dirty="0" err="1"/>
              <a:t>GradientBoosting</a:t>
            </a:r>
            <a:r>
              <a:rPr lang="en-US" dirty="0"/>
              <a:t> - </a:t>
            </a:r>
            <a:r>
              <a:rPr lang="en-US" dirty="0" err="1"/>
              <a:t>invata</a:t>
            </a:r>
            <a:r>
              <a:rPr lang="en-US" dirty="0"/>
              <a:t> un predictor pe </a:t>
            </a:r>
            <a:r>
              <a:rPr lang="en-US" dirty="0" err="1"/>
              <a:t>erorile</a:t>
            </a:r>
            <a:r>
              <a:rPr lang="en-US" dirty="0"/>
              <a:t> </a:t>
            </a:r>
            <a:r>
              <a:rPr lang="en-US" dirty="0" err="1"/>
              <a:t>reziduale</a:t>
            </a:r>
            <a:r>
              <a:rPr lang="en-US" dirty="0"/>
              <a:t> </a:t>
            </a:r>
            <a:r>
              <a:rPr lang="en-US" dirty="0" err="1"/>
              <a:t>facute</a:t>
            </a:r>
            <a:r>
              <a:rPr lang="en-US" dirty="0"/>
              <a:t> de </a:t>
            </a:r>
            <a:r>
              <a:rPr lang="en-US" dirty="0" err="1"/>
              <a:t>predecesor</a:t>
            </a:r>
          </a:p>
        </p:txBody>
      </p:sp>
      <p:pic>
        <p:nvPicPr>
          <p:cNvPr id="4" name="Picture 3" descr="A close-up of blue text&#10;&#10;Description automatically generated">
            <a:extLst>
              <a:ext uri="{FF2B5EF4-FFF2-40B4-BE49-F238E27FC236}">
                <a16:creationId xmlns:a16="http://schemas.microsoft.com/office/drawing/2014/main" id="{92D881A0-11BB-1F1B-5D87-75CE85CAA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363" y="3819805"/>
            <a:ext cx="3981450" cy="8096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3FD29F-532C-E9BF-D858-D867CF1C4CC2}"/>
              </a:ext>
            </a:extLst>
          </p:cNvPr>
          <p:cNvSpPr txBox="1"/>
          <p:nvPr/>
        </p:nvSpPr>
        <p:spPr>
          <a:xfrm>
            <a:off x="527000" y="4187285"/>
            <a:ext cx="8183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Pas 1</a:t>
            </a:r>
          </a:p>
        </p:txBody>
      </p:sp>
      <p:pic>
        <p:nvPicPr>
          <p:cNvPr id="7" name="Picture 6" descr="A close-up of a sign&#10;&#10;Description automatically generated">
            <a:extLst>
              <a:ext uri="{FF2B5EF4-FFF2-40B4-BE49-F238E27FC236}">
                <a16:creationId xmlns:a16="http://schemas.microsoft.com/office/drawing/2014/main" id="{869DCB68-D6A2-711D-42DF-2DE4D7361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441" y="5158909"/>
            <a:ext cx="3810000" cy="6191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9B8DC1-0746-DB61-4EDE-FA3C6F419BA7}"/>
              </a:ext>
            </a:extLst>
          </p:cNvPr>
          <p:cNvSpPr txBox="1"/>
          <p:nvPr/>
        </p:nvSpPr>
        <p:spPr>
          <a:xfrm>
            <a:off x="527000" y="5285461"/>
            <a:ext cx="8183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Pas 2</a:t>
            </a:r>
          </a:p>
        </p:txBody>
      </p:sp>
      <p:pic>
        <p:nvPicPr>
          <p:cNvPr id="9" name="Picture 8" descr="A close-up of a sign&#10;&#10;Description automatically generated">
            <a:extLst>
              <a:ext uri="{FF2B5EF4-FFF2-40B4-BE49-F238E27FC236}">
                <a16:creationId xmlns:a16="http://schemas.microsoft.com/office/drawing/2014/main" id="{4F9BEBE3-F7F8-9020-5C08-3C6F353F1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935" y="6175282"/>
            <a:ext cx="3781425" cy="5810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E4ACF7-60B6-81B2-7B0A-D054C5A30B87}"/>
              </a:ext>
            </a:extLst>
          </p:cNvPr>
          <p:cNvSpPr txBox="1"/>
          <p:nvPr/>
        </p:nvSpPr>
        <p:spPr>
          <a:xfrm>
            <a:off x="527000" y="6170725"/>
            <a:ext cx="8183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Pas 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537C50-6BB3-1E81-5E46-E56BBA64B4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0895" y="4995863"/>
            <a:ext cx="6657975" cy="2952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296DD4E-6ACF-4B32-52E2-33439F27F01B}"/>
              </a:ext>
            </a:extLst>
          </p:cNvPr>
          <p:cNvSpPr txBox="1"/>
          <p:nvPr/>
        </p:nvSpPr>
        <p:spPr>
          <a:xfrm>
            <a:off x="6244451" y="4551516"/>
            <a:ext cx="24546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Decizia</a:t>
            </a:r>
            <a:r>
              <a:rPr lang="en-US" dirty="0"/>
              <a:t> </a:t>
            </a:r>
            <a:r>
              <a:rPr lang="en-US" dirty="0" err="1"/>
              <a:t>ansamblului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868116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training and training&#10;&#10;Description automatically generated">
            <a:extLst>
              <a:ext uri="{FF2B5EF4-FFF2-40B4-BE49-F238E27FC236}">
                <a16:creationId xmlns:a16="http://schemas.microsoft.com/office/drawing/2014/main" id="{380BF871-70BD-F2C7-72CF-831F961144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3262" y="-933"/>
            <a:ext cx="6888681" cy="7343308"/>
          </a:xfrm>
        </p:spPr>
      </p:pic>
    </p:spTree>
    <p:extLst>
      <p:ext uri="{BB962C8B-B14F-4D97-AF65-F5344CB8AC3E}">
        <p14:creationId xmlns:p14="http://schemas.microsoft.com/office/powerpoint/2010/main" val="3330578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E3E54-356D-0B0E-F67E-6895AB42C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graph of a graph of a graph of a graph of a graph of a graph of a graph of a graph of a graph of a graph of a graph of a graph of a graph of&#10;&#10;Description automatically generated">
            <a:extLst>
              <a:ext uri="{FF2B5EF4-FFF2-40B4-BE49-F238E27FC236}">
                <a16:creationId xmlns:a16="http://schemas.microsoft.com/office/drawing/2014/main" id="{85E71294-FBC8-8CCA-C245-9099D829D7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571" y="1074"/>
            <a:ext cx="7038975" cy="3114675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7550DF-66FE-DFAC-0AA4-C668B4E3B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93409"/>
            <a:ext cx="7086600" cy="3162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CC0510-769C-2626-E391-AC1FB2D4DCCB}"/>
              </a:ext>
            </a:extLst>
          </p:cNvPr>
          <p:cNvSpPr txBox="1"/>
          <p:nvPr/>
        </p:nvSpPr>
        <p:spPr>
          <a:xfrm>
            <a:off x="8458716" y="4204133"/>
            <a:ext cx="19843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Early stopping</a:t>
            </a:r>
          </a:p>
        </p:txBody>
      </p:sp>
    </p:spTree>
    <p:extLst>
      <p:ext uri="{BB962C8B-B14F-4D97-AF65-F5344CB8AC3E}">
        <p14:creationId xmlns:p14="http://schemas.microsoft.com/office/powerpoint/2010/main" val="887442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FF1A1-47BF-F34D-C638-82D8159C7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Biblioteci</a:t>
            </a:r>
            <a:r>
              <a:rPr lang="en-US" dirty="0"/>
              <a:t> </a:t>
            </a:r>
            <a:r>
              <a:rPr lang="en-US" dirty="0" err="1"/>
              <a:t>GradientBoosting</a:t>
            </a:r>
            <a:r>
              <a:rPr lang="en-US" dirty="0"/>
              <a:t>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F5447-D448-8C66-A452-C005FEEA8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hlinkClick r:id="rId2"/>
              </a:rPr>
              <a:t>XGBoost</a:t>
            </a:r>
            <a:r>
              <a:rPr lang="en-US"/>
              <a:t> – e </a:t>
            </a:r>
            <a:r>
              <a:rPr lang="en-US" err="1"/>
              <a:t>prezenta</a:t>
            </a:r>
            <a:r>
              <a:rPr lang="en-US"/>
              <a:t> in f </a:t>
            </a:r>
            <a:r>
              <a:rPr lang="en-US" err="1"/>
              <a:t>multe</a:t>
            </a:r>
            <a:r>
              <a:rPr lang="en-US"/>
              <a:t> </a:t>
            </a:r>
            <a:r>
              <a:rPr lang="en-US" err="1"/>
              <a:t>solutii</a:t>
            </a:r>
            <a:r>
              <a:rPr lang="en-US"/>
              <a:t> </a:t>
            </a:r>
            <a:r>
              <a:rPr lang="en-US" err="1"/>
              <a:t>castigatoare</a:t>
            </a:r>
            <a:r>
              <a:rPr lang="en-US"/>
              <a:t> in </a:t>
            </a:r>
            <a:r>
              <a:rPr lang="en-US" err="1"/>
              <a:t>competitii</a:t>
            </a:r>
            <a:r>
              <a:rPr lang="en-US"/>
              <a:t> de ML</a:t>
            </a:r>
          </a:p>
          <a:p>
            <a:r>
              <a:rPr lang="en-US" dirty="0">
                <a:hlinkClick r:id="rId3"/>
              </a:rPr>
              <a:t>LightGBM</a:t>
            </a:r>
          </a:p>
          <a:p>
            <a:r>
              <a:rPr lang="en-US" dirty="0">
                <a:hlinkClick r:id="rId4"/>
              </a:rPr>
              <a:t>TF-DF</a:t>
            </a:r>
            <a:r>
              <a:rPr lang="en-US" dirty="0"/>
              <a:t> - random forest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 </a:t>
            </a:r>
            <a:r>
              <a:rPr lang="en-US" dirty="0" err="1"/>
              <a:t>GradientBoostingTree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hlinkClick r:id="rId5"/>
              </a:rPr>
              <a:t>Pt pasionati:</a:t>
            </a:r>
            <a:r>
              <a:rPr lang="en-US" sz="2000" dirty="0"/>
              <a:t> </a:t>
            </a: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e.g. </a:t>
            </a:r>
            <a:r>
              <a:rPr lang="en-US" sz="2000" dirty="0" err="1">
                <a:solidFill>
                  <a:srgbClr val="000000"/>
                </a:solidFill>
                <a:ea typeface="+mn-lt"/>
                <a:cs typeface="+mn-lt"/>
              </a:rPr>
              <a:t>Inspect&amp;Debug</a:t>
            </a: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, </a:t>
            </a:r>
            <a:r>
              <a:rPr lang="en-US" dirty="0">
                <a:solidFill>
                  <a:srgbClr val="202124"/>
                </a:solidFill>
                <a:ea typeface="+mn-lt"/>
                <a:cs typeface="+mn-lt"/>
              </a:rPr>
              <a:t>Proximities and Prototypes with Random Forests</a:t>
            </a:r>
            <a:r>
              <a:rPr lang="en-US" dirty="0">
                <a:solidFill>
                  <a:srgbClr val="202124"/>
                </a:solidFill>
              </a:rPr>
              <a:t>, </a:t>
            </a:r>
            <a:r>
              <a:rPr lang="en-US" sz="2000" dirty="0"/>
              <a:t> Ranking,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3931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a diagram&#10;&#10;Description automatically generated">
            <a:extLst>
              <a:ext uri="{FF2B5EF4-FFF2-40B4-BE49-F238E27FC236}">
                <a16:creationId xmlns:a16="http://schemas.microsoft.com/office/drawing/2014/main" id="{7530E828-ED62-E30F-2C63-D47024093B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7387" y="1713565"/>
            <a:ext cx="4748754" cy="4306514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9ACE63D-65DC-DC7D-DF47-A8EC1E539644}"/>
              </a:ext>
            </a:extLst>
          </p:cNvPr>
          <p:cNvSpPr>
            <a:spLocks noGrp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5. Stacking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C18F2D-D31C-BD59-754A-28171E8D441C}"/>
              </a:ext>
            </a:extLst>
          </p:cNvPr>
          <p:cNvSpPr txBox="1"/>
          <p:nvPr/>
        </p:nvSpPr>
        <p:spPr>
          <a:xfrm>
            <a:off x="6110027" y="2387948"/>
            <a:ext cx="486504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In loc de </a:t>
            </a:r>
            <a:r>
              <a:rPr lang="en-US" err="1"/>
              <a:t>utilizarea</a:t>
            </a:r>
            <a:r>
              <a:rPr lang="en-US" dirty="0"/>
              <a:t> </a:t>
            </a:r>
            <a:r>
              <a:rPr lang="en-US" err="1"/>
              <a:t>unei</a:t>
            </a:r>
            <a:r>
              <a:rPr lang="en-US" dirty="0"/>
              <a:t> </a:t>
            </a:r>
            <a:r>
              <a:rPr lang="en-US" err="1"/>
              <a:t>functii</a:t>
            </a:r>
            <a:r>
              <a:rPr lang="en-US" dirty="0"/>
              <a:t> simple de </a:t>
            </a:r>
            <a:r>
              <a:rPr lang="en-US" err="1"/>
              <a:t>agregare</a:t>
            </a:r>
            <a:r>
              <a:rPr lang="en-US" dirty="0"/>
              <a:t>, </a:t>
            </a:r>
            <a:r>
              <a:rPr lang="en-US" b="1" dirty="0"/>
              <a:t>se </a:t>
            </a:r>
            <a:r>
              <a:rPr lang="en-US" b="1" err="1"/>
              <a:t>antreneaza</a:t>
            </a:r>
            <a:r>
              <a:rPr lang="en-US" b="1" dirty="0"/>
              <a:t> un model pt </a:t>
            </a:r>
            <a:r>
              <a:rPr lang="en-US" b="1" err="1"/>
              <a:t>agregare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Blender – </a:t>
            </a:r>
            <a:r>
              <a:rPr lang="en-US" b="1" err="1"/>
              <a:t>numit</a:t>
            </a:r>
            <a:r>
              <a:rPr lang="en-US" b="1" dirty="0"/>
              <a:t> </a:t>
            </a:r>
            <a:r>
              <a:rPr lang="en-US" b="1" err="1"/>
              <a:t>si</a:t>
            </a:r>
            <a:r>
              <a:rPr lang="en-US" b="1" dirty="0"/>
              <a:t> meta learner</a:t>
            </a:r>
          </a:p>
          <a:p>
            <a:endParaRPr lang="en-US" b="1" dirty="0"/>
          </a:p>
          <a:p>
            <a:r>
              <a:rPr lang="en-US" b="1" dirty="0" err="1"/>
              <a:t>Trebuie</a:t>
            </a:r>
            <a:r>
              <a:rPr lang="en-US" b="1" dirty="0"/>
              <a:t> </a:t>
            </a:r>
            <a:r>
              <a:rPr lang="en-US" b="1" dirty="0" err="1"/>
              <a:t>atentie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se </a:t>
            </a:r>
            <a:r>
              <a:rPr lang="en-US" b="1" dirty="0" err="1"/>
              <a:t>foloseasca</a:t>
            </a:r>
            <a:r>
              <a:rPr lang="en-US" b="1" dirty="0"/>
              <a:t> </a:t>
            </a:r>
            <a:r>
              <a:rPr lang="en-US" b="1" dirty="0" err="1"/>
              <a:t>alte</a:t>
            </a:r>
            <a:r>
              <a:rPr lang="en-US" b="1" dirty="0"/>
              <a:t> </a:t>
            </a:r>
            <a:r>
              <a:rPr lang="en-US" b="1" dirty="0" err="1"/>
              <a:t>instante</a:t>
            </a:r>
            <a:r>
              <a:rPr lang="en-US" b="1" dirty="0"/>
              <a:t> pt blender </a:t>
            </a:r>
            <a:r>
              <a:rPr lang="en-US" b="1" dirty="0" err="1"/>
              <a:t>decat</a:t>
            </a:r>
            <a:r>
              <a:rPr lang="en-US" b="1" dirty="0"/>
              <a:t> </a:t>
            </a:r>
            <a:r>
              <a:rPr lang="en-US" b="1" dirty="0" err="1"/>
              <a:t>cele</a:t>
            </a:r>
            <a:r>
              <a:rPr lang="en-US" b="1" dirty="0"/>
              <a:t> </a:t>
            </a:r>
            <a:r>
              <a:rPr lang="en-US" b="1" dirty="0" err="1"/>
              <a:t>utilizate</a:t>
            </a:r>
            <a:r>
              <a:rPr lang="en-US" b="1" dirty="0"/>
              <a:t> pt  </a:t>
            </a:r>
            <a:r>
              <a:rPr lang="en-US" b="1" dirty="0" err="1"/>
              <a:t>predictori</a:t>
            </a:r>
            <a:r>
              <a:rPr lang="en-US" b="1" dirty="0"/>
              <a:t>:</a:t>
            </a:r>
          </a:p>
          <a:p>
            <a:r>
              <a:rPr lang="en-US" b="1" dirty="0"/>
              <a:t>hold –out set</a:t>
            </a:r>
          </a:p>
        </p:txBody>
      </p:sp>
    </p:spTree>
    <p:extLst>
      <p:ext uri="{BB962C8B-B14F-4D97-AF65-F5344CB8AC3E}">
        <p14:creationId xmlns:p14="http://schemas.microsoft.com/office/powerpoint/2010/main" val="20788641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77C9F-7776-CC94-DD3C-F20C1E70F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diagram of a training process&#10;&#10;Description automatically generated">
            <a:extLst>
              <a:ext uri="{FF2B5EF4-FFF2-40B4-BE49-F238E27FC236}">
                <a16:creationId xmlns:a16="http://schemas.microsoft.com/office/drawing/2014/main" id="{B8DFB4D6-5808-70D5-60A2-77FAA2258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5281" y="738655"/>
            <a:ext cx="5274880" cy="5393485"/>
          </a:xfrm>
        </p:spPr>
      </p:pic>
      <p:pic>
        <p:nvPicPr>
          <p:cNvPr id="5" name="Picture 4" descr="A diagram of a diagram&#10;&#10;Description automatically generated">
            <a:extLst>
              <a:ext uri="{FF2B5EF4-FFF2-40B4-BE49-F238E27FC236}">
                <a16:creationId xmlns:a16="http://schemas.microsoft.com/office/drawing/2014/main" id="{D69CE502-9E45-EC25-525E-5B8469167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94" y="2752164"/>
            <a:ext cx="4899212" cy="338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0169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a diagram&#10;&#10;Description automatically generated">
            <a:extLst>
              <a:ext uri="{FF2B5EF4-FFF2-40B4-BE49-F238E27FC236}">
                <a16:creationId xmlns:a16="http://schemas.microsoft.com/office/drawing/2014/main" id="{BEC49925-5E72-8065-5511-318D8810AD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485" y="368861"/>
            <a:ext cx="5388735" cy="527022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C446B5-1D7C-03D8-D884-099B0531DB9F}"/>
              </a:ext>
            </a:extLst>
          </p:cNvPr>
          <p:cNvSpPr txBox="1"/>
          <p:nvPr/>
        </p:nvSpPr>
        <p:spPr>
          <a:xfrm>
            <a:off x="6945228" y="3015770"/>
            <a:ext cx="3839317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Se </a:t>
            </a:r>
            <a:r>
              <a:rPr lang="en-US" dirty="0" err="1"/>
              <a:t>poate</a:t>
            </a:r>
            <a:r>
              <a:rPr lang="en-US" dirty="0"/>
              <a:t> merge cu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nivele</a:t>
            </a:r>
            <a:r>
              <a:rPr lang="en-US" dirty="0"/>
              <a:t> de </a:t>
            </a:r>
            <a:r>
              <a:rPr lang="en-US" dirty="0" err="1"/>
              <a:t>blendere</a:t>
            </a:r>
            <a:r>
              <a:rPr lang="en-US" dirty="0"/>
              <a:t>:</a:t>
            </a:r>
          </a:p>
          <a:p>
            <a:r>
              <a:rPr lang="en-US" dirty="0"/>
              <a:t>Cate un set pt </a:t>
            </a:r>
            <a:r>
              <a:rPr lang="en-US" dirty="0" err="1"/>
              <a:t>antrenare</a:t>
            </a:r>
            <a:r>
              <a:rPr lang="en-US" dirty="0"/>
              <a:t> </a:t>
            </a:r>
          </a:p>
          <a:p>
            <a:r>
              <a:rPr lang="en-US" dirty="0"/>
              <a:t>- </a:t>
            </a:r>
            <a:r>
              <a:rPr lang="en-US" dirty="0" err="1"/>
              <a:t>predictorii</a:t>
            </a:r>
            <a:r>
              <a:rPr lang="en-US" dirty="0"/>
              <a:t> din </a:t>
            </a:r>
            <a:r>
              <a:rPr lang="en-US" dirty="0" err="1"/>
              <a:t>primul</a:t>
            </a:r>
            <a:r>
              <a:rPr lang="en-US" dirty="0"/>
              <a:t> layer </a:t>
            </a:r>
          </a:p>
          <a:p>
            <a:pPr marL="285750" indent="-285750">
              <a:buFont typeface="Calibri"/>
              <a:buChar char="-"/>
            </a:pPr>
            <a:r>
              <a:rPr lang="en-US" err="1"/>
              <a:t>Blenderele</a:t>
            </a:r>
            <a:r>
              <a:rPr lang="en-US" dirty="0"/>
              <a:t> din </a:t>
            </a:r>
            <a:r>
              <a:rPr lang="en-US" err="1"/>
              <a:t>nivelul</a:t>
            </a:r>
            <a:r>
              <a:rPr lang="en-US" dirty="0"/>
              <a:t> </a:t>
            </a:r>
            <a:r>
              <a:rPr lang="en-US" err="1"/>
              <a:t>doi</a:t>
            </a:r>
            <a:endParaRPr lang="en-US" dirty="0" err="1"/>
          </a:p>
          <a:p>
            <a:pPr marL="285750" indent="-285750">
              <a:buFont typeface="Calibri"/>
              <a:buChar char="-"/>
            </a:pPr>
            <a:r>
              <a:rPr lang="en-US" dirty="0" err="1"/>
              <a:t>Blenderul</a:t>
            </a:r>
            <a:r>
              <a:rPr lang="en-US" dirty="0"/>
              <a:t> final</a:t>
            </a:r>
          </a:p>
        </p:txBody>
      </p:sp>
    </p:spTree>
    <p:extLst>
      <p:ext uri="{BB962C8B-B14F-4D97-AF65-F5344CB8AC3E}">
        <p14:creationId xmlns:p14="http://schemas.microsoft.com/office/powerpoint/2010/main" val="22703301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75FF6-AB62-8AD1-AEFE-DDB000BA3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Rezumat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A2E7D-D07D-57BC-577C-24801D691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Tehnici</a:t>
            </a:r>
            <a:r>
              <a:rPr lang="en-US" dirty="0"/>
              <a:t> de </a:t>
            </a:r>
            <a:r>
              <a:rPr lang="en-US" dirty="0" err="1"/>
              <a:t>ansamblu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Voting (hard, soft) - </a:t>
            </a:r>
            <a:r>
              <a:rPr lang="en-US" err="1"/>
              <a:t>recomandat</a:t>
            </a:r>
            <a:r>
              <a:rPr lang="en-US" dirty="0"/>
              <a:t> alt </a:t>
            </a:r>
            <a:r>
              <a:rPr lang="en-US" err="1"/>
              <a:t>alg</a:t>
            </a:r>
            <a:r>
              <a:rPr lang="en-US" dirty="0"/>
              <a:t> pt </a:t>
            </a:r>
            <a:r>
              <a:rPr lang="en-US" err="1"/>
              <a:t>fiecare</a:t>
            </a:r>
            <a:r>
              <a:rPr lang="en-US"/>
              <a:t> learner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Bagging, pasting  - </a:t>
            </a:r>
            <a:r>
              <a:rPr lang="en-US" err="1"/>
              <a:t>learneri</a:t>
            </a:r>
            <a:r>
              <a:rPr lang="en-US" dirty="0"/>
              <a:t> cu </a:t>
            </a:r>
            <a:r>
              <a:rPr lang="en-US" err="1"/>
              <a:t>acelasi</a:t>
            </a:r>
            <a:r>
              <a:rPr lang="en-US" dirty="0"/>
              <a:t> </a:t>
            </a:r>
            <a:r>
              <a:rPr lang="en-US" err="1"/>
              <a:t>alg</a:t>
            </a:r>
            <a:r>
              <a:rPr lang="en-US" dirty="0"/>
              <a:t>, </a:t>
            </a:r>
            <a:r>
              <a:rPr lang="en-US" err="1"/>
              <a:t>dar</a:t>
            </a:r>
            <a:r>
              <a:rPr lang="en-US" dirty="0"/>
              <a:t> pe </a:t>
            </a:r>
            <a:r>
              <a:rPr lang="en-US" err="1"/>
              <a:t>alte</a:t>
            </a:r>
            <a:r>
              <a:rPr lang="en-US" dirty="0"/>
              <a:t> date (</a:t>
            </a:r>
            <a:r>
              <a:rPr lang="en-US" err="1"/>
              <a:t>subseturi</a:t>
            </a:r>
            <a:r>
              <a:rPr lang="en-US" dirty="0"/>
              <a:t> din train); pot fi </a:t>
            </a:r>
            <a:r>
              <a:rPr lang="en-US" err="1"/>
              <a:t>antrenati</a:t>
            </a:r>
            <a:r>
              <a:rPr lang="en-US" dirty="0"/>
              <a:t> in </a:t>
            </a:r>
            <a:r>
              <a:rPr lang="en-US" err="1"/>
              <a:t>paral</a:t>
            </a:r>
            <a:endParaRPr lang="en-US" dirty="0" err="1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Boosting – </a:t>
            </a:r>
            <a:r>
              <a:rPr lang="en-US" err="1"/>
              <a:t>learneri</a:t>
            </a:r>
            <a:r>
              <a:rPr lang="en-US" dirty="0"/>
              <a:t> </a:t>
            </a:r>
            <a:r>
              <a:rPr lang="en-US" err="1"/>
              <a:t>invatati</a:t>
            </a:r>
            <a:r>
              <a:rPr lang="en-US" dirty="0"/>
              <a:t> </a:t>
            </a:r>
            <a:r>
              <a:rPr lang="en-US" err="1"/>
              <a:t>secvential</a:t>
            </a:r>
            <a:r>
              <a:rPr lang="en-US" dirty="0"/>
              <a:t>, </a:t>
            </a:r>
            <a:r>
              <a:rPr lang="en-US" err="1"/>
              <a:t>fiecare</a:t>
            </a:r>
            <a:r>
              <a:rPr lang="en-US" dirty="0"/>
              <a:t> </a:t>
            </a:r>
            <a:r>
              <a:rPr lang="en-US" err="1"/>
              <a:t>incearca</a:t>
            </a:r>
            <a:r>
              <a:rPr lang="en-US" dirty="0"/>
              <a:t> </a:t>
            </a:r>
            <a:r>
              <a:rPr lang="en-US" err="1"/>
              <a:t>sa</a:t>
            </a:r>
            <a:r>
              <a:rPr lang="en-US" dirty="0"/>
              <a:t> </a:t>
            </a:r>
            <a:r>
              <a:rPr lang="en-US" err="1"/>
              <a:t>imbunatateasca</a:t>
            </a:r>
            <a:r>
              <a:rPr lang="en-US" dirty="0"/>
              <a:t> </a:t>
            </a:r>
            <a:r>
              <a:rPr lang="en-US" err="1"/>
              <a:t>precedentul</a:t>
            </a:r>
            <a:endParaRPr lang="en-US" dirty="0" err="1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 err="1"/>
              <a:t>Adaboost</a:t>
            </a:r>
            <a:r>
              <a:rPr lang="en-US" dirty="0"/>
              <a:t> – </a:t>
            </a:r>
            <a:r>
              <a:rPr lang="en-US" dirty="0" err="1"/>
              <a:t>modifica</a:t>
            </a:r>
            <a:r>
              <a:rPr lang="en-US" dirty="0"/>
              <a:t> </a:t>
            </a:r>
            <a:r>
              <a:rPr lang="en-US" dirty="0" err="1"/>
              <a:t>ponderea</a:t>
            </a:r>
            <a:r>
              <a:rPr lang="en-US" dirty="0"/>
              <a:t> </a:t>
            </a:r>
            <a:r>
              <a:rPr lang="en-US" dirty="0" err="1"/>
              <a:t>instantelor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iteratie</a:t>
            </a:r>
            <a:r>
              <a:rPr lang="en-US" dirty="0"/>
              <a:t> (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gresit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avea</a:t>
            </a:r>
            <a:r>
              <a:rPr lang="en-US" dirty="0"/>
              <a:t> </a:t>
            </a:r>
            <a:r>
              <a:rPr lang="en-US" dirty="0" err="1"/>
              <a:t>pondere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mare la </a:t>
            </a:r>
            <a:r>
              <a:rPr lang="en-US" dirty="0" err="1"/>
              <a:t>urmatoarea</a:t>
            </a:r>
            <a:r>
              <a:rPr lang="en-US" dirty="0"/>
              <a:t> </a:t>
            </a:r>
            <a:r>
              <a:rPr lang="en-US" dirty="0" err="1"/>
              <a:t>iteratie</a:t>
            </a:r>
            <a:r>
              <a:rPr lang="en-US" dirty="0"/>
              <a:t>)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 err="1"/>
              <a:t>GradientBoosting</a:t>
            </a:r>
            <a:r>
              <a:rPr lang="en-US" dirty="0"/>
              <a:t> – </a:t>
            </a:r>
            <a:r>
              <a:rPr lang="en-US" dirty="0" err="1"/>
              <a:t>fiecare</a:t>
            </a:r>
            <a:r>
              <a:rPr lang="en-US" dirty="0"/>
              <a:t> learner </a:t>
            </a:r>
            <a:r>
              <a:rPr lang="en-US" dirty="0" err="1"/>
              <a:t>invata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prezica</a:t>
            </a:r>
            <a:r>
              <a:rPr lang="en-US" dirty="0"/>
              <a:t> </a:t>
            </a:r>
            <a:r>
              <a:rPr lang="en-US" dirty="0" err="1"/>
              <a:t>valorile</a:t>
            </a:r>
            <a:r>
              <a:rPr lang="en-US" dirty="0"/>
              <a:t> </a:t>
            </a:r>
            <a:r>
              <a:rPr lang="en-US" dirty="0" err="1"/>
              <a:t>reziduale</a:t>
            </a:r>
            <a:r>
              <a:rPr lang="en-US" dirty="0"/>
              <a:t> ale </a:t>
            </a:r>
            <a:r>
              <a:rPr lang="en-US" dirty="0" err="1"/>
              <a:t>precedentului</a:t>
            </a:r>
            <a:r>
              <a:rPr lang="en-US" dirty="0"/>
              <a:t> (</a:t>
            </a:r>
            <a:r>
              <a:rPr lang="en-US" dirty="0" err="1"/>
              <a:t>exceptie</a:t>
            </a:r>
            <a:r>
              <a:rPr lang="en-US" dirty="0"/>
              <a:t> </a:t>
            </a:r>
            <a:r>
              <a:rPr lang="en-US" dirty="0" err="1"/>
              <a:t>primul</a:t>
            </a:r>
            <a:r>
              <a:rPr lang="en-US" dirty="0"/>
              <a:t>);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Stacking – se </a:t>
            </a:r>
            <a:r>
              <a:rPr lang="en-US" dirty="0" err="1"/>
              <a:t>invata</a:t>
            </a:r>
            <a:r>
              <a:rPr lang="en-US" dirty="0"/>
              <a:t> </a:t>
            </a:r>
            <a:r>
              <a:rPr lang="en-US" dirty="0" err="1"/>
              <a:t>metoda</a:t>
            </a:r>
            <a:r>
              <a:rPr lang="en-US" dirty="0"/>
              <a:t> de </a:t>
            </a:r>
            <a:r>
              <a:rPr lang="en-US" dirty="0" err="1"/>
              <a:t>agregare</a:t>
            </a:r>
          </a:p>
        </p:txBody>
      </p:sp>
    </p:spTree>
    <p:extLst>
      <p:ext uri="{BB962C8B-B14F-4D97-AF65-F5344CB8AC3E}">
        <p14:creationId xmlns:p14="http://schemas.microsoft.com/office/powerpoint/2010/main" val="39169611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a voting process&#10;&#10;Description automatically generated">
            <a:extLst>
              <a:ext uri="{FF2B5EF4-FFF2-40B4-BE49-F238E27FC236}">
                <a16:creationId xmlns:a16="http://schemas.microsoft.com/office/drawing/2014/main" id="{812973A3-BCC5-DBE0-0B18-39462EF023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078" y="178360"/>
            <a:ext cx="5621580" cy="3466074"/>
          </a:xfrm>
        </p:spPr>
      </p:pic>
      <p:pic>
        <p:nvPicPr>
          <p:cNvPr id="5" name="Picture 4" descr="A diagram of a train model&#10;&#10;Description automatically generated">
            <a:extLst>
              <a:ext uri="{FF2B5EF4-FFF2-40B4-BE49-F238E27FC236}">
                <a16:creationId xmlns:a16="http://schemas.microsoft.com/office/drawing/2014/main" id="{56DF6823-F1CE-9A95-E5B2-F9F610365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6359" y="0"/>
            <a:ext cx="48914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0066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79277-55A4-4595-140F-BADB87EBC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diagram of a model&#10;&#10;Description automatically generated">
            <a:extLst>
              <a:ext uri="{FF2B5EF4-FFF2-40B4-BE49-F238E27FC236}">
                <a16:creationId xmlns:a16="http://schemas.microsoft.com/office/drawing/2014/main" id="{94A0733F-AE0E-FE13-AD90-39A4F25FF9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283" y="368861"/>
            <a:ext cx="6334699" cy="6267543"/>
          </a:xfrm>
        </p:spPr>
      </p:pic>
    </p:spTree>
    <p:extLst>
      <p:ext uri="{BB962C8B-B14F-4D97-AF65-F5344CB8AC3E}">
        <p14:creationId xmlns:p14="http://schemas.microsoft.com/office/powerpoint/2010/main" val="2278424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Ecran lat</PresentationFormat>
  <Paragraphs>0</Paragraphs>
  <Slides>28</Slides>
  <Notes>0</Notes>
  <HiddenSlides>0</HiddenSlides>
  <MMClips>0</MMClips>
  <ScaleCrop>false</ScaleCrop>
  <HeadingPairs>
    <vt:vector size="4" baseType="variant">
      <vt:variant>
        <vt:lpstr>Temă</vt:lpstr>
      </vt:variant>
      <vt:variant>
        <vt:i4>1</vt:i4>
      </vt:variant>
      <vt:variant>
        <vt:lpstr>Titluri diapozitive</vt:lpstr>
      </vt:variant>
      <vt:variant>
        <vt:i4>28</vt:i4>
      </vt:variant>
    </vt:vector>
  </HeadingPairs>
  <TitlesOfParts>
    <vt:vector size="29" baseType="lpstr">
      <vt:lpstr>office theme</vt:lpstr>
      <vt:lpstr>Curs 6 – Ensemble Learning</vt:lpstr>
      <vt:lpstr>Wisdom of the crowd – ensemble learning</vt:lpstr>
      <vt:lpstr>Voting</vt:lpstr>
      <vt:lpstr>Prezentare PowerPoint</vt:lpstr>
      <vt:lpstr>Prezentare PowerPoint</vt:lpstr>
      <vt:lpstr>2. Bagging and pasting</vt:lpstr>
      <vt:lpstr>Prezentare PowerPoint</vt:lpstr>
      <vt:lpstr>Prezentare PowerPoint</vt:lpstr>
      <vt:lpstr>Out-of bag evaluation</vt:lpstr>
      <vt:lpstr>Feature sampling</vt:lpstr>
      <vt:lpstr>3. Random Forests</vt:lpstr>
      <vt:lpstr>4. Boosting</vt:lpstr>
      <vt:lpstr>4A. Ada boost</vt:lpstr>
      <vt:lpstr>Prezentare PowerPoint</vt:lpstr>
      <vt:lpstr>Prezentare PowerPoint</vt:lpstr>
      <vt:lpstr>Prezentare PowerPoint</vt:lpstr>
      <vt:lpstr>Prezentare PowerPoint</vt:lpstr>
      <vt:lpstr>Decizia Adaboost</vt:lpstr>
      <vt:lpstr>4B. Gradient Boosting</vt:lpstr>
      <vt:lpstr>Prezentare PowerPoint</vt:lpstr>
      <vt:lpstr>Prezentare PowerPoint</vt:lpstr>
      <vt:lpstr>Biblioteci GradientBoosting Trees</vt:lpstr>
      <vt:lpstr>Prezentare PowerPoint</vt:lpstr>
      <vt:lpstr>Prezentare PowerPoint</vt:lpstr>
      <vt:lpstr>Prezentare PowerPoint</vt:lpstr>
      <vt:lpstr>Rezumat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605</cp:revision>
  <dcterms:created xsi:type="dcterms:W3CDTF">2024-03-27T08:41:26Z</dcterms:created>
  <dcterms:modified xsi:type="dcterms:W3CDTF">2026-04-15T19:31:30Z</dcterms:modified>
</cp:coreProperties>
</file>