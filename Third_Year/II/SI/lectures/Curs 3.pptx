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1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5B6092-859A-A9BF-DBA7-137B8C0BCBE7}" v="4" dt="2025-03-20T06:29:01.6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Curs 3.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Classification. Performance measures.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7427-D63D-B266-90D8-5F76830B4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AutoNum type="arabicPeriod"/>
            </a:pPr>
            <a:r>
              <a:rPr lang="en-US" dirty="0" err="1"/>
              <a:t>Clasificare</a:t>
            </a:r>
            <a:r>
              <a:rPr lang="en-US" dirty="0"/>
              <a:t> – task de </a:t>
            </a:r>
            <a:r>
              <a:rPr lang="en-US" dirty="0" err="1"/>
              <a:t>invatare</a:t>
            </a:r>
            <a:r>
              <a:rPr lang="en-US" dirty="0"/>
              <a:t> </a:t>
            </a:r>
            <a:r>
              <a:rPr lang="en-US" dirty="0" err="1"/>
              <a:t>supervizata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E678C-1EC8-9C30-7AD6-BA59F20E9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Task</a:t>
            </a:r>
            <a:r>
              <a:rPr lang="en-US" dirty="0"/>
              <a:t>: </a:t>
            </a:r>
            <a:r>
              <a:rPr lang="en-US" err="1"/>
              <a:t>predictia</a:t>
            </a:r>
            <a:r>
              <a:rPr lang="en-US" dirty="0"/>
              <a:t> </a:t>
            </a:r>
            <a:r>
              <a:rPr lang="en-US" err="1"/>
              <a:t>claselor</a:t>
            </a:r>
            <a:endParaRPr lang="en-US"/>
          </a:p>
          <a:p>
            <a:endParaRPr lang="en-US" dirty="0"/>
          </a:p>
          <a:p>
            <a:pPr marL="0" indent="0">
              <a:buNone/>
            </a:pPr>
            <a:r>
              <a:rPr lang="en-US" err="1">
                <a:solidFill>
                  <a:srgbClr val="FF0000"/>
                </a:solidFill>
              </a:rPr>
              <a:t>Tipuri</a:t>
            </a:r>
            <a:r>
              <a:rPr lang="en-US" dirty="0"/>
              <a:t>:</a:t>
            </a:r>
          </a:p>
          <a:p>
            <a:r>
              <a:rPr lang="en-US" dirty="0" err="1"/>
              <a:t>Clasificare</a:t>
            </a:r>
            <a:r>
              <a:rPr lang="en-US" dirty="0"/>
              <a:t> </a:t>
            </a:r>
            <a:r>
              <a:rPr lang="en-US" b="1" dirty="0" err="1"/>
              <a:t>binara</a:t>
            </a:r>
            <a:endParaRPr lang="en-US" b="1" dirty="0"/>
          </a:p>
          <a:p>
            <a:r>
              <a:rPr lang="en-US" dirty="0" err="1"/>
              <a:t>Clasificare</a:t>
            </a:r>
            <a:r>
              <a:rPr lang="en-US" dirty="0"/>
              <a:t> </a:t>
            </a:r>
            <a:r>
              <a:rPr lang="en-US" b="1" dirty="0"/>
              <a:t>multiclass</a:t>
            </a:r>
            <a:r>
              <a:rPr lang="en-US" dirty="0"/>
              <a:t>: </a:t>
            </a:r>
            <a:r>
              <a:rPr lang="en-US" dirty="0" err="1"/>
              <a:t>numarul</a:t>
            </a:r>
            <a:r>
              <a:rPr lang="en-US" dirty="0"/>
              <a:t> de </a:t>
            </a:r>
            <a:r>
              <a:rPr lang="en-US" dirty="0" err="1"/>
              <a:t>clase</a:t>
            </a:r>
            <a:r>
              <a:rPr lang="en-US" dirty="0"/>
              <a:t> &gt;2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Un </a:t>
            </a:r>
            <a:r>
              <a:rPr lang="en-US" dirty="0" err="1"/>
              <a:t>exemplu</a:t>
            </a:r>
            <a:r>
              <a:rPr lang="en-US" dirty="0"/>
              <a:t> </a:t>
            </a:r>
            <a:r>
              <a:rPr lang="en-US" dirty="0" err="1"/>
              <a:t>apartine</a:t>
            </a:r>
            <a:r>
              <a:rPr lang="en-US" dirty="0"/>
              <a:t> cu </a:t>
            </a:r>
            <a:r>
              <a:rPr lang="en-US" dirty="0" err="1"/>
              <a:t>siguranta</a:t>
            </a:r>
            <a:r>
              <a:rPr lang="en-US" dirty="0"/>
              <a:t> 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clase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</a:t>
            </a:r>
            <a:r>
              <a:rPr lang="en-US" dirty="0" err="1"/>
              <a:t>uneia</a:t>
            </a:r>
            <a:endParaRPr lang="en-US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 err="1"/>
              <a:t>Clasificare</a:t>
            </a:r>
            <a:r>
              <a:rPr lang="en-US" dirty="0"/>
              <a:t> </a:t>
            </a:r>
            <a:r>
              <a:rPr lang="en-US" b="1" dirty="0"/>
              <a:t>multilabel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exemplu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apartine</a:t>
            </a:r>
            <a:r>
              <a:rPr lang="en-US" dirty="0"/>
              <a:t> la </a:t>
            </a:r>
            <a:r>
              <a:rPr lang="en-US" dirty="0" err="1"/>
              <a:t>niciuna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la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clase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224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056764A-68E9-5CFA-9B18-B2D15659B6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2912" y="197644"/>
            <a:ext cx="7343775" cy="22479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AA6CF5-23F8-E61C-8CA0-A091FF14F5EF}"/>
              </a:ext>
            </a:extLst>
          </p:cNvPr>
          <p:cNvSpPr txBox="1"/>
          <p:nvPr/>
        </p:nvSpPr>
        <p:spPr>
          <a:xfrm>
            <a:off x="8359793" y="1160552"/>
            <a:ext cx="2041159" cy="369332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Clasificare</a:t>
            </a:r>
            <a:r>
              <a:rPr lang="en-US" dirty="0"/>
              <a:t> </a:t>
            </a:r>
            <a:r>
              <a:rPr lang="en-US" dirty="0" err="1"/>
              <a:t>binara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F07DEA1-09F5-CC7B-9378-713807183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91" y="2851057"/>
            <a:ext cx="5953125" cy="3800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70F3B9-EC69-6D93-5D27-9FEDE6F3450C}"/>
              </a:ext>
            </a:extLst>
          </p:cNvPr>
          <p:cNvSpPr txBox="1"/>
          <p:nvPr/>
        </p:nvSpPr>
        <p:spPr>
          <a:xfrm>
            <a:off x="8359793" y="3625846"/>
            <a:ext cx="2534217" cy="369332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Clasificare</a:t>
            </a:r>
            <a:r>
              <a:rPr lang="en-US" dirty="0"/>
              <a:t> multiclass</a:t>
            </a:r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878F4758-1BA0-9D3F-E931-0B6915820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146" y="4757457"/>
            <a:ext cx="3552825" cy="14668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37E621-777A-9E26-0A6F-0A6F27E34FED}"/>
              </a:ext>
            </a:extLst>
          </p:cNvPr>
          <p:cNvSpPr txBox="1"/>
          <p:nvPr/>
        </p:nvSpPr>
        <p:spPr>
          <a:xfrm>
            <a:off x="4607870" y="5347657"/>
            <a:ext cx="2034660" cy="120032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Reprezentare</a:t>
            </a:r>
            <a:r>
              <a:rPr lang="en-US" dirty="0"/>
              <a:t> </a:t>
            </a:r>
            <a:r>
              <a:rPr lang="en-US" err="1"/>
              <a:t>posibila</a:t>
            </a:r>
            <a:r>
              <a:rPr lang="en-US" dirty="0"/>
              <a:t>: 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b="1" dirty="0" err="1">
                <a:solidFill>
                  <a:srgbClr val="002060"/>
                </a:solidFill>
              </a:rPr>
              <a:t>intreaga</a:t>
            </a:r>
            <a:r>
              <a:rPr lang="en-US" dirty="0"/>
              <a:t>: </a:t>
            </a:r>
            <a:r>
              <a:rPr lang="en-US" dirty="0">
                <a:solidFill>
                  <a:srgbClr val="002060"/>
                </a:solidFill>
              </a:rPr>
              <a:t>0 la n-1</a:t>
            </a:r>
            <a:r>
              <a:rPr lang="en-US" dirty="0"/>
              <a:t>, n </a:t>
            </a:r>
            <a:r>
              <a:rPr lang="en-US" dirty="0" err="1"/>
              <a:t>numar</a:t>
            </a:r>
            <a:r>
              <a:rPr lang="en-US" dirty="0"/>
              <a:t> de </a:t>
            </a:r>
            <a:r>
              <a:rPr lang="en-US" dirty="0" err="1"/>
              <a:t>clase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8F491CE-76F2-D585-B2E1-F0E30ACA1BC7}"/>
              </a:ext>
            </a:extLst>
          </p:cNvPr>
          <p:cNvCxnSpPr/>
          <p:nvPr/>
        </p:nvCxnSpPr>
        <p:spPr>
          <a:xfrm flipV="1">
            <a:off x="6386792" y="5261722"/>
            <a:ext cx="667871" cy="486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57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different types of weather&#10;&#10;Description automatically generated">
            <a:extLst>
              <a:ext uri="{FF2B5EF4-FFF2-40B4-BE49-F238E27FC236}">
                <a16:creationId xmlns:a16="http://schemas.microsoft.com/office/drawing/2014/main" id="{5B9879CD-0411-B990-D3D2-434CE4EBA2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9646" y="3509356"/>
            <a:ext cx="7832912" cy="3348318"/>
          </a:xfrm>
        </p:spPr>
      </p:pic>
      <p:pic>
        <p:nvPicPr>
          <p:cNvPr id="5" name="Picture 4" descr="A white rectangular box with black text&#10;&#10;Description automatically generated">
            <a:extLst>
              <a:ext uri="{FF2B5EF4-FFF2-40B4-BE49-F238E27FC236}">
                <a16:creationId xmlns:a16="http://schemas.microsoft.com/office/drawing/2014/main" id="{2FBF43B8-9430-61F5-885F-C92F09FEB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79" y="238125"/>
            <a:ext cx="6286500" cy="333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3496AD-5DCB-1C30-9819-5A6352B2E08D}"/>
              </a:ext>
            </a:extLst>
          </p:cNvPr>
          <p:cNvSpPr txBox="1"/>
          <p:nvPr/>
        </p:nvSpPr>
        <p:spPr>
          <a:xfrm>
            <a:off x="7730279" y="818724"/>
            <a:ext cx="3465297" cy="369332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Clasificare</a:t>
            </a:r>
            <a:r>
              <a:rPr lang="en-US" dirty="0"/>
              <a:t> Multilabel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CEEBA6-BFFD-8BFC-64FE-EC20D7A175B0}"/>
              </a:ext>
            </a:extLst>
          </p:cNvPr>
          <p:cNvSpPr txBox="1"/>
          <p:nvPr/>
        </p:nvSpPr>
        <p:spPr>
          <a:xfrm>
            <a:off x="841136" y="5931486"/>
            <a:ext cx="2437132" cy="9233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Reprezentare</a:t>
            </a:r>
            <a:r>
              <a:rPr lang="en-US" dirty="0"/>
              <a:t> </a:t>
            </a:r>
            <a:r>
              <a:rPr lang="en-US" dirty="0" err="1"/>
              <a:t>posibila</a:t>
            </a:r>
            <a:r>
              <a:rPr lang="en-US" dirty="0"/>
              <a:t>:  One-Hot encoding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0373D2-0012-E0C7-C9F7-BBC5447341F6}"/>
              </a:ext>
            </a:extLst>
          </p:cNvPr>
          <p:cNvCxnSpPr/>
          <p:nvPr/>
        </p:nvCxnSpPr>
        <p:spPr>
          <a:xfrm flipV="1">
            <a:off x="3291169" y="6256245"/>
            <a:ext cx="2102223" cy="1165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360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DDA391F7-4179-6523-34EE-9791EE05B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621" y="703169"/>
            <a:ext cx="9711341" cy="5259014"/>
          </a:xfrm>
        </p:spPr>
      </p:pic>
    </p:spTree>
    <p:extLst>
      <p:ext uri="{BB962C8B-B14F-4D97-AF65-F5344CB8AC3E}">
        <p14:creationId xmlns:p14="http://schemas.microsoft.com/office/powerpoint/2010/main" val="951420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2C2B9-948B-C61D-8299-3166A9068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53" y="-94316"/>
            <a:ext cx="10515600" cy="1325563"/>
          </a:xfrm>
        </p:spPr>
        <p:txBody>
          <a:bodyPr/>
          <a:lstStyle/>
          <a:p>
            <a:r>
              <a:rPr lang="en-US" dirty="0"/>
              <a:t>Multiclass – cum?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48BDE-F45D-B203-71ED-D923A2AD6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288" y="1231715"/>
            <a:ext cx="11624982" cy="54271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Unele</a:t>
            </a:r>
            <a:r>
              <a:rPr lang="en-US" dirty="0"/>
              <a:t> </a:t>
            </a:r>
            <a:r>
              <a:rPr lang="en-US" dirty="0" err="1"/>
              <a:t>modele</a:t>
            </a:r>
            <a:r>
              <a:rPr lang="en-US" dirty="0"/>
              <a:t> permit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constructie</a:t>
            </a:r>
            <a:r>
              <a:rPr lang="en-US" dirty="0"/>
              <a:t> </a:t>
            </a:r>
            <a:r>
              <a:rPr lang="en-US" b="1" dirty="0"/>
              <a:t>y</a:t>
            </a:r>
            <a:r>
              <a:rPr lang="en-US" dirty="0"/>
              <a:t> cu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</a:t>
            </a:r>
            <a:r>
              <a:rPr lang="en-US" dirty="0"/>
              <a:t> de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valori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Alternative:</a:t>
            </a:r>
          </a:p>
          <a:p>
            <a:r>
              <a:rPr lang="en-US" dirty="0"/>
              <a:t>One Vs All: cate un </a:t>
            </a:r>
            <a:r>
              <a:rPr lang="en-US" dirty="0" err="1"/>
              <a:t>clasificator</a:t>
            </a:r>
            <a:r>
              <a:rPr lang="en-US" dirty="0"/>
              <a:t> </a:t>
            </a:r>
            <a:r>
              <a:rPr lang="en-US" dirty="0" err="1"/>
              <a:t>binar</a:t>
            </a:r>
            <a:r>
              <a:rPr lang="en-US" dirty="0"/>
              <a:t> per </a:t>
            </a:r>
            <a:r>
              <a:rPr lang="en-US" dirty="0" err="1"/>
              <a:t>clasa</a:t>
            </a:r>
            <a:r>
              <a:rPr lang="en-US" dirty="0"/>
              <a:t>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Clasa</a:t>
            </a:r>
            <a:r>
              <a:rPr lang="en-US" dirty="0"/>
              <a:t> 1 – </a:t>
            </a:r>
            <a:r>
              <a:rPr lang="en-US" dirty="0" err="1"/>
              <a:t>exemple</a:t>
            </a:r>
            <a:r>
              <a:rPr lang="en-US" dirty="0"/>
              <a:t> din </a:t>
            </a:r>
            <a:r>
              <a:rPr lang="en-US" dirty="0" err="1"/>
              <a:t>clasa</a:t>
            </a:r>
            <a:r>
              <a:rPr lang="en-US" dirty="0"/>
              <a:t> pt care se face </a:t>
            </a:r>
            <a:r>
              <a:rPr lang="en-US" dirty="0" err="1"/>
              <a:t>acum</a:t>
            </a:r>
            <a:r>
              <a:rPr lang="en-US" dirty="0"/>
              <a:t> </a:t>
            </a:r>
            <a:r>
              <a:rPr lang="en-US" dirty="0" err="1"/>
              <a:t>invatarea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Clasa</a:t>
            </a:r>
            <a:r>
              <a:rPr lang="en-US"/>
              <a:t> 0 – </a:t>
            </a:r>
            <a:r>
              <a:rPr lang="en-US" err="1"/>
              <a:t>exemplele</a:t>
            </a:r>
            <a:r>
              <a:rPr lang="en-US" dirty="0"/>
              <a:t> din </a:t>
            </a:r>
            <a:r>
              <a:rPr lang="en-US" err="1"/>
              <a:t>toate</a:t>
            </a:r>
            <a:r>
              <a:rPr lang="en-US" dirty="0"/>
              <a:t> </a:t>
            </a:r>
            <a:r>
              <a:rPr lang="en-US" err="1"/>
              <a:t>celelalte</a:t>
            </a:r>
            <a:r>
              <a:rPr lang="en-US" dirty="0"/>
              <a:t> </a:t>
            </a:r>
            <a:r>
              <a:rPr lang="en-US" err="1"/>
              <a:t>clase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A vs not A, B vs not B, C vs not C –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avem</a:t>
            </a:r>
            <a:r>
              <a:rPr lang="en-US" dirty="0"/>
              <a:t> </a:t>
            </a:r>
            <a:r>
              <a:rPr lang="en-US" dirty="0" err="1"/>
              <a:t>clasele</a:t>
            </a:r>
            <a:r>
              <a:rPr lang="en-US" dirty="0"/>
              <a:t> A,B,C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r>
              <a:rPr lang="en-US" dirty="0"/>
              <a:t>One Vs One: cate un </a:t>
            </a:r>
            <a:r>
              <a:rPr lang="en-US" dirty="0" err="1"/>
              <a:t>clasificator</a:t>
            </a:r>
            <a:r>
              <a:rPr lang="en-US" dirty="0"/>
              <a:t> per </a:t>
            </a:r>
            <a:r>
              <a:rPr lang="en-US" dirty="0" err="1"/>
              <a:t>pereche</a:t>
            </a:r>
            <a:r>
              <a:rPr lang="en-US" dirty="0"/>
              <a:t> de </a:t>
            </a:r>
            <a:r>
              <a:rPr lang="en-US" dirty="0" err="1"/>
              <a:t>clase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La </a:t>
            </a:r>
            <a:r>
              <a:rPr lang="en-US" dirty="0" err="1"/>
              <a:t>predictie</a:t>
            </a:r>
            <a:r>
              <a:rPr lang="en-US" dirty="0"/>
              <a:t>: </a:t>
            </a:r>
            <a:r>
              <a:rPr lang="en-US" dirty="0" err="1"/>
              <a:t>clasa</a:t>
            </a:r>
            <a:r>
              <a:rPr lang="en-US" dirty="0"/>
              <a:t> care </a:t>
            </a:r>
            <a:r>
              <a:rPr lang="en-US" dirty="0" err="1"/>
              <a:t>primeste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voturi</a:t>
            </a:r>
            <a:r>
              <a:rPr lang="en-US" dirty="0"/>
              <a:t> e </a:t>
            </a:r>
            <a:r>
              <a:rPr lang="en-US" dirty="0" err="1"/>
              <a:t>selectata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PRO: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CON: </a:t>
            </a:r>
            <a:r>
              <a:rPr lang="en-US" dirty="0" err="1"/>
              <a:t>Necesita</a:t>
            </a:r>
            <a:r>
              <a:rPr lang="en-US" dirty="0"/>
              <a:t> </a:t>
            </a:r>
            <a:r>
              <a:rPr lang="en-US" dirty="0" err="1"/>
              <a:t>n_classes</a:t>
            </a:r>
            <a:r>
              <a:rPr lang="en-US" dirty="0"/>
              <a:t>*(n_classes-1)/2 </a:t>
            </a:r>
            <a:r>
              <a:rPr lang="en-US" dirty="0" err="1"/>
              <a:t>clasificatori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014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7ED511-A7E8-DCCB-BB20-403A564180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65531" y="1119654"/>
            <a:ext cx="4874114" cy="4351338"/>
          </a:xfrm>
        </p:spPr>
      </p:pic>
      <p:pic>
        <p:nvPicPr>
          <p:cNvPr id="5" name="Picture 4" descr="A diagram of different colored shapes&#10;&#10;Description automatically generated">
            <a:extLst>
              <a:ext uri="{FF2B5EF4-FFF2-40B4-BE49-F238E27FC236}">
                <a16:creationId xmlns:a16="http://schemas.microsoft.com/office/drawing/2014/main" id="{EDCA88F1-163D-9DA0-FA92-2C094564B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37" y="1421466"/>
            <a:ext cx="5944721" cy="41383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F8AC17-FE19-0194-5E99-88D043EBE851}"/>
              </a:ext>
            </a:extLst>
          </p:cNvPr>
          <p:cNvSpPr txBox="1"/>
          <p:nvPr/>
        </p:nvSpPr>
        <p:spPr>
          <a:xfrm>
            <a:off x="8815565" y="5845309"/>
            <a:ext cx="24371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One vs One</a:t>
            </a:r>
          </a:p>
        </p:txBody>
      </p:sp>
    </p:spTree>
    <p:extLst>
      <p:ext uri="{BB962C8B-B14F-4D97-AF65-F5344CB8AC3E}">
        <p14:creationId xmlns:p14="http://schemas.microsoft.com/office/powerpoint/2010/main" val="3167746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77A9D-4660-0202-A95A-87F39FC7D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086100" cy="1347974"/>
          </a:xfrm>
        </p:spPr>
        <p:txBody>
          <a:bodyPr>
            <a:normAutofit/>
          </a:bodyPr>
          <a:lstStyle/>
          <a:p>
            <a:r>
              <a:rPr lang="en-US" dirty="0"/>
              <a:t>2. </a:t>
            </a:r>
            <a:r>
              <a:rPr lang="en-US" dirty="0" err="1"/>
              <a:t>Metrici</a:t>
            </a:r>
            <a:r>
              <a:rPr lang="en-US" dirty="0"/>
              <a:t> de </a:t>
            </a:r>
            <a:r>
              <a:rPr lang="en-US" dirty="0" err="1"/>
              <a:t>performanta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9F529-505F-34F5-0AC8-801565A69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Cum </a:t>
            </a:r>
            <a:r>
              <a:rPr lang="en-US" err="1"/>
              <a:t>putem</a:t>
            </a:r>
            <a:r>
              <a:rPr lang="en-US" dirty="0"/>
              <a:t> </a:t>
            </a:r>
            <a:r>
              <a:rPr lang="en-US" err="1"/>
              <a:t>evalua</a:t>
            </a:r>
            <a:r>
              <a:rPr lang="en-US" dirty="0"/>
              <a:t> un model? </a:t>
            </a:r>
            <a:r>
              <a:rPr lang="en-US" dirty="0">
                <a:solidFill>
                  <a:srgbClr val="002060"/>
                </a:solidFill>
              </a:rPr>
              <a:t>METRICI</a:t>
            </a:r>
          </a:p>
          <a:p>
            <a:r>
              <a:rPr lang="en-US" dirty="0">
                <a:solidFill>
                  <a:srgbClr val="C00000"/>
                </a:solidFill>
              </a:rPr>
              <a:t>Pe </a:t>
            </a:r>
            <a:r>
              <a:rPr lang="en-US" err="1">
                <a:solidFill>
                  <a:srgbClr val="C00000"/>
                </a:solidFill>
              </a:rPr>
              <a:t>baza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err="1">
                <a:solidFill>
                  <a:srgbClr val="C00000"/>
                </a:solidFill>
              </a:rPr>
              <a:t>caror</a:t>
            </a:r>
            <a:r>
              <a:rPr lang="en-US" dirty="0">
                <a:solidFill>
                  <a:srgbClr val="C00000"/>
                </a:solidFill>
              </a:rPr>
              <a:t> date</a:t>
            </a:r>
            <a:r>
              <a:rPr lang="en-US" dirty="0"/>
              <a:t>? 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Set de </a:t>
            </a:r>
            <a:r>
              <a:rPr lang="en-US" b="1" dirty="0"/>
              <a:t>train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Set de </a:t>
            </a:r>
            <a:r>
              <a:rPr lang="en-US" b="1" err="1"/>
              <a:t>validare</a:t>
            </a:r>
            <a:endParaRPr lang="en-US" b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Set de </a:t>
            </a:r>
            <a:r>
              <a:rPr lang="en-US" b="1" err="1"/>
              <a:t>testare</a:t>
            </a:r>
            <a:endParaRPr lang="en-US" b="1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Cross-validation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diagram of a training model&#10;&#10;Description automatically generated">
            <a:extLst>
              <a:ext uri="{FF2B5EF4-FFF2-40B4-BE49-F238E27FC236}">
                <a16:creationId xmlns:a16="http://schemas.microsoft.com/office/drawing/2014/main" id="{D1BCF369-BB99-93FA-7EB9-3A6F90EAD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780" y="2638425"/>
            <a:ext cx="6533029" cy="365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206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67977-6D26-6AC4-6709-6B891F73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Cross-validation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BD15CD8-BC99-CD94-BEDC-CAAAC547A1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23204" y="2193225"/>
            <a:ext cx="7486650" cy="363855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B82B2B-B8DA-423F-D7F8-CE4E87999D68}"/>
              </a:ext>
            </a:extLst>
          </p:cNvPr>
          <p:cNvSpPr txBox="1"/>
          <p:nvPr/>
        </p:nvSpPr>
        <p:spPr>
          <a:xfrm>
            <a:off x="162832" y="2544629"/>
            <a:ext cx="395661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Metoda</a:t>
            </a:r>
            <a:r>
              <a:rPr lang="en-US" dirty="0"/>
              <a:t> buna pt </a:t>
            </a:r>
            <a:r>
              <a:rPr lang="en-US" b="1" dirty="0"/>
              <a:t>Model Selection</a:t>
            </a:r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Se </a:t>
            </a:r>
            <a:r>
              <a:rPr lang="en-US" dirty="0" err="1"/>
              <a:t>imparte</a:t>
            </a:r>
            <a:r>
              <a:rPr lang="en-US" dirty="0"/>
              <a:t> </a:t>
            </a:r>
            <a:r>
              <a:rPr lang="en-US" dirty="0" err="1"/>
              <a:t>setul</a:t>
            </a:r>
            <a:r>
              <a:rPr lang="en-US" dirty="0"/>
              <a:t> de train in k;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Se </a:t>
            </a:r>
            <a:r>
              <a:rPr lang="en-US" dirty="0" err="1"/>
              <a:t>antreneaza</a:t>
            </a:r>
            <a:r>
              <a:rPr lang="en-US" dirty="0"/>
              <a:t> pe k-1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Se </a:t>
            </a:r>
            <a:r>
              <a:rPr lang="en-US" dirty="0" err="1"/>
              <a:t>testeaza</a:t>
            </a:r>
            <a:r>
              <a:rPr lang="en-US" dirty="0"/>
              <a:t> pe al k subset</a:t>
            </a:r>
          </a:p>
        </p:txBody>
      </p:sp>
    </p:spTree>
    <p:extLst>
      <p:ext uri="{BB962C8B-B14F-4D97-AF65-F5344CB8AC3E}">
        <p14:creationId xmlns:p14="http://schemas.microsoft.com/office/powerpoint/2010/main" val="3243274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B04E0-A65D-FBED-36C6-041FB4209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Matricea</a:t>
            </a:r>
            <a:r>
              <a:rPr lang="en-US" dirty="0"/>
              <a:t> de </a:t>
            </a:r>
            <a:r>
              <a:rPr lang="en-US" dirty="0" err="1"/>
              <a:t>confuzie</a:t>
            </a:r>
            <a:r>
              <a:rPr lang="en-US" dirty="0"/>
              <a:t> – 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19190-A6D4-849D-6D7F-FFD44989C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5504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Pt o </a:t>
            </a:r>
            <a:r>
              <a:rPr lang="en-US" dirty="0" err="1"/>
              <a:t>clasificare</a:t>
            </a:r>
            <a:r>
              <a:rPr lang="en-US" dirty="0"/>
              <a:t> </a:t>
            </a:r>
            <a:r>
              <a:rPr lang="en-US" dirty="0" err="1"/>
              <a:t>binara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Mai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erori</a:t>
            </a:r>
          </a:p>
        </p:txBody>
      </p:sp>
      <p:pic>
        <p:nvPicPr>
          <p:cNvPr id="4" name="Picture 3" descr="A chart with different colored squares&#10;&#10;Description automatically generated">
            <a:extLst>
              <a:ext uri="{FF2B5EF4-FFF2-40B4-BE49-F238E27FC236}">
                <a16:creationId xmlns:a16="http://schemas.microsoft.com/office/drawing/2014/main" id="{DD03DE6E-4EA5-FA73-43B4-D528B69B1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768" y="2028265"/>
            <a:ext cx="7729257" cy="407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969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hart with different colored squares&#10;&#10;Description automatically generated">
            <a:extLst>
              <a:ext uri="{FF2B5EF4-FFF2-40B4-BE49-F238E27FC236}">
                <a16:creationId xmlns:a16="http://schemas.microsoft.com/office/drawing/2014/main" id="{5653B05A-B6F4-EB3A-A089-36C235721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855" y="3787588"/>
            <a:ext cx="5813052" cy="30704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7022DF-490D-9C87-E29B-F949BDAEBA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387" r="-131" b="-415"/>
          <a:stretch/>
        </p:blipFill>
        <p:spPr>
          <a:xfrm>
            <a:off x="50427" y="1960"/>
            <a:ext cx="7607536" cy="544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027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4C0AC-43D2-1674-2574-5C446D0EF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29" y="301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y_true</a:t>
            </a:r>
            <a:r>
              <a:rPr lang="en-US" dirty="0"/>
              <a:t>  = 1 1 0 1 0 0 0 0 0 0</a:t>
            </a:r>
          </a:p>
          <a:p>
            <a:r>
              <a:rPr lang="en-US" dirty="0" err="1"/>
              <a:t>y_pred</a:t>
            </a:r>
            <a:r>
              <a:rPr lang="en-US" dirty="0"/>
              <a:t> = 1 1 1 0 1 0 0 0 0 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BDEEF1-5E1B-0A72-76C4-A9D83DE00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3" y="2878231"/>
            <a:ext cx="3840256" cy="33427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05F5DF-8673-953A-5844-AE1E5167A555}"/>
              </a:ext>
            </a:extLst>
          </p:cNvPr>
          <p:cNvSpPr txBox="1"/>
          <p:nvPr/>
        </p:nvSpPr>
        <p:spPr>
          <a:xfrm>
            <a:off x="6092964" y="639136"/>
            <a:ext cx="4730516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Accuracy = (2+5)/10 = 0.7</a:t>
            </a:r>
          </a:p>
          <a:p>
            <a:endParaRPr lang="en-US" sz="2400" dirty="0"/>
          </a:p>
          <a:p>
            <a:r>
              <a:rPr lang="en-US" sz="2400" dirty="0"/>
              <a:t>Precision = 2/4 - pt </a:t>
            </a:r>
            <a:r>
              <a:rPr lang="en-US" sz="2400" dirty="0" err="1"/>
              <a:t>clasa</a:t>
            </a:r>
            <a:r>
              <a:rPr lang="en-US" sz="2400" dirty="0"/>
              <a:t> </a:t>
            </a:r>
            <a:r>
              <a:rPr lang="en-US" sz="2400" dirty="0" err="1"/>
              <a:t>pozitiva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Recall  = 2/3 - pt </a:t>
            </a:r>
            <a:r>
              <a:rPr lang="en-US" sz="2400" dirty="0" err="1"/>
              <a:t>clasa</a:t>
            </a:r>
            <a:r>
              <a:rPr lang="en-US" sz="2400" dirty="0"/>
              <a:t> </a:t>
            </a:r>
            <a:r>
              <a:rPr lang="en-US" sz="2400" dirty="0" err="1"/>
              <a:t>pozitiva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85BD08-E0BE-BA50-7CF6-9468DA95E02D}"/>
              </a:ext>
            </a:extLst>
          </p:cNvPr>
          <p:cNvSpPr txBox="1"/>
          <p:nvPr/>
        </p:nvSpPr>
        <p:spPr>
          <a:xfrm>
            <a:off x="5246758" y="3183996"/>
            <a:ext cx="536447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 err="1"/>
              <a:t>Putem</a:t>
            </a:r>
            <a:r>
              <a:rPr lang="en-US" sz="2000" dirty="0"/>
              <a:t> </a:t>
            </a:r>
            <a:r>
              <a:rPr lang="en-US" sz="2000" dirty="0" err="1"/>
              <a:t>avea</a:t>
            </a:r>
            <a:r>
              <a:rPr lang="en-US" sz="2000" dirty="0"/>
              <a:t> </a:t>
            </a:r>
            <a:r>
              <a:rPr lang="en-US" sz="2000" dirty="0" err="1"/>
              <a:t>aceeasi</a:t>
            </a:r>
            <a:r>
              <a:rPr lang="en-US" sz="2000" dirty="0"/>
              <a:t> </a:t>
            </a:r>
            <a:r>
              <a:rPr lang="en-US" sz="2000" dirty="0" err="1"/>
              <a:t>acuratete</a:t>
            </a:r>
            <a:r>
              <a:rPr lang="en-US" sz="2000" dirty="0"/>
              <a:t> 0.7 </a:t>
            </a:r>
            <a:r>
              <a:rPr lang="en-US" sz="2000" dirty="0" err="1"/>
              <a:t>dar</a:t>
            </a:r>
            <a:r>
              <a:rPr lang="en-US" sz="2000" dirty="0"/>
              <a:t> cu </a:t>
            </a:r>
            <a:r>
              <a:rPr lang="en-US" sz="2000" dirty="0" err="1"/>
              <a:t>alte</a:t>
            </a:r>
            <a:r>
              <a:rPr lang="en-US" sz="2000" dirty="0"/>
              <a:t> </a:t>
            </a:r>
            <a:r>
              <a:rPr lang="en-US" sz="2000" dirty="0" err="1"/>
              <a:t>valori</a:t>
            </a:r>
            <a:r>
              <a:rPr lang="en-US" sz="2000" dirty="0"/>
              <a:t> pt Precision </a:t>
            </a:r>
            <a:r>
              <a:rPr lang="en-US" sz="2000" dirty="0" err="1"/>
              <a:t>si</a:t>
            </a:r>
            <a:r>
              <a:rPr lang="en-US" sz="2000" dirty="0"/>
              <a:t> recall?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9554BD-778B-B3A5-39F9-8B268D13F7C7}"/>
              </a:ext>
            </a:extLst>
          </p:cNvPr>
          <p:cNvSpPr txBox="1"/>
          <p:nvPr/>
        </p:nvSpPr>
        <p:spPr>
          <a:xfrm>
            <a:off x="5241179" y="4546229"/>
            <a:ext cx="6703430" cy="1938992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Da, </a:t>
            </a:r>
            <a:r>
              <a:rPr lang="en-US" sz="2400" dirty="0" err="1"/>
              <a:t>daca</a:t>
            </a:r>
            <a:r>
              <a:rPr lang="en-US" sz="2400" dirty="0"/>
              <a:t> </a:t>
            </a:r>
            <a:r>
              <a:rPr lang="en-US" sz="2400" dirty="0" err="1"/>
              <a:t>repartizam</a:t>
            </a:r>
            <a:r>
              <a:rPr lang="en-US" sz="2400" dirty="0"/>
              <a:t> </a:t>
            </a:r>
            <a:r>
              <a:rPr lang="en-US" sz="2400" dirty="0" err="1"/>
              <a:t>altfel</a:t>
            </a:r>
            <a:r>
              <a:rPr lang="en-US" sz="2400" dirty="0"/>
              <a:t> </a:t>
            </a:r>
            <a:r>
              <a:rPr lang="en-US" sz="2400" dirty="0" err="1"/>
              <a:t>cele</a:t>
            </a:r>
            <a:r>
              <a:rPr lang="en-US" sz="2400" dirty="0"/>
              <a:t> 3 </a:t>
            </a:r>
            <a:r>
              <a:rPr lang="en-US" sz="2400" dirty="0" err="1"/>
              <a:t>exemple</a:t>
            </a:r>
            <a:r>
              <a:rPr lang="en-US" sz="2400" dirty="0"/>
              <a:t> </a:t>
            </a:r>
            <a:r>
              <a:rPr lang="en-US" sz="2400" dirty="0" err="1"/>
              <a:t>gresite</a:t>
            </a:r>
            <a:endParaRPr lang="en-US" sz="2400" dirty="0"/>
          </a:p>
          <a:p>
            <a:r>
              <a:rPr lang="en-US" sz="2400" dirty="0"/>
              <a:t>Precision recall trade-off: </a:t>
            </a:r>
            <a:r>
              <a:rPr lang="en-US" sz="2400" err="1"/>
              <a:t>cresterea</a:t>
            </a:r>
            <a:r>
              <a:rPr lang="en-US" sz="2400" dirty="0"/>
              <a:t> </a:t>
            </a:r>
            <a:r>
              <a:rPr lang="en-US" sz="2400" err="1"/>
              <a:t>unuia</a:t>
            </a:r>
            <a:r>
              <a:rPr lang="en-US" sz="2400" dirty="0"/>
              <a:t> </a:t>
            </a:r>
            <a:r>
              <a:rPr lang="en-US" sz="2400" err="1"/>
              <a:t>determina</a:t>
            </a:r>
            <a:r>
              <a:rPr lang="en-US" sz="2400" dirty="0"/>
              <a:t> </a:t>
            </a:r>
            <a:r>
              <a:rPr lang="en-US" sz="2400" err="1"/>
              <a:t>scaderea</a:t>
            </a:r>
            <a:r>
              <a:rPr lang="en-US" sz="2400" dirty="0"/>
              <a:t> </a:t>
            </a:r>
            <a:r>
              <a:rPr lang="en-US" sz="2400" err="1"/>
              <a:t>celuilalt</a:t>
            </a:r>
            <a:endParaRPr lang="en-US" sz="2400"/>
          </a:p>
          <a:p>
            <a:endParaRPr lang="en-US" sz="2400" dirty="0"/>
          </a:p>
          <a:p>
            <a:r>
              <a:rPr lang="en-US" sz="2400" err="1"/>
              <a:t>Concluzia</a:t>
            </a:r>
            <a:r>
              <a:rPr lang="en-US" sz="2400" dirty="0"/>
              <a:t>: </a:t>
            </a:r>
            <a:r>
              <a:rPr lang="en-US" sz="2400" err="1"/>
              <a:t>acuratetea</a:t>
            </a:r>
            <a:r>
              <a:rPr lang="en-US" sz="2400" dirty="0"/>
              <a:t> </a:t>
            </a:r>
            <a:r>
              <a:rPr lang="en-US" sz="2400" err="1"/>
              <a:t>singura</a:t>
            </a:r>
            <a:r>
              <a:rPr lang="en-US" sz="2400" dirty="0"/>
              <a:t> NU e </a:t>
            </a:r>
            <a:r>
              <a:rPr lang="en-US" sz="2400" err="1"/>
              <a:t>suficienta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092573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74444-0129-A239-9BFB-58412B99F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de date </a:t>
            </a:r>
            <a:r>
              <a:rPr lang="en-US" b="1" dirty="0" err="1"/>
              <a:t>nebalansat</a:t>
            </a:r>
            <a:r>
              <a:rPr lang="en-US" b="1" dirty="0"/>
              <a:t> </a:t>
            </a:r>
            <a:r>
              <a:rPr lang="en-US" dirty="0"/>
              <a:t>(imbalanced dataset)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F7F6C-32AE-C737-CC63-AE1E9198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0322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 err="1"/>
              <a:t>Consideram</a:t>
            </a:r>
            <a:r>
              <a:rPr lang="en-US" dirty="0"/>
              <a:t> un set de date </a:t>
            </a:r>
            <a:r>
              <a:rPr lang="en-US" dirty="0" err="1"/>
              <a:t>despre</a:t>
            </a:r>
            <a:r>
              <a:rPr lang="en-US" dirty="0"/>
              <a:t> </a:t>
            </a:r>
            <a:r>
              <a:rPr lang="en-US" dirty="0" err="1"/>
              <a:t>fraude</a:t>
            </a:r>
            <a:r>
              <a:rPr lang="en-US" dirty="0"/>
              <a:t> </a:t>
            </a:r>
            <a:r>
              <a:rPr lang="en-US" dirty="0" err="1"/>
              <a:t>bancare</a:t>
            </a:r>
            <a:r>
              <a:rPr lang="en-US" dirty="0"/>
              <a:t> la </a:t>
            </a:r>
            <a:r>
              <a:rPr lang="en-US" dirty="0" err="1"/>
              <a:t>tranzactii</a:t>
            </a:r>
            <a:r>
              <a:rPr lang="en-US" dirty="0"/>
              <a:t> cu </a:t>
            </a:r>
            <a:r>
              <a:rPr lang="en-US" dirty="0" err="1"/>
              <a:t>cardul</a:t>
            </a:r>
            <a:r>
              <a:rPr lang="en-US" dirty="0"/>
              <a:t>. </a:t>
            </a:r>
            <a:r>
              <a:rPr lang="en-US" dirty="0" err="1"/>
              <a:t>Setul</a:t>
            </a:r>
            <a:r>
              <a:rPr lang="en-US" dirty="0"/>
              <a:t> </a:t>
            </a:r>
            <a:r>
              <a:rPr lang="en-US" dirty="0" err="1"/>
              <a:t>contine</a:t>
            </a:r>
            <a:r>
              <a:rPr lang="en-US" dirty="0"/>
              <a:t> 980 </a:t>
            </a:r>
            <a:r>
              <a:rPr lang="en-US" dirty="0" err="1"/>
              <a:t>exemple</a:t>
            </a:r>
            <a:r>
              <a:rPr lang="en-US" dirty="0"/>
              <a:t> din </a:t>
            </a:r>
            <a:r>
              <a:rPr lang="en-US" dirty="0" err="1"/>
              <a:t>clasa</a:t>
            </a:r>
            <a:r>
              <a:rPr lang="en-US" dirty="0"/>
              <a:t> 0 (</a:t>
            </a:r>
            <a:r>
              <a:rPr lang="en-US" dirty="0" err="1"/>
              <a:t>tranzactii</a:t>
            </a:r>
            <a:r>
              <a:rPr lang="en-US" dirty="0"/>
              <a:t> </a:t>
            </a:r>
            <a:r>
              <a:rPr lang="en-US" dirty="0" err="1"/>
              <a:t>legale</a:t>
            </a:r>
            <a:r>
              <a:rPr lang="en-US" dirty="0"/>
              <a:t>), 20 din </a:t>
            </a:r>
            <a:r>
              <a:rPr lang="en-US" dirty="0" err="1"/>
              <a:t>clasa</a:t>
            </a:r>
            <a:r>
              <a:rPr lang="en-US" dirty="0"/>
              <a:t> 1 (</a:t>
            </a:r>
            <a:r>
              <a:rPr lang="en-US" dirty="0" err="1"/>
              <a:t>frauda</a:t>
            </a:r>
            <a:r>
              <a:rPr lang="en-US" dirty="0"/>
              <a:t>). </a:t>
            </a:r>
          </a:p>
          <a:p>
            <a:endParaRPr lang="en-US" dirty="0"/>
          </a:p>
          <a:p>
            <a:r>
              <a:rPr lang="en-US" dirty="0"/>
              <a:t>Ce </a:t>
            </a:r>
            <a:r>
              <a:rPr lang="en-US" dirty="0" err="1"/>
              <a:t>acuratete</a:t>
            </a:r>
            <a:r>
              <a:rPr lang="en-US" dirty="0"/>
              <a:t> are un model care </a:t>
            </a:r>
            <a:r>
              <a:rPr lang="en-US" dirty="0" err="1"/>
              <a:t>prezice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exemplele</a:t>
            </a:r>
            <a:r>
              <a:rPr lang="en-US" dirty="0"/>
              <a:t> in </a:t>
            </a:r>
            <a:r>
              <a:rPr lang="en-US" dirty="0" err="1"/>
              <a:t>clasa</a:t>
            </a:r>
            <a:r>
              <a:rPr lang="en-US" dirty="0"/>
              <a:t> 0 </a:t>
            </a:r>
            <a:r>
              <a:rPr lang="en-US" dirty="0" err="1"/>
              <a:t>exceptie</a:t>
            </a:r>
            <a:r>
              <a:rPr lang="en-US" dirty="0"/>
              <a:t> un </a:t>
            </a:r>
            <a:r>
              <a:rPr lang="en-US" dirty="0" err="1"/>
              <a:t>exemplu</a:t>
            </a:r>
            <a:r>
              <a:rPr lang="en-US" dirty="0"/>
              <a:t> de </a:t>
            </a:r>
            <a:r>
              <a:rPr lang="en-US" dirty="0" err="1"/>
              <a:t>frauda</a:t>
            </a:r>
            <a:r>
              <a:rPr lang="en-US" dirty="0"/>
              <a:t> pe care il </a:t>
            </a:r>
            <a:r>
              <a:rPr lang="en-US" dirty="0" err="1"/>
              <a:t>clasifica</a:t>
            </a:r>
            <a:r>
              <a:rPr lang="en-US" dirty="0"/>
              <a:t> </a:t>
            </a:r>
            <a:r>
              <a:rPr lang="en-US" dirty="0" err="1"/>
              <a:t>corect</a:t>
            </a:r>
            <a:r>
              <a:rPr lang="en-US" dirty="0"/>
              <a:t> in 1?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96DCC1-867F-29D4-2CE3-D685ACF4736A}"/>
              </a:ext>
            </a:extLst>
          </p:cNvPr>
          <p:cNvSpPr txBox="1"/>
          <p:nvPr/>
        </p:nvSpPr>
        <p:spPr>
          <a:xfrm>
            <a:off x="1003334" y="4562829"/>
            <a:ext cx="499423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Acuratete = 981/1000</a:t>
            </a:r>
          </a:p>
          <a:p>
            <a:r>
              <a:rPr lang="en-US" sz="2400" dirty="0">
                <a:solidFill>
                  <a:srgbClr val="C00000"/>
                </a:solidFill>
              </a:rPr>
              <a:t>Precision = 1/1</a:t>
            </a:r>
          </a:p>
          <a:p>
            <a:r>
              <a:rPr lang="en-US" sz="2400" dirty="0">
                <a:solidFill>
                  <a:srgbClr val="C00000"/>
                </a:solidFill>
              </a:rPr>
              <a:t>Recall = 1/20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E4B63B-1AD1-AD42-A922-FF2F8D15CD6C}"/>
              </a:ext>
            </a:extLst>
          </p:cNvPr>
          <p:cNvSpPr txBox="1"/>
          <p:nvPr/>
        </p:nvSpPr>
        <p:spPr>
          <a:xfrm>
            <a:off x="4636293" y="4557405"/>
            <a:ext cx="689343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/>
              <a:t>Precision </a:t>
            </a:r>
            <a:r>
              <a:rPr lang="en-US" sz="2400" err="1"/>
              <a:t>si</a:t>
            </a:r>
            <a:r>
              <a:rPr lang="en-US" sz="2400" dirty="0"/>
              <a:t> recall au </a:t>
            </a:r>
            <a:r>
              <a:rPr lang="en-US" sz="2400" err="1"/>
              <a:t>sens</a:t>
            </a:r>
            <a:r>
              <a:rPr lang="en-US" sz="2400" dirty="0"/>
              <a:t> </a:t>
            </a:r>
            <a:r>
              <a:rPr lang="en-US" sz="2400" err="1"/>
              <a:t>impreuna</a:t>
            </a:r>
            <a:r>
              <a:rPr lang="en-US" sz="2400" dirty="0"/>
              <a:t>. Daca stim </a:t>
            </a:r>
            <a:r>
              <a:rPr lang="en-US" sz="2400" err="1"/>
              <a:t>daor</a:t>
            </a:r>
            <a:r>
              <a:rPr lang="en-US" sz="2400" dirty="0"/>
              <a:t> ca un model are o </a:t>
            </a:r>
            <a:r>
              <a:rPr lang="en-US" sz="2400" err="1"/>
              <a:t>precizie</a:t>
            </a:r>
            <a:r>
              <a:rPr lang="en-US" sz="2400" dirty="0"/>
              <a:t> mare, </a:t>
            </a:r>
            <a:r>
              <a:rPr lang="en-US" sz="2400" err="1"/>
              <a:t>dar</a:t>
            </a:r>
            <a:r>
              <a:rPr lang="en-US" sz="2400" dirty="0"/>
              <a:t> nu stim </a:t>
            </a:r>
            <a:r>
              <a:rPr lang="en-US" sz="2400" err="1"/>
              <a:t>si</a:t>
            </a:r>
            <a:r>
              <a:rPr lang="en-US" sz="2400" dirty="0"/>
              <a:t> </a:t>
            </a:r>
            <a:r>
              <a:rPr lang="en-US" sz="2400" err="1"/>
              <a:t>ce</a:t>
            </a:r>
            <a:r>
              <a:rPr lang="en-US" sz="2400" dirty="0"/>
              <a:t> recall are, de </a:t>
            </a:r>
            <a:r>
              <a:rPr lang="en-US" sz="2400" err="1"/>
              <a:t>fapt</a:t>
            </a:r>
            <a:r>
              <a:rPr lang="en-US" sz="2400" dirty="0"/>
              <a:t> nu stim cat de bun e </a:t>
            </a:r>
            <a:r>
              <a:rPr lang="en-US" sz="2400" err="1"/>
              <a:t>modelul</a:t>
            </a:r>
            <a:r>
              <a:rPr lang="en-US" sz="2400" dirty="0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2400" err="1"/>
              <a:t>Acuratetea</a:t>
            </a:r>
            <a:r>
              <a:rPr lang="en-US" sz="2400" dirty="0"/>
              <a:t> pt </a:t>
            </a:r>
            <a:r>
              <a:rPr lang="en-US" sz="2400" err="1"/>
              <a:t>seturi</a:t>
            </a:r>
            <a:r>
              <a:rPr lang="en-US" sz="2400" dirty="0"/>
              <a:t> </a:t>
            </a:r>
            <a:r>
              <a:rPr lang="en-US" sz="2400" err="1"/>
              <a:t>nebalansate</a:t>
            </a:r>
            <a:r>
              <a:rPr lang="en-US" sz="2400" dirty="0"/>
              <a:t> nu </a:t>
            </a:r>
            <a:r>
              <a:rPr lang="en-US" sz="2400" err="1"/>
              <a:t>spune</a:t>
            </a:r>
            <a:r>
              <a:rPr lang="en-US" sz="2400" dirty="0"/>
              <a:t> </a:t>
            </a:r>
            <a:r>
              <a:rPr lang="en-US" sz="2400" err="1"/>
              <a:t>aproape</a:t>
            </a:r>
            <a:r>
              <a:rPr lang="en-US" sz="2400" dirty="0"/>
              <a:t> </a:t>
            </a:r>
            <a:r>
              <a:rPr lang="en-US" sz="2400" err="1"/>
              <a:t>nimic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761232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10BF0-9E5A-0EFC-4BEA-015DCA62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41" y="454772"/>
            <a:ext cx="4935071" cy="134797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Matricea</a:t>
            </a:r>
            <a:r>
              <a:rPr lang="en-US" dirty="0"/>
              <a:t> de </a:t>
            </a:r>
            <a:r>
              <a:rPr lang="en-US" dirty="0" err="1"/>
              <a:t>confuzie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 </a:t>
            </a:r>
            <a:r>
              <a:rPr lang="en-US" dirty="0" err="1"/>
              <a:t>clasificare</a:t>
            </a:r>
            <a:r>
              <a:rPr lang="en-US" dirty="0"/>
              <a:t> multiclass</a:t>
            </a:r>
          </a:p>
        </p:txBody>
      </p:sp>
      <p:pic>
        <p:nvPicPr>
          <p:cNvPr id="4" name="Content Placeholder 3" descr="A chart of different colored squares&#10;&#10;Description automatically generated">
            <a:extLst>
              <a:ext uri="{FF2B5EF4-FFF2-40B4-BE49-F238E27FC236}">
                <a16:creationId xmlns:a16="http://schemas.microsoft.com/office/drawing/2014/main" id="{D91B2DB3-CA5C-7644-3ABF-6CE6A5CEAB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49010" y="2739512"/>
            <a:ext cx="4743450" cy="411480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C3ECBF-4E6D-4142-01C6-F1129E635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687" y="197223"/>
            <a:ext cx="6850155" cy="2306170"/>
          </a:xfrm>
          <a:prstGeom prst="rect">
            <a:avLst/>
          </a:prstGeom>
        </p:spPr>
      </p:pic>
      <p:pic>
        <p:nvPicPr>
          <p:cNvPr id="6" name="Picture 5" descr="A chart of different sizes and colors&#10;&#10;Description automatically generated">
            <a:extLst>
              <a:ext uri="{FF2B5EF4-FFF2-40B4-BE49-F238E27FC236}">
                <a16:creationId xmlns:a16="http://schemas.microsoft.com/office/drawing/2014/main" id="{25B5EE75-C9D8-E41F-8D6E-CD7DE055C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" y="2125474"/>
            <a:ext cx="5873564" cy="45344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AD93FC-0E19-3A10-7B4C-EFE45AF81FFB}"/>
              </a:ext>
            </a:extLst>
          </p:cNvPr>
          <p:cNvSpPr txBox="1"/>
          <p:nvPr/>
        </p:nvSpPr>
        <p:spPr>
          <a:xfrm>
            <a:off x="4444759" y="5919296"/>
            <a:ext cx="210206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Decision boundaries</a:t>
            </a:r>
          </a:p>
        </p:txBody>
      </p:sp>
    </p:spTree>
    <p:extLst>
      <p:ext uri="{BB962C8B-B14F-4D97-AF65-F5344CB8AC3E}">
        <p14:creationId xmlns:p14="http://schemas.microsoft.com/office/powerpoint/2010/main" val="2013355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E395C-8AE8-34BC-F9F0-499499329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288" y="4320802"/>
            <a:ext cx="3825689" cy="1325563"/>
          </a:xfrm>
        </p:spPr>
        <p:txBody>
          <a:bodyPr/>
          <a:lstStyle/>
          <a:p>
            <a:r>
              <a:rPr lang="en-US" dirty="0"/>
              <a:t>Underfit vs overfit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F3ED1-40C5-8DFA-02FE-BC19CD380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023" y="380066"/>
            <a:ext cx="11120717" cy="25696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Underfitting = </a:t>
            </a:r>
            <a:r>
              <a:rPr lang="en-US" err="1"/>
              <a:t>modelul</a:t>
            </a:r>
            <a:r>
              <a:rPr lang="en-US" dirty="0"/>
              <a:t> e </a:t>
            </a:r>
            <a:r>
              <a:rPr lang="en-US" err="1"/>
              <a:t>prea</a:t>
            </a:r>
            <a:r>
              <a:rPr lang="en-US" dirty="0"/>
              <a:t> </a:t>
            </a:r>
            <a:r>
              <a:rPr lang="en-US" err="1"/>
              <a:t>simplist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Metricile</a:t>
            </a:r>
            <a:r>
              <a:rPr lang="en-US" dirty="0"/>
              <a:t> sunt </a:t>
            </a:r>
            <a:r>
              <a:rPr lang="en-US" dirty="0" err="1"/>
              <a:t>departe</a:t>
            </a:r>
            <a:r>
              <a:rPr lang="en-US" dirty="0"/>
              <a:t> de </a:t>
            </a:r>
            <a:r>
              <a:rPr lang="en-US" dirty="0" err="1"/>
              <a:t>valori</a:t>
            </a:r>
            <a:r>
              <a:rPr lang="en-US" dirty="0"/>
              <a:t> "</a:t>
            </a:r>
            <a:r>
              <a:rPr lang="en-US" dirty="0" err="1"/>
              <a:t>bune</a:t>
            </a:r>
            <a:r>
              <a:rPr lang="en-US" dirty="0"/>
              <a:t>" </a:t>
            </a:r>
            <a:r>
              <a:rPr lang="en-US" dirty="0" err="1"/>
              <a:t>si</a:t>
            </a:r>
            <a:r>
              <a:rPr lang="en-US" dirty="0"/>
              <a:t> pe </a:t>
            </a:r>
            <a:r>
              <a:rPr lang="en-US" dirty="0" err="1"/>
              <a:t>setul</a:t>
            </a:r>
            <a:r>
              <a:rPr lang="en-US" dirty="0"/>
              <a:t> de train, nu </a:t>
            </a:r>
            <a:r>
              <a:rPr lang="en-US" dirty="0" err="1"/>
              <a:t>doar</a:t>
            </a:r>
            <a:r>
              <a:rPr lang="en-US" dirty="0"/>
              <a:t> pe test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Overfitting – </a:t>
            </a:r>
            <a:r>
              <a:rPr lang="en-US" dirty="0" err="1"/>
              <a:t>modelul</a:t>
            </a:r>
            <a:r>
              <a:rPr lang="en-US" dirty="0"/>
              <a:t> e </a:t>
            </a:r>
            <a:r>
              <a:rPr lang="en-US" dirty="0" err="1"/>
              <a:t>prea</a:t>
            </a:r>
            <a:r>
              <a:rPr lang="en-US" dirty="0"/>
              <a:t> complex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Metricile</a:t>
            </a:r>
            <a:r>
              <a:rPr lang="en-US" dirty="0"/>
              <a:t> sunt </a:t>
            </a:r>
            <a:r>
              <a:rPr lang="en-US" dirty="0" err="1"/>
              <a:t>bune</a:t>
            </a:r>
            <a:r>
              <a:rPr lang="en-US" dirty="0"/>
              <a:t> pe train,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scad</a:t>
            </a:r>
            <a:r>
              <a:rPr lang="en-US" dirty="0"/>
              <a:t> </a:t>
            </a:r>
            <a:r>
              <a:rPr lang="en-US" dirty="0" err="1"/>
              <a:t>semnificativ</a:t>
            </a:r>
            <a:r>
              <a:rPr lang="en-US" dirty="0"/>
              <a:t> pe test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367784-5D72-4E3D-8FBF-CB897C3A49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36" b="6427"/>
          <a:stretch/>
        </p:blipFill>
        <p:spPr>
          <a:xfrm>
            <a:off x="3712791" y="2450446"/>
            <a:ext cx="8240255" cy="4243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785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table with text on it&#10;&#10;Description automatically generated">
            <a:extLst>
              <a:ext uri="{FF2B5EF4-FFF2-40B4-BE49-F238E27FC236}">
                <a16:creationId xmlns:a16="http://schemas.microsoft.com/office/drawing/2014/main" id="{78C6AC8D-4DE6-9EC2-DCDF-79040F024A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911" y="604184"/>
            <a:ext cx="11377471" cy="5572779"/>
          </a:xfrm>
        </p:spPr>
      </p:pic>
    </p:spTree>
    <p:extLst>
      <p:ext uri="{BB962C8B-B14F-4D97-AF65-F5344CB8AC3E}">
        <p14:creationId xmlns:p14="http://schemas.microsoft.com/office/powerpoint/2010/main" val="189501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6234-7971-CC61-015A-D64283E83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Regularizare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Arbori</a:t>
            </a:r>
            <a:r>
              <a:rPr lang="en-US" dirty="0"/>
              <a:t> de </a:t>
            </a:r>
            <a:r>
              <a:rPr lang="en-US" dirty="0" err="1"/>
              <a:t>decizie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92257-59FB-003F-C23B-3FFFD2A49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 err="1"/>
              <a:t>Arborii</a:t>
            </a:r>
            <a:r>
              <a:rPr lang="en-US" dirty="0"/>
              <a:t> de </a:t>
            </a:r>
            <a:r>
              <a:rPr lang="en-US" dirty="0" err="1"/>
              <a:t>decizie</a:t>
            </a:r>
            <a:r>
              <a:rPr lang="en-US" dirty="0"/>
              <a:t> pot face overfitting </a:t>
            </a:r>
          </a:p>
          <a:p>
            <a:r>
              <a:rPr lang="en-US" dirty="0"/>
              <a:t>Nonparametric model – </a:t>
            </a:r>
            <a:r>
              <a:rPr lang="en-US" err="1"/>
              <a:t>numarul</a:t>
            </a:r>
            <a:r>
              <a:rPr lang="en-US" dirty="0"/>
              <a:t> de </a:t>
            </a:r>
            <a:r>
              <a:rPr lang="en-US" err="1"/>
              <a:t>parametrii</a:t>
            </a:r>
            <a:r>
              <a:rPr lang="en-US" dirty="0"/>
              <a:t> nu e </a:t>
            </a:r>
            <a:r>
              <a:rPr lang="en-US" err="1"/>
              <a:t>cunoscut</a:t>
            </a:r>
            <a:r>
              <a:rPr lang="en-US" dirty="0"/>
              <a:t> de la </a:t>
            </a:r>
            <a:r>
              <a:rPr lang="en-US" err="1"/>
              <a:t>inceput</a:t>
            </a:r>
            <a:endParaRPr lang="en-US"/>
          </a:p>
          <a:p>
            <a:r>
              <a:rPr lang="en-US" dirty="0" err="1"/>
              <a:t>Evitare</a:t>
            </a:r>
            <a:r>
              <a:rPr lang="en-US" dirty="0"/>
              <a:t> overfitting </a:t>
            </a:r>
            <a:r>
              <a:rPr lang="en-US" dirty="0" err="1"/>
              <a:t>prin</a:t>
            </a:r>
            <a:r>
              <a:rPr lang="en-US" dirty="0"/>
              <a:t> </a:t>
            </a:r>
            <a:r>
              <a:rPr lang="en-US" dirty="0" err="1"/>
              <a:t>reducerea</a:t>
            </a:r>
            <a:r>
              <a:rPr lang="en-US" dirty="0"/>
              <a:t> "</a:t>
            </a:r>
            <a:r>
              <a:rPr lang="en-US" dirty="0" err="1"/>
              <a:t>libertatii</a:t>
            </a:r>
            <a:r>
              <a:rPr lang="en-US" dirty="0"/>
              <a:t>" la </a:t>
            </a:r>
            <a:r>
              <a:rPr lang="en-US" dirty="0" err="1"/>
              <a:t>antrenare</a:t>
            </a:r>
            <a:r>
              <a:rPr lang="en-US" dirty="0"/>
              <a:t>: </a:t>
            </a:r>
            <a:r>
              <a:rPr lang="en-US" b="1" dirty="0" err="1">
                <a:solidFill>
                  <a:srgbClr val="C00000"/>
                </a:solidFill>
              </a:rPr>
              <a:t>Regularizare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Pt </a:t>
            </a:r>
            <a:r>
              <a:rPr lang="en-US" b="1" dirty="0" err="1">
                <a:solidFill>
                  <a:srgbClr val="C00000"/>
                </a:solidFill>
              </a:rPr>
              <a:t>arbori</a:t>
            </a:r>
            <a:r>
              <a:rPr lang="en-US" b="1" dirty="0">
                <a:solidFill>
                  <a:srgbClr val="C00000"/>
                </a:solidFill>
              </a:rPr>
              <a:t> de </a:t>
            </a:r>
            <a:r>
              <a:rPr lang="en-US" b="1" dirty="0" err="1">
                <a:solidFill>
                  <a:srgbClr val="C00000"/>
                </a:solidFill>
              </a:rPr>
              <a:t>decizie</a:t>
            </a:r>
            <a:r>
              <a:rPr lang="en-US" b="1" dirty="0">
                <a:solidFill>
                  <a:srgbClr val="C00000"/>
                </a:solidFill>
              </a:rPr>
              <a:t>: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 err="1">
                <a:solidFill>
                  <a:srgbClr val="C00000"/>
                </a:solidFill>
              </a:rPr>
              <a:t>Reducerea</a:t>
            </a:r>
            <a:r>
              <a:rPr lang="en-US" b="1" dirty="0">
                <a:solidFill>
                  <a:srgbClr val="C00000"/>
                </a:solidFill>
              </a:rPr>
              <a:t> </a:t>
            </a:r>
            <a:r>
              <a:rPr lang="en-US" b="1" dirty="0" err="1">
                <a:solidFill>
                  <a:srgbClr val="C00000"/>
                </a:solidFill>
              </a:rPr>
              <a:t>adancimii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 err="1">
                <a:solidFill>
                  <a:srgbClr val="C00000"/>
                </a:solidFill>
              </a:rPr>
              <a:t>Numarul</a:t>
            </a:r>
            <a:r>
              <a:rPr lang="en-US" b="1" dirty="0">
                <a:solidFill>
                  <a:srgbClr val="C00000"/>
                </a:solidFill>
              </a:rPr>
              <a:t> minim de </a:t>
            </a:r>
            <a:r>
              <a:rPr lang="en-US" b="1" dirty="0" err="1">
                <a:solidFill>
                  <a:srgbClr val="C00000"/>
                </a:solidFill>
              </a:rPr>
              <a:t>exemple</a:t>
            </a:r>
            <a:r>
              <a:rPr lang="en-US" b="1" dirty="0">
                <a:solidFill>
                  <a:srgbClr val="C00000"/>
                </a:solidFill>
              </a:rPr>
              <a:t> </a:t>
            </a:r>
            <a:r>
              <a:rPr lang="en-US" b="1" dirty="0" err="1">
                <a:solidFill>
                  <a:srgbClr val="C00000"/>
                </a:solidFill>
              </a:rPr>
              <a:t>dintr</a:t>
            </a:r>
            <a:r>
              <a:rPr lang="en-US" b="1" dirty="0">
                <a:solidFill>
                  <a:srgbClr val="C00000"/>
                </a:solidFill>
              </a:rPr>
              <a:t>-un nod </a:t>
            </a:r>
            <a:r>
              <a:rPr lang="en-US" b="1" dirty="0" err="1">
                <a:solidFill>
                  <a:srgbClr val="C00000"/>
                </a:solidFill>
              </a:rPr>
              <a:t>inainte</a:t>
            </a:r>
            <a:r>
              <a:rPr lang="en-US" b="1" dirty="0">
                <a:solidFill>
                  <a:srgbClr val="C00000"/>
                </a:solidFill>
              </a:rPr>
              <a:t> de a face </a:t>
            </a:r>
            <a:r>
              <a:rPr lang="en-US" b="1" dirty="0" err="1">
                <a:solidFill>
                  <a:srgbClr val="C00000"/>
                </a:solidFill>
              </a:rPr>
              <a:t>splitul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 err="1">
                <a:solidFill>
                  <a:srgbClr val="C00000"/>
                </a:solidFill>
              </a:rPr>
              <a:t>Numarul</a:t>
            </a:r>
            <a:r>
              <a:rPr lang="en-US" b="1" dirty="0">
                <a:solidFill>
                  <a:srgbClr val="C00000"/>
                </a:solidFill>
              </a:rPr>
              <a:t> minim de </a:t>
            </a:r>
            <a:r>
              <a:rPr lang="en-US" b="1" dirty="0" err="1">
                <a:solidFill>
                  <a:srgbClr val="C00000"/>
                </a:solidFill>
              </a:rPr>
              <a:t>exemple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dintr</a:t>
            </a:r>
            <a:r>
              <a:rPr lang="en-US" b="1" dirty="0">
                <a:solidFill>
                  <a:srgbClr val="C00000"/>
                </a:solidFill>
              </a:rPr>
              <a:t>-un nod </a:t>
            </a:r>
            <a:r>
              <a:rPr lang="en-US" b="1" dirty="0" err="1">
                <a:solidFill>
                  <a:srgbClr val="C00000"/>
                </a:solidFill>
              </a:rPr>
              <a:t>frunza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 err="1">
                <a:solidFill>
                  <a:srgbClr val="C00000"/>
                </a:solidFill>
              </a:rPr>
              <a:t>Prunnning</a:t>
            </a:r>
            <a:r>
              <a:rPr lang="en-US" b="1" dirty="0">
                <a:solidFill>
                  <a:srgbClr val="C00000"/>
                </a:solidFill>
              </a:rPr>
              <a:t> – </a:t>
            </a:r>
            <a:r>
              <a:rPr lang="en-US" b="1" dirty="0" err="1">
                <a:solidFill>
                  <a:srgbClr val="C00000"/>
                </a:solidFill>
              </a:rPr>
              <a:t>arborele</a:t>
            </a:r>
            <a:r>
              <a:rPr lang="en-US" b="1" dirty="0">
                <a:solidFill>
                  <a:srgbClr val="C00000"/>
                </a:solidFill>
              </a:rPr>
              <a:t> se </a:t>
            </a:r>
            <a:r>
              <a:rPr lang="en-US" b="1" dirty="0" err="1">
                <a:solidFill>
                  <a:srgbClr val="C00000"/>
                </a:solidFill>
              </a:rPr>
              <a:t>construieste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fara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restrictii</a:t>
            </a:r>
            <a:r>
              <a:rPr lang="en-US" b="1" dirty="0">
                <a:solidFill>
                  <a:srgbClr val="C00000"/>
                </a:solidFill>
              </a:rPr>
              <a:t>, </a:t>
            </a:r>
            <a:r>
              <a:rPr lang="en-US" b="1" dirty="0" err="1">
                <a:solidFill>
                  <a:srgbClr val="C00000"/>
                </a:solidFill>
              </a:rPr>
              <a:t>dupa</a:t>
            </a:r>
            <a:r>
              <a:rPr lang="en-US" b="1" dirty="0">
                <a:solidFill>
                  <a:srgbClr val="C00000"/>
                </a:solidFill>
              </a:rPr>
              <a:t> care se </a:t>
            </a:r>
            <a:r>
              <a:rPr lang="en-US" b="1" dirty="0" err="1">
                <a:solidFill>
                  <a:srgbClr val="C00000"/>
                </a:solidFill>
              </a:rPr>
              <a:t>elimina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nodurile</a:t>
            </a:r>
            <a:r>
              <a:rPr lang="en-US" b="1" dirty="0">
                <a:solidFill>
                  <a:srgbClr val="C00000"/>
                </a:solidFill>
              </a:rPr>
              <a:t> care sunt considerate inutile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137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 descr="A screenshot of a video game&#10;&#10;Description automatically generated">
            <a:extLst>
              <a:ext uri="{FF2B5EF4-FFF2-40B4-BE49-F238E27FC236}">
                <a16:creationId xmlns:a16="http://schemas.microsoft.com/office/drawing/2014/main" id="{17230257-C2B1-1E74-55BC-52A79834DE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523" y="1562895"/>
            <a:ext cx="11378452" cy="4394946"/>
          </a:xfrm>
        </p:spPr>
      </p:pic>
    </p:spTree>
    <p:extLst>
      <p:ext uri="{BB962C8B-B14F-4D97-AF65-F5344CB8AC3E}">
        <p14:creationId xmlns:p14="http://schemas.microsoft.com/office/powerpoint/2010/main" val="2416341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Curs 3. </vt:lpstr>
      <vt:lpstr>Clasificare – task de invatare supervizata</vt:lpstr>
      <vt:lpstr>PowerPoint Presentation</vt:lpstr>
      <vt:lpstr>PowerPoint Presentation</vt:lpstr>
      <vt:lpstr>PowerPoint Presentation</vt:lpstr>
      <vt:lpstr>Multiclass – cum?</vt:lpstr>
      <vt:lpstr>PowerPoint Presentation</vt:lpstr>
      <vt:lpstr>2. Metrici de performanta</vt:lpstr>
      <vt:lpstr>K-fold Cross-validation</vt:lpstr>
      <vt:lpstr>Matricea de confuzie – confusion matrix</vt:lpstr>
      <vt:lpstr>PowerPoint Presentation</vt:lpstr>
      <vt:lpstr>PowerPoint Presentation</vt:lpstr>
      <vt:lpstr>Set de date nebalansat (imbalanced dataset)</vt:lpstr>
      <vt:lpstr>Matricea de confuzie pentru clasificare multiclass</vt:lpstr>
      <vt:lpstr>Underfit vs overfit</vt:lpstr>
      <vt:lpstr>PowerPoint Presentation</vt:lpstr>
      <vt:lpstr>Regularizare pentru Arbori de decizie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486</cp:revision>
  <dcterms:created xsi:type="dcterms:W3CDTF">2024-03-13T23:57:32Z</dcterms:created>
  <dcterms:modified xsi:type="dcterms:W3CDTF">2025-04-07T14:57:58Z</dcterms:modified>
</cp:coreProperties>
</file>